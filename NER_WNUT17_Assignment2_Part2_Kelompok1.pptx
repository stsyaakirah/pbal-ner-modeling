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7.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8.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F1 entity</c:v>
                </c:pt>
              </c:strCache>
            </c:strRef>
          </c:tx>
          <c:spPr>
            <a:solidFill>
              <a:srgbClr val="12406A"/>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CRF</c:v>
                  </c:pt>
                  <c:pt idx="1">
                    <c:v>SVM</c:v>
                  </c:pt>
                  <c:pt idx="2">
                    <c:v>Bi-LSTM CRF</c:v>
                  </c:pt>
                </c:lvl>
              </c:multiLvlStrCache>
            </c:multiLvlStrRef>
          </c:cat>
          <c:val>
            <c:numRef>
              <c:f>Sheet1!$B$2:$B$4</c:f>
              <c:numCache>
                <c:formatCode>General</c:formatCode>
                <c:ptCount val="3"/>
                <c:pt idx="0">
                  <c:v>27.8</c:v>
                </c:pt>
                <c:pt idx="1">
                  <c:v>31.3</c:v>
                </c:pt>
                <c:pt idx="2">
                  <c:v>41.9</c:v>
                </c:pt>
              </c:numCache>
            </c:numRef>
          </c:val>
        </c:ser>
        <c:ser>
          <c:idx val="1"/>
          <c:order val="1"/>
          <c:tx>
            <c:strRef>
              <c:f>Sheet1!$C$1</c:f>
              <c:strCache>
                <c:ptCount val="1"/>
                <c:pt idx="0">
                  <c:v>F1 surface</c:v>
                </c:pt>
              </c:strCache>
            </c:strRef>
          </c:tx>
          <c:spPr>
            <a:solidFill>
              <a:srgbClr val="9DB4CB"/>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CRF</c:v>
                  </c:pt>
                  <c:pt idx="1">
                    <c:v>SVM</c:v>
                  </c:pt>
                  <c:pt idx="2">
                    <c:v>Bi-LSTM CRF</c:v>
                  </c:pt>
                </c:lvl>
              </c:multiLvlStrCache>
            </c:multiLvlStrRef>
          </c:cat>
          <c:val>
            <c:numRef>
              <c:f>Sheet1!$C$2:$C$4</c:f>
              <c:numCache>
                <c:formatCode>General</c:formatCode>
                <c:ptCount val="3"/>
                <c:pt idx="0">
                  <c:v>25.6</c:v>
                </c:pt>
                <c:pt idx="1">
                  <c:v>26.7</c:v>
                </c:pt>
                <c:pt idx="2">
                  <c:v>40.7</c:v>
                </c:pt>
              </c:numCache>
            </c:numRef>
          </c:val>
        </c:ser>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B6B7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937"/>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CRF</c:v>
                </c:pt>
              </c:strCache>
            </c:strRef>
          </c:tx>
          <c:spPr>
            <a:solidFill>
              <a:srgbClr val="8FA3B8"/>
            </a:solidFill>
            <a:effectLst/>
          </c:spPr>
          <c:invertIfNegative val="0"/>
          <c:dLbls>
            <c:numFmt formatCode="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multiLvlStrRef>
              <c:f>Sheet1!$A$2:$A$7</c:f>
              <c:multiLvlStrCache>
                <c:ptCount val="6"/>
                <c:lvl>
                  <c:pt idx="0">
                    <c:v>person</c:v>
                  </c:pt>
                  <c:pt idx="1">
                    <c:v>location</c:v>
                  </c:pt>
                  <c:pt idx="2">
                    <c:v>corporation</c:v>
                  </c:pt>
                  <c:pt idx="3">
                    <c:v>product</c:v>
                  </c:pt>
                  <c:pt idx="4">
                    <c:v>creative-work</c:v>
                  </c:pt>
                  <c:pt idx="5">
                    <c:v>group</c:v>
                  </c:pt>
                </c:lvl>
              </c:multiLvlStrCache>
            </c:multiLvlStrRef>
          </c:cat>
          <c:val>
            <c:numRef>
              <c:f>Sheet1!$B$2:$B$7</c:f>
              <c:numCache>
                <c:formatCode>General</c:formatCode>
                <c:ptCount val="6"/>
                <c:pt idx="0">
                  <c:v>44.4</c:v>
                </c:pt>
                <c:pt idx="1">
                  <c:v>27.9</c:v>
                </c:pt>
                <c:pt idx="2">
                  <c:v>12.8</c:v>
                </c:pt>
                <c:pt idx="3">
                  <c:v>7.4</c:v>
                </c:pt>
                <c:pt idx="4">
                  <c:v>8.6</c:v>
                </c:pt>
                <c:pt idx="5">
                  <c:v>8.5</c:v>
                </c:pt>
              </c:numCache>
            </c:numRef>
          </c:val>
        </c:ser>
        <c:ser>
          <c:idx val="1"/>
          <c:order val="1"/>
          <c:tx>
            <c:strRef>
              <c:f>Sheet1!$C$1</c:f>
              <c:strCache>
                <c:ptCount val="1"/>
                <c:pt idx="0">
                  <c:v>SVM</c:v>
                </c:pt>
              </c:strCache>
            </c:strRef>
          </c:tx>
          <c:spPr>
            <a:solidFill>
              <a:srgbClr val="E0A63A"/>
            </a:solidFill>
            <a:effectLst/>
          </c:spPr>
          <c:invertIfNegative val="0"/>
          <c:dLbls>
            <c:numFmt formatCode="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multiLvlStrRef>
              <c:f>Sheet1!$A$2:$A$7</c:f>
              <c:multiLvlStrCache>
                <c:ptCount val="6"/>
                <c:lvl>
                  <c:pt idx="0">
                    <c:v>person</c:v>
                  </c:pt>
                  <c:pt idx="1">
                    <c:v>location</c:v>
                  </c:pt>
                  <c:pt idx="2">
                    <c:v>corporation</c:v>
                  </c:pt>
                  <c:pt idx="3">
                    <c:v>product</c:v>
                  </c:pt>
                  <c:pt idx="4">
                    <c:v>creative-work</c:v>
                  </c:pt>
                  <c:pt idx="5">
                    <c:v>group</c:v>
                  </c:pt>
                </c:lvl>
              </c:multiLvlStrCache>
            </c:multiLvlStrRef>
          </c:cat>
          <c:val>
            <c:numRef>
              <c:f>Sheet1!$C$2:$C$7</c:f>
              <c:numCache>
                <c:formatCode>General</c:formatCode>
                <c:ptCount val="6"/>
                <c:pt idx="0">
                  <c:v>51</c:v>
                </c:pt>
                <c:pt idx="1">
                  <c:v>37.1</c:v>
                </c:pt>
                <c:pt idx="2">
                  <c:v>10.3</c:v>
                </c:pt>
                <c:pt idx="3">
                  <c:v>10</c:v>
                </c:pt>
                <c:pt idx="4">
                  <c:v>12.3</c:v>
                </c:pt>
                <c:pt idx="5">
                  <c:v>15.7</c:v>
                </c:pt>
              </c:numCache>
            </c:numRef>
          </c:val>
        </c:ser>
        <c:ser>
          <c:idx val="2"/>
          <c:order val="2"/>
          <c:tx>
            <c:strRef>
              <c:f>Sheet1!$D$1</c:f>
              <c:strCache>
                <c:ptCount val="1"/>
                <c:pt idx="0">
                  <c:v>Bi-LSTM CRF</c:v>
                </c:pt>
              </c:strCache>
            </c:strRef>
          </c:tx>
          <c:spPr>
            <a:solidFill>
              <a:srgbClr val="12406A"/>
            </a:solidFill>
            <a:effectLst/>
          </c:spPr>
          <c:invertIfNegative val="0"/>
          <c:dLbls>
            <c:numFmt formatCode="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multiLvlStrRef>
              <c:f>Sheet1!$A$2:$A$7</c:f>
              <c:multiLvlStrCache>
                <c:ptCount val="6"/>
                <c:lvl>
                  <c:pt idx="0">
                    <c:v>person</c:v>
                  </c:pt>
                  <c:pt idx="1">
                    <c:v>location</c:v>
                  </c:pt>
                  <c:pt idx="2">
                    <c:v>corporation</c:v>
                  </c:pt>
                  <c:pt idx="3">
                    <c:v>product</c:v>
                  </c:pt>
                  <c:pt idx="4">
                    <c:v>creative-work</c:v>
                  </c:pt>
                  <c:pt idx="5">
                    <c:v>group</c:v>
                  </c:pt>
                </c:lvl>
              </c:multiLvlStrCache>
            </c:multiLvlStrRef>
          </c:cat>
          <c:val>
            <c:numRef>
              <c:f>Sheet1!$D$2:$D$7</c:f>
              <c:numCache>
                <c:formatCode>General</c:formatCode>
                <c:ptCount val="6"/>
                <c:pt idx="0">
                  <c:v>58.3</c:v>
                </c:pt>
                <c:pt idx="1">
                  <c:v>50.5</c:v>
                </c:pt>
                <c:pt idx="2">
                  <c:v>17.6</c:v>
                </c:pt>
                <c:pt idx="3">
                  <c:v>18.4</c:v>
                </c:pt>
                <c:pt idx="4">
                  <c:v>20.9</c:v>
                </c:pt>
                <c:pt idx="5">
                  <c:v>22.3</c:v>
                </c:pt>
              </c:numCache>
            </c:numRef>
          </c:val>
        </c:ser>
        <c:dLbls>
          <c:numFmt formatCode="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B6B7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937"/>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CRF</c:v>
                </c:pt>
              </c:strCache>
            </c:strRef>
          </c:tx>
          <c:spPr>
            <a:solidFill>
              <a:srgbClr val="8FA3B8"/>
            </a:solidFill>
            <a:effectLst/>
          </c:spPr>
          <c:invertIfNegative val="0"/>
          <c:dLbls>
            <c:numFmt formatCode="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Benar</c:v>
                  </c:pt>
                  <c:pt idx="1">
                    <c:v>Terlewat</c:v>
                  </c:pt>
                  <c:pt idx="2">
                    <c:v>Salah tipe atau batas</c:v>
                  </c:pt>
                  <c:pt idx="3">
                    <c:v>Prediksi palsu</c:v>
                  </c:pt>
                </c:lvl>
              </c:multiLvlStrCache>
            </c:multiLvlStrRef>
          </c:cat>
          <c:val>
            <c:numRef>
              <c:f>Sheet1!$B$2:$B$5</c:f>
              <c:numCache>
                <c:formatCode>General</c:formatCode>
                <c:ptCount val="4"/>
                <c:pt idx="0">
                  <c:v>223</c:v>
                </c:pt>
                <c:pt idx="1">
                  <c:v>673</c:v>
                </c:pt>
                <c:pt idx="2">
                  <c:v>183</c:v>
                </c:pt>
                <c:pt idx="3">
                  <c:v>121</c:v>
                </c:pt>
              </c:numCache>
            </c:numRef>
          </c:val>
        </c:ser>
        <c:ser>
          <c:idx val="1"/>
          <c:order val="1"/>
          <c:tx>
            <c:strRef>
              <c:f>Sheet1!$C$1</c:f>
              <c:strCache>
                <c:ptCount val="1"/>
                <c:pt idx="0">
                  <c:v>SVM</c:v>
                </c:pt>
              </c:strCache>
            </c:strRef>
          </c:tx>
          <c:spPr>
            <a:solidFill>
              <a:srgbClr val="E0A63A"/>
            </a:solidFill>
            <a:effectLst/>
          </c:spPr>
          <c:invertIfNegative val="0"/>
          <c:dLbls>
            <c:numFmt formatCode="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Benar</c:v>
                  </c:pt>
                  <c:pt idx="1">
                    <c:v>Terlewat</c:v>
                  </c:pt>
                  <c:pt idx="2">
                    <c:v>Salah tipe atau batas</c:v>
                  </c:pt>
                  <c:pt idx="3">
                    <c:v>Prediksi palsu</c:v>
                  </c:pt>
                </c:lvl>
              </c:multiLvlStrCache>
            </c:multiLvlStrRef>
          </c:cat>
          <c:val>
            <c:numRef>
              <c:f>Sheet1!$C$2:$C$5</c:f>
              <c:numCache>
                <c:formatCode>General</c:formatCode>
                <c:ptCount val="4"/>
                <c:pt idx="0">
                  <c:v>363</c:v>
                </c:pt>
                <c:pt idx="1">
                  <c:v>283</c:v>
                </c:pt>
                <c:pt idx="2">
                  <c:v>433</c:v>
                </c:pt>
                <c:pt idx="3">
                  <c:v>606</c:v>
                </c:pt>
              </c:numCache>
            </c:numRef>
          </c:val>
        </c:ser>
        <c:ser>
          <c:idx val="2"/>
          <c:order val="2"/>
          <c:tx>
            <c:strRef>
              <c:f>Sheet1!$D$1</c:f>
              <c:strCache>
                <c:ptCount val="1"/>
                <c:pt idx="0">
                  <c:v>Bi-LSTM CRF</c:v>
                </c:pt>
              </c:strCache>
            </c:strRef>
          </c:tx>
          <c:spPr>
            <a:solidFill>
              <a:srgbClr val="12406A"/>
            </a:solidFill>
            <a:effectLst/>
          </c:spPr>
          <c:invertIfNegative val="0"/>
          <c:dLbls>
            <c:numFmt formatCode="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Benar</c:v>
                  </c:pt>
                  <c:pt idx="1">
                    <c:v>Terlewat</c:v>
                  </c:pt>
                  <c:pt idx="2">
                    <c:v>Salah tipe atau batas</c:v>
                  </c:pt>
                  <c:pt idx="3">
                    <c:v>Prediksi palsu</c:v>
                  </c:pt>
                </c:lvl>
              </c:multiLvlStrCache>
            </c:multiLvlStrRef>
          </c:cat>
          <c:val>
            <c:numRef>
              <c:f>Sheet1!$D$2:$D$5</c:f>
              <c:numCache>
                <c:formatCode>General</c:formatCode>
                <c:ptCount val="4"/>
                <c:pt idx="0">
                  <c:v>356</c:v>
                </c:pt>
                <c:pt idx="1">
                  <c:v>556</c:v>
                </c:pt>
                <c:pt idx="2">
                  <c:v>167</c:v>
                </c:pt>
                <c:pt idx="3">
                  <c:v>58</c:v>
                </c:pt>
              </c:numCache>
            </c:numRef>
          </c:val>
        </c:ser>
        <c:dLbls>
          <c:numFmt formatCode="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8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B6B7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937"/>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Akurasi token</c:v>
                </c:pt>
              </c:strCache>
            </c:strRef>
          </c:tx>
          <c:spPr>
            <a:solidFill>
              <a:srgbClr val="9DB4CB"/>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CRF</c:v>
                  </c:pt>
                  <c:pt idx="1">
                    <c:v>SVM</c:v>
                  </c:pt>
                  <c:pt idx="2">
                    <c:v>Bi-LSTM CRF</c:v>
                  </c:pt>
                </c:lvl>
              </c:multiLvlStrCache>
            </c:multiLvlStrRef>
          </c:cat>
          <c:val>
            <c:numRef>
              <c:f>Sheet1!$B$2:$B$4</c:f>
              <c:numCache>
                <c:formatCode>General</c:formatCode>
                <c:ptCount val="3"/>
                <c:pt idx="0">
                  <c:v>92.8</c:v>
                </c:pt>
                <c:pt idx="1">
                  <c:v>92.2</c:v>
                </c:pt>
                <c:pt idx="2">
                  <c:v>94.3</c:v>
                </c:pt>
              </c:numCache>
            </c:numRef>
          </c:val>
        </c:ser>
        <c:ser>
          <c:idx val="1"/>
          <c:order val="1"/>
          <c:tx>
            <c:strRef>
              <c:f>Sheet1!$C$1</c:f>
              <c:strCache>
                <c:ptCount val="1"/>
                <c:pt idx="0">
                  <c:v>F1 entity</c:v>
                </c:pt>
              </c:strCache>
            </c:strRef>
          </c:tx>
          <c:spPr>
            <a:solidFill>
              <a:srgbClr val="12406A"/>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CRF</c:v>
                  </c:pt>
                  <c:pt idx="1">
                    <c:v>SVM</c:v>
                  </c:pt>
                  <c:pt idx="2">
                    <c:v>Bi-LSTM CRF</c:v>
                  </c:pt>
                </c:lvl>
              </c:multiLvlStrCache>
            </c:multiLvlStrRef>
          </c:cat>
          <c:val>
            <c:numRef>
              <c:f>Sheet1!$C$2:$C$4</c:f>
              <c:numCache>
                <c:formatCode>General</c:formatCode>
                <c:ptCount val="3"/>
                <c:pt idx="0">
                  <c:v>27.8</c:v>
                </c:pt>
                <c:pt idx="1">
                  <c:v>31.3</c:v>
                </c:pt>
                <c:pt idx="2">
                  <c:v>41.9</c:v>
                </c:pt>
              </c:numCache>
            </c:numRef>
          </c:val>
        </c:ser>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B6B7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937"/>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F1 dev</c:v>
                </c:pt>
              </c:strCache>
            </c:strRef>
          </c:tx>
          <c:spPr>
            <a:solidFill>
              <a:srgbClr val="12406A"/>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Sheet1!$A$2:$A$6</c:f>
              <c:multiLvlStrCache>
                <c:ptCount val="5"/>
                <c:lvl>
                  <c:pt idx="0">
                    <c:v>Kata</c:v>
                  </c:pt>
                  <c:pt idx="1">
                    <c:v>+ Bentuk, afiks, media sosial</c:v>
                  </c:pt>
                  <c:pt idx="2">
                    <c:v>+ Konteks ±2, bigram</c:v>
                  </c:pt>
                  <c:pt idx="3">
                    <c:v>+ POS tag</c:v>
                  </c:pt>
                  <c:pt idx="4">
                    <c:v>+ Cluster</c:v>
                  </c:pt>
                </c:lvl>
              </c:multiLvlStrCache>
            </c:multiLvlStrRef>
          </c:cat>
          <c:val>
            <c:numRef>
              <c:f>Sheet1!$B$2:$B$6</c:f>
              <c:numCache>
                <c:formatCode>General</c:formatCode>
                <c:ptCount val="5"/>
                <c:pt idx="0">
                  <c:v>5.59</c:v>
                </c:pt>
                <c:pt idx="1">
                  <c:v>13.49</c:v>
                </c:pt>
                <c:pt idx="2">
                  <c:v>21.44</c:v>
                </c:pt>
                <c:pt idx="3">
                  <c:v>24.66</c:v>
                </c:pt>
                <c:pt idx="4">
                  <c:v>25.27</c:v>
                </c:pt>
              </c:numCache>
            </c:numRef>
          </c:val>
        </c:ser>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B6B7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BIO</c:v>
                </c:pt>
              </c:strCache>
            </c:strRef>
          </c:tx>
          <c:spPr>
            <a:solidFill>
              <a:srgbClr val="12406A"/>
            </a:solidFill>
            <a:ln w="31750" cap="flat">
              <a:solidFill>
                <a:srgbClr val="12406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2406A"/>
              </a:solidFill>
              <a:ln w="9525" cap="flat">
                <a:solidFill>
                  <a:srgbClr val="12406A"/>
                </a:solidFill>
                <a:prstDash val="solid"/>
                <a:round/>
              </a:ln>
              <a:effectLst/>
            </c:spPr>
          </c:marker>
          <c:cat>
            <c:multiLvlStrRef>
              <c:f>Sheet1!$A$2:$A$23</c:f>
              <c:multiLvlStrCache>
                <c:ptCount val="22"/>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lvl>
              </c:multiLvlStrCache>
            </c:multiLvlStrRef>
          </c:cat>
          <c:val>
            <c:numRef>
              <c:f>Sheet1!$B$2:$B$23</c:f>
              <c:numCache>
                <c:formatCode>General</c:formatCode>
                <c:ptCount val="22"/>
                <c:pt idx="0">
                  <c:v>12.7</c:v>
                </c:pt>
                <c:pt idx="1">
                  <c:v>35.43</c:v>
                </c:pt>
                <c:pt idx="2">
                  <c:v>37.5</c:v>
                </c:pt>
                <c:pt idx="3">
                  <c:v>37.49</c:v>
                </c:pt>
                <c:pt idx="4">
                  <c:v>43.65</c:v>
                </c:pt>
                <c:pt idx="5">
                  <c:v>40.79</c:v>
                </c:pt>
                <c:pt idx="6">
                  <c:v>46.6</c:v>
                </c:pt>
                <c:pt idx="7">
                  <c:v>43.97</c:v>
                </c:pt>
                <c:pt idx="8">
                  <c:v>44.98</c:v>
                </c:pt>
                <c:pt idx="9">
                  <c:v>43.49</c:v>
                </c:pt>
                <c:pt idx="10">
                  <c:v>47.94</c:v>
                </c:pt>
                <c:pt idx="11">
                  <c:v>47.46</c:v>
                </c:pt>
                <c:pt idx="12">
                  <c:v>48.32</c:v>
                </c:pt>
                <c:pt idx="13">
                  <c:v>50.68</c:v>
                </c:pt>
                <c:pt idx="14">
                  <c:v>49.7</c:v>
                </c:pt>
                <c:pt idx="15">
                  <c:v>49.35</c:v>
                </c:pt>
                <c:pt idx="16">
                  <c:v>48.48</c:v>
                </c:pt>
                <c:pt idx="17">
                  <c:v>51.31</c:v>
                </c:pt>
                <c:pt idx="18">
                  <c:v>49.31</c:v>
                </c:pt>
                <c:pt idx="19">
                  <c:v>49.24</c:v>
                </c:pt>
                <c:pt idx="20">
                  <c:v>51.1</c:v>
                </c:pt>
                <c:pt idx="21">
                  <c:v>50.68</c:v>
                </c:pt>
              </c:numCache>
            </c:numRef>
          </c:val>
          <c:smooth val="0"/>
        </c:ser>
        <c:ser>
          <c:idx val="1"/>
          <c:order val="1"/>
          <c:tx>
            <c:strRef>
              <c:f>Sheet1!$C$1</c:f>
              <c:strCache>
                <c:ptCount val="1"/>
                <c:pt idx="0">
                  <c:v>BIOES</c:v>
                </c:pt>
              </c:strCache>
            </c:strRef>
          </c:tx>
          <c:spPr>
            <a:solidFill>
              <a:srgbClr val="E0A63A"/>
            </a:solidFill>
            <a:ln w="31750" cap="flat">
              <a:solidFill>
                <a:srgbClr val="E0A6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0A63A"/>
              </a:solidFill>
              <a:ln w="9525" cap="flat">
                <a:solidFill>
                  <a:srgbClr val="E0A63A"/>
                </a:solidFill>
                <a:prstDash val="solid"/>
                <a:round/>
              </a:ln>
              <a:effectLst/>
            </c:spPr>
          </c:marker>
          <c:cat>
            <c:multiLvlStrRef>
              <c:f>Sheet1!$A$2:$A$23</c:f>
              <c:multiLvlStrCache>
                <c:ptCount val="22"/>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lvl>
              </c:multiLvlStrCache>
            </c:multiLvlStrRef>
          </c:cat>
          <c:val>
            <c:numRef>
              <c:f>Sheet1!$C$2:$C$23</c:f>
              <c:numCache>
                <c:formatCode>General</c:formatCode>
                <c:ptCount val="22"/>
                <c:pt idx="0">
                  <c:v>2.35</c:v>
                </c:pt>
                <c:pt idx="1">
                  <c:v>31.98</c:v>
                </c:pt>
                <c:pt idx="2">
                  <c:v>34.75</c:v>
                </c:pt>
                <c:pt idx="3">
                  <c:v>35.42</c:v>
                </c:pt>
                <c:pt idx="4">
                  <c:v>43.26</c:v>
                </c:pt>
                <c:pt idx="5">
                  <c:v>37.57</c:v>
                </c:pt>
                <c:pt idx="6">
                  <c:v>45.2</c:v>
                </c:pt>
                <c:pt idx="7">
                  <c:v>43.23</c:v>
                </c:pt>
                <c:pt idx="8">
                  <c:v>45.42</c:v>
                </c:pt>
                <c:pt idx="9">
                  <c:v>44.5</c:v>
                </c:pt>
                <c:pt idx="10">
                  <c:v>48.16</c:v>
                </c:pt>
                <c:pt idx="11">
                  <c:v>48.25</c:v>
                </c:pt>
                <c:pt idx="12">
                  <c:v>48.15</c:v>
                </c:pt>
                <c:pt idx="13">
                  <c:v>50.56</c:v>
                </c:pt>
                <c:pt idx="14">
                  <c:v>47.78</c:v>
                </c:pt>
                <c:pt idx="15">
                  <c:v>46.65</c:v>
                </c:pt>
                <c:pt idx="16">
                  <c:v>48.61</c:v>
                </c:pt>
                <c:pt idx="17">
                  <c:v>49.07</c:v>
                </c:pt>
                <c:pt idx="18">
                  <c:v>48.87</c:v>
                </c:pt>
                <c:pt idx="19">
                  <c:v>48.61</c:v>
                </c:pt>
                <c:pt idx="20">
                  <c:v>50.27</c:v>
                </c:pt>
                <c:pt idx="21">
                  <c:v>50.11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B7C"/>
                    </a:solidFill>
                    <a:latin typeface="Arial"/>
                  </a:defRPr>
                </a:pPr>
                <a:r>
                  <a:rPr sz="1100" b="0" i="0" u="none" strike="noStrike">
                    <a:solidFill>
                      <a:srgbClr val="5B6B7C"/>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C"/>
                </a:solidFill>
                <a:latin typeface="Arial"/>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E5E7EB"/>
              </a:solidFill>
              <a:prstDash val="solid"/>
              <a:round/>
            </a:ln>
          </c:spPr>
        </c:majorGridlines>
        <c:title>
          <c:tx>
            <c:rich>
              <a:bodyPr/>
              <a:lstStyle/>
              <a:p>
                <a:pPr>
                  <a:defRPr sz="1100" b="0" i="0" u="none" strike="noStrike">
                    <a:solidFill>
                      <a:srgbClr val="5B6B7C"/>
                    </a:solidFill>
                    <a:latin typeface="Arial"/>
                  </a:defRPr>
                </a:pPr>
                <a:r>
                  <a:rPr sz="1100" b="0" i="0" u="none" strike="noStrike">
                    <a:solidFill>
                      <a:srgbClr val="5B6B7C"/>
                    </a:solidFill>
                    <a:latin typeface="Arial"/>
                  </a:rPr>
                  <a:t>F1 entity dev</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CRF</c:v>
                </c:pt>
              </c:strCache>
            </c:strRef>
          </c:tx>
          <c:spPr>
            <a:solidFill>
              <a:srgbClr val="8FA3B8"/>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Sheet1!$A$2:$A$3</c:f>
              <c:multiLvlStrCache>
                <c:ptCount val="2"/>
                <c:lvl>
                  <c:pt idx="0">
                    <c:v>Pernah muncul di train (109)</c:v>
                  </c:pt>
                  <c:pt idx="1">
                    <c:v>Belum pernah muncul (970)</c:v>
                  </c:pt>
                </c:lvl>
              </c:multiLvlStrCache>
            </c:multiLvlStrRef>
          </c:cat>
          <c:val>
            <c:numRef>
              <c:f>Sheet1!$B$2:$B$3</c:f>
              <c:numCache>
                <c:formatCode>General</c:formatCode>
                <c:ptCount val="2"/>
                <c:pt idx="0">
                  <c:v>59.6</c:v>
                </c:pt>
                <c:pt idx="1">
                  <c:v>16.3</c:v>
                </c:pt>
              </c:numCache>
            </c:numRef>
          </c:val>
        </c:ser>
        <c:ser>
          <c:idx val="1"/>
          <c:order val="1"/>
          <c:tx>
            <c:strRef>
              <c:f>Sheet1!$C$1</c:f>
              <c:strCache>
                <c:ptCount val="1"/>
                <c:pt idx="0">
                  <c:v>SVM</c:v>
                </c:pt>
              </c:strCache>
            </c:strRef>
          </c:tx>
          <c:spPr>
            <a:solidFill>
              <a:srgbClr val="E0A63A"/>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Sheet1!$A$2:$A$3</c:f>
              <c:multiLvlStrCache>
                <c:ptCount val="2"/>
                <c:lvl>
                  <c:pt idx="0">
                    <c:v>Pernah muncul di train (109)</c:v>
                  </c:pt>
                  <c:pt idx="1">
                    <c:v>Belum pernah muncul (970)</c:v>
                  </c:pt>
                </c:lvl>
              </c:multiLvlStrCache>
            </c:multiLvlStrRef>
          </c:cat>
          <c:val>
            <c:numRef>
              <c:f>Sheet1!$C$2:$C$3</c:f>
              <c:numCache>
                <c:formatCode>General</c:formatCode>
                <c:ptCount val="2"/>
                <c:pt idx="0">
                  <c:v>83.5</c:v>
                </c:pt>
                <c:pt idx="1">
                  <c:v>28</c:v>
                </c:pt>
              </c:numCache>
            </c:numRef>
          </c:val>
        </c:ser>
        <c:ser>
          <c:idx val="2"/>
          <c:order val="2"/>
          <c:tx>
            <c:strRef>
              <c:f>Sheet1!$D$1</c:f>
              <c:strCache>
                <c:ptCount val="1"/>
                <c:pt idx="0">
                  <c:v>Bi-LSTM CRF</c:v>
                </c:pt>
              </c:strCache>
            </c:strRef>
          </c:tx>
          <c:spPr>
            <a:solidFill>
              <a:srgbClr val="12406A"/>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Sheet1!$A$2:$A$3</c:f>
              <c:multiLvlStrCache>
                <c:ptCount val="2"/>
                <c:lvl>
                  <c:pt idx="0">
                    <c:v>Pernah muncul di train (109)</c:v>
                  </c:pt>
                  <c:pt idx="1">
                    <c:v>Belum pernah muncul (970)</c:v>
                  </c:pt>
                </c:lvl>
              </c:multiLvlStrCache>
            </c:multiLvlStrRef>
          </c:cat>
          <c:val>
            <c:numRef>
              <c:f>Sheet1!$D$2:$D$3</c:f>
              <c:numCache>
                <c:formatCode>General</c:formatCode>
                <c:ptCount val="2"/>
                <c:pt idx="0">
                  <c:v>76.1</c:v>
                </c:pt>
                <c:pt idx="1">
                  <c:v>28.1</c:v>
                </c:pt>
              </c:numCache>
            </c:numRef>
          </c:val>
        </c:ser>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B6B7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937"/>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CRF</c:v>
                </c:pt>
              </c:strCache>
            </c:strRef>
          </c:tx>
          <c:spPr>
            <a:solidFill>
              <a:srgbClr val="8FA3B8"/>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Semua token kapital (800)</c:v>
                  </c:pt>
                  <c:pt idx="1">
                    <c:v>Ada token huruf kecil (279)</c:v>
                  </c:pt>
                  <c:pt idx="2">
                    <c:v>1 token (718)</c:v>
                  </c:pt>
                  <c:pt idx="3">
                    <c:v>2 token atau lebih (361)</c:v>
                  </c:pt>
                </c:lvl>
              </c:multiLvlStrCache>
            </c:multiLvlStrRef>
          </c:cat>
          <c:val>
            <c:numRef>
              <c:f>Sheet1!$B$2:$B$5</c:f>
              <c:numCache>
                <c:formatCode>General</c:formatCode>
                <c:ptCount val="4"/>
                <c:pt idx="0">
                  <c:v>25.8</c:v>
                </c:pt>
                <c:pt idx="1">
                  <c:v>6.1</c:v>
                </c:pt>
                <c:pt idx="2">
                  <c:v>21.2</c:v>
                </c:pt>
                <c:pt idx="3">
                  <c:v>19.7</c:v>
                </c:pt>
              </c:numCache>
            </c:numRef>
          </c:val>
        </c:ser>
        <c:ser>
          <c:idx val="1"/>
          <c:order val="1"/>
          <c:tx>
            <c:strRef>
              <c:f>Sheet1!$C$1</c:f>
              <c:strCache>
                <c:ptCount val="1"/>
                <c:pt idx="0">
                  <c:v>SVM</c:v>
                </c:pt>
              </c:strCache>
            </c:strRef>
          </c:tx>
          <c:spPr>
            <a:solidFill>
              <a:srgbClr val="E0A63A"/>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Semua token kapital (800)</c:v>
                  </c:pt>
                  <c:pt idx="1">
                    <c:v>Ada token huruf kecil (279)</c:v>
                  </c:pt>
                  <c:pt idx="2">
                    <c:v>1 token (718)</c:v>
                  </c:pt>
                  <c:pt idx="3">
                    <c:v>2 token atau lebih (361)</c:v>
                  </c:pt>
                </c:lvl>
              </c:multiLvlStrCache>
            </c:multiLvlStrRef>
          </c:cat>
          <c:val>
            <c:numRef>
              <c:f>Sheet1!$C$2:$C$5</c:f>
              <c:numCache>
                <c:formatCode>General</c:formatCode>
                <c:ptCount val="4"/>
                <c:pt idx="0">
                  <c:v>41.2</c:v>
                </c:pt>
                <c:pt idx="1">
                  <c:v>11.8</c:v>
                </c:pt>
                <c:pt idx="2">
                  <c:v>41.1</c:v>
                </c:pt>
                <c:pt idx="3">
                  <c:v>18.8</c:v>
                </c:pt>
              </c:numCache>
            </c:numRef>
          </c:val>
        </c:ser>
        <c:ser>
          <c:idx val="2"/>
          <c:order val="2"/>
          <c:tx>
            <c:strRef>
              <c:f>Sheet1!$D$1</c:f>
              <c:strCache>
                <c:ptCount val="1"/>
                <c:pt idx="0">
                  <c:v>Bi-LSTM CRF</c:v>
                </c:pt>
              </c:strCache>
            </c:strRef>
          </c:tx>
          <c:spPr>
            <a:solidFill>
              <a:srgbClr val="12406A"/>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Semua token kapital (800)</c:v>
                  </c:pt>
                  <c:pt idx="1">
                    <c:v>Ada token huruf kecil (279)</c:v>
                  </c:pt>
                  <c:pt idx="2">
                    <c:v>1 token (718)</c:v>
                  </c:pt>
                  <c:pt idx="3">
                    <c:v>2 token atau lebih (361)</c:v>
                  </c:pt>
                </c:lvl>
              </c:multiLvlStrCache>
            </c:multiLvlStrRef>
          </c:cat>
          <c:val>
            <c:numRef>
              <c:f>Sheet1!$D$2:$D$5</c:f>
              <c:numCache>
                <c:formatCode>General</c:formatCode>
                <c:ptCount val="4"/>
                <c:pt idx="0">
                  <c:v>41.1</c:v>
                </c:pt>
                <c:pt idx="1">
                  <c:v>9.7</c:v>
                </c:pt>
                <c:pt idx="2">
                  <c:v>32</c:v>
                </c:pt>
                <c:pt idx="3">
                  <c:v>34.9</c:v>
                </c:pt>
              </c:numCache>
            </c:numRef>
          </c:val>
        </c:ser>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B6B7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937"/>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melanjutkan Stage 1 (analisis dataset WNUT17) dengan implementasi dan evaluasi tiga model NER: CRF, SVM, dan Bi-LSTM CRF. Contoh di slide ini diambil dari test set: "Glenn Greenwald" adalah satu entitas person yang terdiri dari dua token, ditandai B-person lalu I-person.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Angka utama di test set (entity-level, strict). Bi-LSTM CRF dilatih tiga seed, jadi kami laporkan rata-rata dan simpangan. CRF dan SVM satu run. Pembanding shared task bukan perbandingan yang setara karena anotasi test di repositori sudah dikoreksi: 1.079 entitas di versi kami, 1.040 di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Ringkasan tantangan dari analisis dataset. 98% surface form entitas di test tidak ada di train, jadi menghafal kata tidak berguna. 92,6% token adalah O, sehingga model mudah terjebak memprediksi O. Contoh Reddit yang kita bahas di Stage 1 tidak punya entitas: 12 token, semuanya O, dan tokenizer memecah "&amp;gt;" menjadi tiga token. Konsekuensinya, model harus memakai konteks, bentuk kata, dan embedding.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memakai split resmi. Semua pemilihan hiperparameter dan epoch dilakukan di dev. Setelah konfigurasi dipilih, model dilatih ulang di train ditambah dev dan diuji satu kali di test. F1 entity bersifat strict: batas dan tipe harus sama persis. F1 surface menghitung pasangan unik surface form dan tipe. Akurasi token hanya pembanding karena 92,6% token adalah 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CRF dilatih dengan sklearn-crfsuite. Fiturnya mengikuti rencana Stage 1: kata, bentuk, afiks, sinyal media sosial, konteks plus minus dua kata, POS tag dari NLTK, dan ID cluster K-Means atas GloVe Twitter. Konfigurasi terbaik dicari di dev. Grid pertama (100 iterasi) memilih titik di tepi grid, jadi kami perluas grid dan naikkan iterasi ke 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SVM memutuskan label tiap token tanpa melihat label tetangganya. Fitur sama dengan CRF tetapi dipangkas ke fitur yang muncul minimal tiga kali karena keterbatasan komputasi. Vektor GloVe per token menjadi tambahan penting: tanpa GloVe, F1 dev turun dari 41,4 ke 27,5. Karena tanpa struktur urutan, output bisa berisi I- tanpa B-: 458 token seperti itu di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Arsitektur: tiga representasi per token digabung. GloVe Twitter 200d dibekukan, char-CNN menangkap bentuk kata dan kata yang tidak ada di GloVe, dan embedding kapitalisasi memberi sinyal huruf besar. Bi-LSTM 128 unit per arah membaca konteks kiri dan kanan, lalu lapisan CRF menjamin urutan label valid lewat Viterbi. Implementasi memakai JAX, dan lapisan CRF serta Viterbi kami uji terhadap enumerasi brute-force pada kasus kecil.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memuat precision, recall, F1 entity, F1 surface, dan akurasi token. Bi-LSTM CRF adalah rata-rata tiga seed: 42,9, 42,0, dan 40,8. Untuk CRF dan SVM kami hanya menjalankan satu seed. Validasi silang 5-fold per dokumen di train+dev memberi CRF 39,5 (±3,9) dan SVM 38,8 (±3,3), lebih tinggi dari test karena fold berasal dari domain yang sama dan berbagi entitas. Baris UH-RiTUAL adalah angka dari paper shared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 entity per tipe di test. Person dan location lebih mudah karena banyak muncul di train dan sering punya pola kapitalisasi. Corporation, product, creative-work, dan group di bawah 23 pada semua model. Paper WNUT17 juga melaporkan corporation dan creative-work sebagai kelas tersulit. Nilai Bi-LSTM CRF adalah rata-rata tiga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Tiap entitas gold di test dikelompokkan: benar persis, terlewat sama sekali, atau salah tipe atau batas. Prediksi palsu adalah entitas yang diprediksi tetapi tidak tumpang tindih dengan entitas gold mana pun. Ada 1.079 entitas gold. SVM menebak banyak (606 prediksi palsu), kemungkinan besar karena pembobotan kelas: pada ablasi dev, tanpa pembobotan presisi SVM 72 dan dengan pembobotan 39. Bi-LSTM CRF presisi tetapi melewatkan 556 entitas. Analisis ini memakai seed 42 untuk Bi-LSTM CRF.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Menghubungkan ke materi evaluasi NER: evaluasi token-level dan entity-level bisa memberi gambaran yang sangat berbeda. Prediksi semua-O saja sudah memberi akurasi token 92,6% di test. Akurasi token CRF (92,8) hampir sama dengan itu, dan SVM (92,2) bahkan di bawahnya, padahal F1 entity SVM lebih tinggi dari CRF. Karena itu kami memilih model dengan F1 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Ablasi kumulatif pada dev dengan konfigurasi akhir (c1 0,3, c2 0,003). Fitur kata saja hampir tidak berguna karena entitas baru. Bentuk, afiks, dan sinyal media sosial menambah sekitar 7,9 poin, konteks dan bigram sekitar 8,0. POS tag menambah 3,2. Efek cluster embedding kecil dan tidak konsisten: naik 0,6 pada konfigurasi akhir, tetapi pada c1 0,3 dan c2 0,03 versi tanpa cluster lebih tinggi.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keputusan yang kami uji. Pertama, BIO repair yang direncanakan di Stage 1 ternyata menurunkan F1 di dev maupun test karena mengubah I- yatim menjadi B- dan menambah entitas palsu, jadi kami buang. Kedua, pembobotan kelas menaikkan recall SVM dari 18 ke 44, dengan presisi turun. Ketiga, BIOES dan BIO berbeda kecil, di bawah rentang antar-seed, jadi kami tetap memakai BIO karena dev sedikit lebih tinggi.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 dev tiap epoch untuk skema BIO dan BIOES, dilatih di train saja dengan early stopping. Kedua kurva naik cepat sampai sekitar epoch 10, lalu berayun di kisaran 48 sampai 51. Epoch terbaik BIO adalah 18 dan BIOES 14. Ayunan antar-epoch sekitar dua poin, sehingga kami tidak menafsirkan selisih kecil sebagai perbedaan nyata.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Dari 1.079 entitas test, 970 punya surface form yang belum pernah muncul di train+dev, dan hanya 109 pernah muncul. Recall pada entitas yang pernah dilihat 60 sampai 84 persen, pada entitas baru hanya 16 sampai 28 persen. Terhadap train saja, Stage 1 mencatat 98% surface form test baru. Setelah dev ikut dihitung, angkanya 90% dari mention entitas. Analisis memakai seed 42 untuk Bi-LSTM CRF.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dipecah menurut ciri entitas gold. Entitas yang semua tokennya diawali huruf besar jauh lebih mudah (sekitar 41 pada SVM dan Bi-LSTM CRF) daripada yang mengandung token berhuruf kecil (di bawah 12). Untuk entitas dua token atau lebih, Bi-LSTM CRF unggul jelas (34,9 vs sekitar 19), mungkin karena CRF dan konteks dua arahnya menjaga batas entitas. Kelompok saling tumpang tindih. Seed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dari test set. Baris 1 adalah kalimat Reddit dari Stage 1: gold semuanya O, CRF salah menandai "Umm" sebagai location, SVM dan Bi-LSTM CRF benar. Baris 2: Bi-LSTM CRF menangkap batas "Gurez sector", CRF hanya "Gurez", SVM salah tipe. Baris 3: hanya Bi-LSTM CRF menjaga "Glenn Greenwald" sebagai satu person. Baris 4: "ANI" sebagai group gagal di semua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yang perlu diketahui pembaca. Pertama, pembanding shared task tidak setara. Kedua, skor dev dan test tidak bisa dibandingkan mentah-mentah karena model test dilatih di train+dev. Ketiga, jumlah pengulangan terbatas. Keempat, ada perbedaan dari rencana Stage 1 dan kami menyebutkannya terbuka.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kesimpulan: Bi-LSTM CRF dengan GloVe Twitter dan char-CNN mencapai F1 sekitar 41,9, sekelas peserta terbaik shared task; model klasik dibatasi oleh entitas baru; dan empat tipe berbasis konteks tetap sulit. Untuk laporan akhir kami mengusulkan pengulangan seed, uji BIOES, dan pembanding embedding kontekstual.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Ringkasan konfigurasi akhir dan rentang pencarian. Semua skrip memakai seed 42 kecuali pengulangan Bi-LSTM CRF. LinearSVC memberi peringatan konvergensi pada 100 iterasi; pada uji C = 0,1 menaikkan iterasi ke 300 tidak mengubah F1 dev.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48"/>
        </a:solidFill>
      </p:bgPr>
    </p:bg>
    <p:spTree>
      <p:nvGrpSpPr>
        <p:cNvPr id="1" name=""/>
        <p:cNvGrpSpPr/>
        <p:nvPr/>
      </p:nvGrpSpPr>
      <p:grpSpPr>
        <a:xfrm>
          <a:off x="0" y="0"/>
          <a:ext cx="0" cy="0"/>
          <a:chOff x="0" y="0"/>
          <a:chExt cx="0" cy="0"/>
        </a:xfrm>
      </p:grpSpPr>
      <p:sp>
        <p:nvSpPr>
          <p:cNvPr id="2" name="Text 0"/>
          <p:cNvSpPr txBox="1"/>
          <p:nvPr/>
        </p:nvSpPr>
        <p:spPr>
          <a:xfrm>
            <a:off x="548640" y="594360"/>
            <a:ext cx="7315200" cy="274320"/>
          </a:xfrm>
          <a:prstGeom prst="rect">
            <a:avLst/>
          </a:prstGeom>
          <a:noFill/>
          <a:ln/>
        </p:spPr>
        <p:txBody>
          <a:bodyPr wrap="square" lIns="0" tIns="0" rIns="0" bIns="0" rtlCol="0" anchor="ctr"/>
          <a:lstStyle/>
          <a:p>
            <a:pPr indent="0" marL="0">
              <a:buNone/>
            </a:pPr>
            <a:r>
              <a:rPr lang="en-US" sz="1300" b="1" spc="300" kern="0" dirty="0">
                <a:solidFill>
                  <a:srgbClr val="FAD400"/>
                </a:solidFill>
                <a:latin typeface="Arial" pitchFamily="34" charset="0"/>
                <a:ea typeface="Arial" pitchFamily="34" charset="-122"/>
                <a:cs typeface="Arial" pitchFamily="34" charset="-120"/>
              </a:rPr>
              <a:t>ASSIGNMENT #2 · PART 2</a:t>
            </a:r>
            <a:endParaRPr lang="en-US" sz="1300" dirty="0"/>
          </a:p>
        </p:txBody>
      </p:sp>
      <p:sp>
        <p:nvSpPr>
          <p:cNvPr id="3" name="Text 1"/>
          <p:cNvSpPr txBox="1"/>
          <p:nvPr/>
        </p:nvSpPr>
        <p:spPr>
          <a:xfrm>
            <a:off x="548640" y="960120"/>
            <a:ext cx="10972800" cy="91440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NER pada WNUT17</a:t>
            </a:r>
            <a:endParaRPr lang="en-US" sz="5400" dirty="0"/>
          </a:p>
        </p:txBody>
      </p:sp>
      <p:sp>
        <p:nvSpPr>
          <p:cNvPr id="4" name="Text 2"/>
          <p:cNvSpPr txBox="1"/>
          <p:nvPr/>
        </p:nvSpPr>
        <p:spPr>
          <a:xfrm>
            <a:off x="548640" y="1965960"/>
            <a:ext cx="10972800" cy="548640"/>
          </a:xfrm>
          <a:prstGeom prst="rect">
            <a:avLst/>
          </a:prstGeom>
          <a:noFill/>
          <a:ln/>
        </p:spPr>
        <p:txBody>
          <a:bodyPr wrap="square" lIns="0" tIns="0" rIns="0" bIns="0" rtlCol="0" anchor="ctr"/>
          <a:lstStyle/>
          <a:p>
            <a:pPr indent="0" marL="0">
              <a:buNone/>
            </a:pPr>
            <a:r>
              <a:rPr lang="en-US" sz="2400" dirty="0">
                <a:solidFill>
                  <a:srgbClr val="CADCFC"/>
                </a:solidFill>
                <a:latin typeface="Arial" pitchFamily="34" charset="0"/>
                <a:ea typeface="Arial" pitchFamily="34" charset="-122"/>
                <a:cs typeface="Arial" pitchFamily="34" charset="-120"/>
              </a:rPr>
              <a:t>Pemodelan dan evaluasi: CRF, SVM, dan Bi-LSTM CRF</a:t>
            </a:r>
            <a:endParaRPr lang="en-US" sz="2400" dirty="0"/>
          </a:p>
        </p:txBody>
      </p:sp>
      <p:sp>
        <p:nvSpPr>
          <p:cNvPr id="5" name="Text 3"/>
          <p:cNvSpPr txBox="1"/>
          <p:nvPr/>
        </p:nvSpPr>
        <p:spPr>
          <a:xfrm>
            <a:off x="548640" y="2971800"/>
            <a:ext cx="5486400" cy="274320"/>
          </a:xfrm>
          <a:prstGeom prst="rect">
            <a:avLst/>
          </a:prstGeom>
          <a:noFill/>
          <a:ln/>
        </p:spPr>
        <p:txBody>
          <a:bodyPr wrap="square" lIns="0" tIns="0" rIns="0" bIns="0" rtlCol="0" anchor="ctr"/>
          <a:lstStyle/>
          <a:p>
            <a:pPr indent="0" marL="0">
              <a:buNone/>
            </a:pPr>
            <a:r>
              <a:rPr lang="en-US" sz="1200" dirty="0">
                <a:solidFill>
                  <a:srgbClr val="9FB6D0"/>
                </a:solidFill>
                <a:latin typeface="Arial" pitchFamily="34" charset="0"/>
                <a:ea typeface="Arial" pitchFamily="34" charset="-122"/>
                <a:cs typeface="Arial" pitchFamily="34" charset="-120"/>
              </a:rPr>
              <a:t>Contoh dari test set (Reddit)</a:t>
            </a:r>
            <a:endParaRPr lang="en-US" sz="1200" dirty="0"/>
          </a:p>
        </p:txBody>
      </p:sp>
      <p:sp>
        <p:nvSpPr>
          <p:cNvPr id="6" name="Shape 4"/>
          <p:cNvSpPr/>
          <p:nvPr/>
        </p:nvSpPr>
        <p:spPr>
          <a:xfrm>
            <a:off x="548640" y="3291840"/>
            <a:ext cx="1143000" cy="384048"/>
          </a:xfrm>
          <a:prstGeom prst="roundRect">
            <a:avLst>
              <a:gd name="adj" fmla="val 19048"/>
            </a:avLst>
          </a:prstGeom>
          <a:solidFill>
            <a:srgbClr val="1B4F7C"/>
          </a:solidFill>
          <a:ln w="9525">
            <a:solidFill>
              <a:srgbClr val="1B4F7C"/>
            </a:solidFill>
            <a:prstDash val="solid"/>
          </a:ln>
        </p:spPr>
      </p:sp>
      <p:sp>
        <p:nvSpPr>
          <p:cNvPr id="7" name="Text 5"/>
          <p:cNvSpPr txBox="1"/>
          <p:nvPr/>
        </p:nvSpPr>
        <p:spPr>
          <a:xfrm>
            <a:off x="548640" y="3291840"/>
            <a:ext cx="1143000" cy="384048"/>
          </a:xfrm>
          <a:prstGeom prst="rect">
            <a:avLst/>
          </a:prstGeom>
          <a:noFill/>
          <a:ln/>
        </p:spPr>
        <p:txBody>
          <a:bodyPr wrap="square" lIns="0" tIns="0" rIns="0" bIns="0" rtlCol="0" anchor="ctr"/>
          <a:lstStyle/>
          <a:p>
            <a:pPr algn="ctr" indent="0" marL="0">
              <a:buNone/>
            </a:pPr>
            <a:r>
              <a:rPr lang="en-US" sz="1200" dirty="0">
                <a:solidFill>
                  <a:srgbClr val="CADCFC"/>
                </a:solidFill>
                <a:latin typeface="Arial" pitchFamily="34" charset="0"/>
                <a:ea typeface="Arial" pitchFamily="34" charset="-122"/>
                <a:cs typeface="Arial" pitchFamily="34" charset="-120"/>
              </a:rPr>
              <a:t>at</a:t>
            </a:r>
            <a:endParaRPr lang="en-US" sz="1200" dirty="0"/>
          </a:p>
        </p:txBody>
      </p:sp>
      <p:sp>
        <p:nvSpPr>
          <p:cNvPr id="8" name="Text 6"/>
          <p:cNvSpPr txBox="1"/>
          <p:nvPr/>
        </p:nvSpPr>
        <p:spPr>
          <a:xfrm>
            <a:off x="548640" y="3712464"/>
            <a:ext cx="1143000" cy="201168"/>
          </a:xfrm>
          <a:prstGeom prst="rect">
            <a:avLst/>
          </a:prstGeom>
          <a:noFill/>
          <a:ln/>
        </p:spPr>
        <p:txBody>
          <a:bodyPr wrap="square" lIns="0" tIns="0" rIns="0" bIns="0" rtlCol="0" anchor="ctr"/>
          <a:lstStyle/>
          <a:p>
            <a:pPr algn="ctr" indent="0" marL="0">
              <a:buNone/>
            </a:pPr>
            <a:r>
              <a:rPr lang="en-US" sz="900" dirty="0">
                <a:solidFill>
                  <a:srgbClr val="9FB6D0"/>
                </a:solidFill>
                <a:latin typeface="Arial" pitchFamily="34" charset="0"/>
                <a:ea typeface="Arial" pitchFamily="34" charset="-122"/>
                <a:cs typeface="Arial" pitchFamily="34" charset="-120"/>
              </a:rPr>
              <a:t>O</a:t>
            </a:r>
            <a:endParaRPr lang="en-US" sz="900" dirty="0"/>
          </a:p>
        </p:txBody>
      </p:sp>
      <p:sp>
        <p:nvSpPr>
          <p:cNvPr id="9" name="Shape 7"/>
          <p:cNvSpPr/>
          <p:nvPr/>
        </p:nvSpPr>
        <p:spPr>
          <a:xfrm>
            <a:off x="1801368" y="3291840"/>
            <a:ext cx="1143000" cy="384048"/>
          </a:xfrm>
          <a:prstGeom prst="roundRect">
            <a:avLst>
              <a:gd name="adj" fmla="val 19048"/>
            </a:avLst>
          </a:prstGeom>
          <a:solidFill>
            <a:srgbClr val="FAD400"/>
          </a:solidFill>
          <a:ln w="9525">
            <a:solidFill>
              <a:srgbClr val="FAD400"/>
            </a:solidFill>
            <a:prstDash val="solid"/>
          </a:ln>
        </p:spPr>
      </p:sp>
      <p:sp>
        <p:nvSpPr>
          <p:cNvPr id="10" name="Text 8"/>
          <p:cNvSpPr txBox="1"/>
          <p:nvPr/>
        </p:nvSpPr>
        <p:spPr>
          <a:xfrm>
            <a:off x="1801368" y="3291840"/>
            <a:ext cx="1143000" cy="384048"/>
          </a:xfrm>
          <a:prstGeom prst="rect">
            <a:avLst/>
          </a:prstGeom>
          <a:noFill/>
          <a:ln/>
        </p:spPr>
        <p:txBody>
          <a:bodyPr wrap="square" lIns="0" tIns="0" rIns="0" bIns="0" rtlCol="0" anchor="ctr"/>
          <a:lstStyle/>
          <a:p>
            <a:pPr algn="ctr" indent="0" marL="0">
              <a:buNone/>
            </a:pPr>
            <a:r>
              <a:rPr lang="en-US" sz="1200" b="1" dirty="0">
                <a:solidFill>
                  <a:srgbClr val="0B2A48"/>
                </a:solidFill>
                <a:latin typeface="Arial" pitchFamily="34" charset="0"/>
                <a:ea typeface="Arial" pitchFamily="34" charset="-122"/>
                <a:cs typeface="Arial" pitchFamily="34" charset="-120"/>
              </a:rPr>
              <a:t>Glenn</a:t>
            </a:r>
            <a:endParaRPr lang="en-US" sz="1200" dirty="0"/>
          </a:p>
        </p:txBody>
      </p:sp>
      <p:sp>
        <p:nvSpPr>
          <p:cNvPr id="11" name="Text 9"/>
          <p:cNvSpPr txBox="1"/>
          <p:nvPr/>
        </p:nvSpPr>
        <p:spPr>
          <a:xfrm>
            <a:off x="1801368" y="3712464"/>
            <a:ext cx="1143000" cy="201168"/>
          </a:xfrm>
          <a:prstGeom prst="rect">
            <a:avLst/>
          </a:prstGeom>
          <a:noFill/>
          <a:ln/>
        </p:spPr>
        <p:txBody>
          <a:bodyPr wrap="square" lIns="0" tIns="0" rIns="0" bIns="0" rtlCol="0" anchor="ctr"/>
          <a:lstStyle/>
          <a:p>
            <a:pPr algn="ctr" indent="0" marL="0">
              <a:buNone/>
            </a:pPr>
            <a:r>
              <a:rPr lang="en-US" sz="900" dirty="0">
                <a:solidFill>
                  <a:srgbClr val="9FB6D0"/>
                </a:solidFill>
                <a:latin typeface="Arial" pitchFamily="34" charset="0"/>
                <a:ea typeface="Arial" pitchFamily="34" charset="-122"/>
                <a:cs typeface="Arial" pitchFamily="34" charset="-120"/>
              </a:rPr>
              <a:t>B-person</a:t>
            </a:r>
            <a:endParaRPr lang="en-US" sz="900" dirty="0"/>
          </a:p>
        </p:txBody>
      </p:sp>
      <p:sp>
        <p:nvSpPr>
          <p:cNvPr id="12" name="Shape 10"/>
          <p:cNvSpPr/>
          <p:nvPr/>
        </p:nvSpPr>
        <p:spPr>
          <a:xfrm>
            <a:off x="3054096" y="3291840"/>
            <a:ext cx="1143000" cy="384048"/>
          </a:xfrm>
          <a:prstGeom prst="roundRect">
            <a:avLst>
              <a:gd name="adj" fmla="val 19048"/>
            </a:avLst>
          </a:prstGeom>
          <a:solidFill>
            <a:srgbClr val="FAD400"/>
          </a:solidFill>
          <a:ln w="9525">
            <a:solidFill>
              <a:srgbClr val="FAD400"/>
            </a:solidFill>
            <a:prstDash val="solid"/>
          </a:ln>
        </p:spPr>
      </p:sp>
      <p:sp>
        <p:nvSpPr>
          <p:cNvPr id="13" name="Text 11"/>
          <p:cNvSpPr txBox="1"/>
          <p:nvPr/>
        </p:nvSpPr>
        <p:spPr>
          <a:xfrm>
            <a:off x="3054096" y="3291840"/>
            <a:ext cx="1143000" cy="384048"/>
          </a:xfrm>
          <a:prstGeom prst="rect">
            <a:avLst/>
          </a:prstGeom>
          <a:noFill/>
          <a:ln/>
        </p:spPr>
        <p:txBody>
          <a:bodyPr wrap="square" lIns="0" tIns="0" rIns="0" bIns="0" rtlCol="0" anchor="ctr"/>
          <a:lstStyle/>
          <a:p>
            <a:pPr algn="ctr" indent="0" marL="0">
              <a:buNone/>
            </a:pPr>
            <a:r>
              <a:rPr lang="en-US" sz="1200" b="1" dirty="0">
                <a:solidFill>
                  <a:srgbClr val="0B2A48"/>
                </a:solidFill>
                <a:latin typeface="Arial" pitchFamily="34" charset="0"/>
                <a:ea typeface="Arial" pitchFamily="34" charset="-122"/>
                <a:cs typeface="Arial" pitchFamily="34" charset="-120"/>
              </a:rPr>
              <a:t>Greenwald</a:t>
            </a:r>
            <a:endParaRPr lang="en-US" sz="1200" dirty="0"/>
          </a:p>
        </p:txBody>
      </p:sp>
      <p:sp>
        <p:nvSpPr>
          <p:cNvPr id="14" name="Text 12"/>
          <p:cNvSpPr txBox="1"/>
          <p:nvPr/>
        </p:nvSpPr>
        <p:spPr>
          <a:xfrm>
            <a:off x="3054096" y="3712464"/>
            <a:ext cx="1143000" cy="201168"/>
          </a:xfrm>
          <a:prstGeom prst="rect">
            <a:avLst/>
          </a:prstGeom>
          <a:noFill/>
          <a:ln/>
        </p:spPr>
        <p:txBody>
          <a:bodyPr wrap="square" lIns="0" tIns="0" rIns="0" bIns="0" rtlCol="0" anchor="ctr"/>
          <a:lstStyle/>
          <a:p>
            <a:pPr algn="ctr" indent="0" marL="0">
              <a:buNone/>
            </a:pPr>
            <a:r>
              <a:rPr lang="en-US" sz="900" dirty="0">
                <a:solidFill>
                  <a:srgbClr val="9FB6D0"/>
                </a:solidFill>
                <a:latin typeface="Arial" pitchFamily="34" charset="0"/>
                <a:ea typeface="Arial" pitchFamily="34" charset="-122"/>
                <a:cs typeface="Arial" pitchFamily="34" charset="-120"/>
              </a:rPr>
              <a:t>I-person</a:t>
            </a:r>
            <a:endParaRPr lang="en-US" sz="900" dirty="0"/>
          </a:p>
        </p:txBody>
      </p:sp>
      <p:sp>
        <p:nvSpPr>
          <p:cNvPr id="15" name="Shape 13"/>
          <p:cNvSpPr/>
          <p:nvPr/>
        </p:nvSpPr>
        <p:spPr>
          <a:xfrm>
            <a:off x="4306824" y="3291840"/>
            <a:ext cx="1143000" cy="384048"/>
          </a:xfrm>
          <a:prstGeom prst="roundRect">
            <a:avLst>
              <a:gd name="adj" fmla="val 19048"/>
            </a:avLst>
          </a:prstGeom>
          <a:solidFill>
            <a:srgbClr val="1B4F7C"/>
          </a:solidFill>
          <a:ln w="9525">
            <a:solidFill>
              <a:srgbClr val="1B4F7C"/>
            </a:solidFill>
            <a:prstDash val="solid"/>
          </a:ln>
        </p:spPr>
      </p:sp>
      <p:sp>
        <p:nvSpPr>
          <p:cNvPr id="16" name="Text 14"/>
          <p:cNvSpPr txBox="1"/>
          <p:nvPr/>
        </p:nvSpPr>
        <p:spPr>
          <a:xfrm>
            <a:off x="4306824" y="3291840"/>
            <a:ext cx="1143000" cy="384048"/>
          </a:xfrm>
          <a:prstGeom prst="rect">
            <a:avLst/>
          </a:prstGeom>
          <a:noFill/>
          <a:ln/>
        </p:spPr>
        <p:txBody>
          <a:bodyPr wrap="square" lIns="0" tIns="0" rIns="0" bIns="0" rtlCol="0" anchor="ctr"/>
          <a:lstStyle/>
          <a:p>
            <a:pPr algn="ctr" indent="0" marL="0">
              <a:buNone/>
            </a:pPr>
            <a:r>
              <a:rPr lang="en-US" sz="1200" dirty="0">
                <a:solidFill>
                  <a:srgbClr val="CADCFC"/>
                </a:solidFill>
                <a:latin typeface="Arial" pitchFamily="34" charset="0"/>
                <a:ea typeface="Arial" pitchFamily="34" charset="-122"/>
                <a:cs typeface="Arial" pitchFamily="34" charset="-120"/>
              </a:rPr>
              <a:t>in</a:t>
            </a:r>
            <a:endParaRPr lang="en-US" sz="1200" dirty="0"/>
          </a:p>
        </p:txBody>
      </p:sp>
      <p:sp>
        <p:nvSpPr>
          <p:cNvPr id="17" name="Text 15"/>
          <p:cNvSpPr txBox="1"/>
          <p:nvPr/>
        </p:nvSpPr>
        <p:spPr>
          <a:xfrm>
            <a:off x="4306824" y="3712464"/>
            <a:ext cx="1143000" cy="201168"/>
          </a:xfrm>
          <a:prstGeom prst="rect">
            <a:avLst/>
          </a:prstGeom>
          <a:noFill/>
          <a:ln/>
        </p:spPr>
        <p:txBody>
          <a:bodyPr wrap="square" lIns="0" tIns="0" rIns="0" bIns="0" rtlCol="0" anchor="ctr"/>
          <a:lstStyle/>
          <a:p>
            <a:pPr algn="ctr" indent="0" marL="0">
              <a:buNone/>
            </a:pPr>
            <a:r>
              <a:rPr lang="en-US" sz="900" dirty="0">
                <a:solidFill>
                  <a:srgbClr val="9FB6D0"/>
                </a:solidFill>
                <a:latin typeface="Arial" pitchFamily="34" charset="0"/>
                <a:ea typeface="Arial" pitchFamily="34" charset="-122"/>
                <a:cs typeface="Arial" pitchFamily="34" charset="-120"/>
              </a:rPr>
              <a:t>O</a:t>
            </a:r>
            <a:endParaRPr lang="en-US" sz="900" dirty="0"/>
          </a:p>
        </p:txBody>
      </p:sp>
      <p:sp>
        <p:nvSpPr>
          <p:cNvPr id="18" name="Shape 16"/>
          <p:cNvSpPr/>
          <p:nvPr/>
        </p:nvSpPr>
        <p:spPr>
          <a:xfrm>
            <a:off x="5559552" y="3291840"/>
            <a:ext cx="1143000" cy="384048"/>
          </a:xfrm>
          <a:prstGeom prst="roundRect">
            <a:avLst>
              <a:gd name="adj" fmla="val 19048"/>
            </a:avLst>
          </a:prstGeom>
          <a:solidFill>
            <a:srgbClr val="1B4F7C"/>
          </a:solidFill>
          <a:ln w="9525">
            <a:solidFill>
              <a:srgbClr val="1B4F7C"/>
            </a:solidFill>
            <a:prstDash val="solid"/>
          </a:ln>
        </p:spPr>
      </p:sp>
      <p:sp>
        <p:nvSpPr>
          <p:cNvPr id="19" name="Text 17"/>
          <p:cNvSpPr txBox="1"/>
          <p:nvPr/>
        </p:nvSpPr>
        <p:spPr>
          <a:xfrm>
            <a:off x="5559552" y="3291840"/>
            <a:ext cx="1143000" cy="384048"/>
          </a:xfrm>
          <a:prstGeom prst="rect">
            <a:avLst/>
          </a:prstGeom>
          <a:noFill/>
          <a:ln/>
        </p:spPr>
        <p:txBody>
          <a:bodyPr wrap="square" lIns="0" tIns="0" rIns="0" bIns="0" rtlCol="0" anchor="ctr"/>
          <a:lstStyle/>
          <a:p>
            <a:pPr algn="ctr" indent="0" marL="0">
              <a:buNone/>
            </a:pPr>
            <a:r>
              <a:rPr lang="en-US" sz="1200" dirty="0">
                <a:solidFill>
                  <a:srgbClr val="CADCFC"/>
                </a:solidFill>
                <a:latin typeface="Arial" pitchFamily="34" charset="0"/>
                <a:ea typeface="Arial" pitchFamily="34" charset="-122"/>
                <a:cs typeface="Arial" pitchFamily="34" charset="-120"/>
              </a:rPr>
              <a:t>the</a:t>
            </a:r>
            <a:endParaRPr lang="en-US" sz="1200" dirty="0"/>
          </a:p>
        </p:txBody>
      </p:sp>
      <p:sp>
        <p:nvSpPr>
          <p:cNvPr id="20" name="Text 18"/>
          <p:cNvSpPr txBox="1"/>
          <p:nvPr/>
        </p:nvSpPr>
        <p:spPr>
          <a:xfrm>
            <a:off x="5559552" y="3712464"/>
            <a:ext cx="1143000" cy="201168"/>
          </a:xfrm>
          <a:prstGeom prst="rect">
            <a:avLst/>
          </a:prstGeom>
          <a:noFill/>
          <a:ln/>
        </p:spPr>
        <p:txBody>
          <a:bodyPr wrap="square" lIns="0" tIns="0" rIns="0" bIns="0" rtlCol="0" anchor="ctr"/>
          <a:lstStyle/>
          <a:p>
            <a:pPr algn="ctr" indent="0" marL="0">
              <a:buNone/>
            </a:pPr>
            <a:r>
              <a:rPr lang="en-US" sz="900" dirty="0">
                <a:solidFill>
                  <a:srgbClr val="9FB6D0"/>
                </a:solidFill>
                <a:latin typeface="Arial" pitchFamily="34" charset="0"/>
                <a:ea typeface="Arial" pitchFamily="34" charset="-122"/>
                <a:cs typeface="Arial" pitchFamily="34" charset="-120"/>
              </a:rPr>
              <a:t>O</a:t>
            </a:r>
            <a:endParaRPr lang="en-US" sz="900" dirty="0"/>
          </a:p>
        </p:txBody>
      </p:sp>
      <p:sp>
        <p:nvSpPr>
          <p:cNvPr id="21" name="Shape 19"/>
          <p:cNvSpPr/>
          <p:nvPr/>
        </p:nvSpPr>
        <p:spPr>
          <a:xfrm>
            <a:off x="6812280" y="3291840"/>
            <a:ext cx="1143000" cy="384048"/>
          </a:xfrm>
          <a:prstGeom prst="roundRect">
            <a:avLst>
              <a:gd name="adj" fmla="val 19048"/>
            </a:avLst>
          </a:prstGeom>
          <a:solidFill>
            <a:srgbClr val="1B4F7C"/>
          </a:solidFill>
          <a:ln w="9525">
            <a:solidFill>
              <a:srgbClr val="1B4F7C"/>
            </a:solidFill>
            <a:prstDash val="solid"/>
          </a:ln>
        </p:spPr>
      </p:sp>
      <p:sp>
        <p:nvSpPr>
          <p:cNvPr id="22" name="Text 20"/>
          <p:cNvSpPr txBox="1"/>
          <p:nvPr/>
        </p:nvSpPr>
        <p:spPr>
          <a:xfrm>
            <a:off x="6812280" y="3291840"/>
            <a:ext cx="1143000" cy="384048"/>
          </a:xfrm>
          <a:prstGeom prst="rect">
            <a:avLst/>
          </a:prstGeom>
          <a:noFill/>
          <a:ln/>
        </p:spPr>
        <p:txBody>
          <a:bodyPr wrap="square" lIns="0" tIns="0" rIns="0" bIns="0" rtlCol="0" anchor="ctr"/>
          <a:lstStyle/>
          <a:p>
            <a:pPr algn="ctr" indent="0" marL="0">
              <a:buNone/>
            </a:pPr>
            <a:r>
              <a:rPr lang="en-US" sz="1200" dirty="0">
                <a:solidFill>
                  <a:srgbClr val="CADCFC"/>
                </a:solidFill>
                <a:latin typeface="Arial" pitchFamily="34" charset="0"/>
                <a:ea typeface="Arial" pitchFamily="34" charset="-122"/>
                <a:cs typeface="Arial" pitchFamily="34" charset="-120"/>
              </a:rPr>
              <a:t>last</a:t>
            </a:r>
            <a:endParaRPr lang="en-US" sz="1200" dirty="0"/>
          </a:p>
        </p:txBody>
      </p:sp>
      <p:sp>
        <p:nvSpPr>
          <p:cNvPr id="23" name="Text 21"/>
          <p:cNvSpPr txBox="1"/>
          <p:nvPr/>
        </p:nvSpPr>
        <p:spPr>
          <a:xfrm>
            <a:off x="6812280" y="3712464"/>
            <a:ext cx="1143000" cy="201168"/>
          </a:xfrm>
          <a:prstGeom prst="rect">
            <a:avLst/>
          </a:prstGeom>
          <a:noFill/>
          <a:ln/>
        </p:spPr>
        <p:txBody>
          <a:bodyPr wrap="square" lIns="0" tIns="0" rIns="0" bIns="0" rtlCol="0" anchor="ctr"/>
          <a:lstStyle/>
          <a:p>
            <a:pPr algn="ctr" indent="0" marL="0">
              <a:buNone/>
            </a:pPr>
            <a:r>
              <a:rPr lang="en-US" sz="900" dirty="0">
                <a:solidFill>
                  <a:srgbClr val="9FB6D0"/>
                </a:solidFill>
                <a:latin typeface="Arial" pitchFamily="34" charset="0"/>
                <a:ea typeface="Arial" pitchFamily="34" charset="-122"/>
                <a:cs typeface="Arial" pitchFamily="34" charset="-120"/>
              </a:rPr>
              <a:t>O</a:t>
            </a:r>
            <a:endParaRPr lang="en-US" sz="900" dirty="0"/>
          </a:p>
        </p:txBody>
      </p:sp>
      <p:sp>
        <p:nvSpPr>
          <p:cNvPr id="24" name="Shape 22"/>
          <p:cNvSpPr/>
          <p:nvPr/>
        </p:nvSpPr>
        <p:spPr>
          <a:xfrm>
            <a:off x="8065008" y="3291840"/>
            <a:ext cx="1143000" cy="384048"/>
          </a:xfrm>
          <a:prstGeom prst="roundRect">
            <a:avLst>
              <a:gd name="adj" fmla="val 19048"/>
            </a:avLst>
          </a:prstGeom>
          <a:solidFill>
            <a:srgbClr val="1B4F7C"/>
          </a:solidFill>
          <a:ln w="9525">
            <a:solidFill>
              <a:srgbClr val="1B4F7C"/>
            </a:solidFill>
            <a:prstDash val="solid"/>
          </a:ln>
        </p:spPr>
      </p:sp>
      <p:sp>
        <p:nvSpPr>
          <p:cNvPr id="25" name="Text 23"/>
          <p:cNvSpPr txBox="1"/>
          <p:nvPr/>
        </p:nvSpPr>
        <p:spPr>
          <a:xfrm>
            <a:off x="8065008" y="3291840"/>
            <a:ext cx="1143000" cy="384048"/>
          </a:xfrm>
          <a:prstGeom prst="rect">
            <a:avLst/>
          </a:prstGeom>
          <a:noFill/>
          <a:ln/>
        </p:spPr>
        <p:txBody>
          <a:bodyPr wrap="square" lIns="0" tIns="0" rIns="0" bIns="0" rtlCol="0" anchor="ctr"/>
          <a:lstStyle/>
          <a:p>
            <a:pPr algn="ctr" indent="0" marL="0">
              <a:buNone/>
            </a:pPr>
            <a:r>
              <a:rPr lang="en-US" sz="1200" dirty="0">
                <a:solidFill>
                  <a:srgbClr val="CADCFC"/>
                </a:solidFill>
                <a:latin typeface="Arial" pitchFamily="34" charset="0"/>
                <a:ea typeface="Arial" pitchFamily="34" charset="-122"/>
                <a:cs typeface="Arial" pitchFamily="34" charset="-120"/>
              </a:rPr>
              <a:t>thread</a:t>
            </a:r>
            <a:endParaRPr lang="en-US" sz="1200" dirty="0"/>
          </a:p>
        </p:txBody>
      </p:sp>
      <p:sp>
        <p:nvSpPr>
          <p:cNvPr id="26" name="Text 24"/>
          <p:cNvSpPr txBox="1"/>
          <p:nvPr/>
        </p:nvSpPr>
        <p:spPr>
          <a:xfrm>
            <a:off x="8065008" y="3712464"/>
            <a:ext cx="1143000" cy="201168"/>
          </a:xfrm>
          <a:prstGeom prst="rect">
            <a:avLst/>
          </a:prstGeom>
          <a:noFill/>
          <a:ln/>
        </p:spPr>
        <p:txBody>
          <a:bodyPr wrap="square" lIns="0" tIns="0" rIns="0" bIns="0" rtlCol="0" anchor="ctr"/>
          <a:lstStyle/>
          <a:p>
            <a:pPr algn="ctr" indent="0" marL="0">
              <a:buNone/>
            </a:pPr>
            <a:r>
              <a:rPr lang="en-US" sz="900" dirty="0">
                <a:solidFill>
                  <a:srgbClr val="9FB6D0"/>
                </a:solidFill>
                <a:latin typeface="Arial" pitchFamily="34" charset="0"/>
                <a:ea typeface="Arial" pitchFamily="34" charset="-122"/>
                <a:cs typeface="Arial" pitchFamily="34" charset="-120"/>
              </a:rPr>
              <a:t>O</a:t>
            </a:r>
            <a:endParaRPr lang="en-US" sz="900" dirty="0"/>
          </a:p>
        </p:txBody>
      </p:sp>
      <p:sp>
        <p:nvSpPr>
          <p:cNvPr id="27" name="Text 25"/>
          <p:cNvSpPr txBox="1"/>
          <p:nvPr/>
        </p:nvSpPr>
        <p:spPr>
          <a:xfrm>
            <a:off x="548640" y="4343400"/>
            <a:ext cx="7315200" cy="1554480"/>
          </a:xfrm>
          <a:prstGeom prst="rect">
            <a:avLst/>
          </a:prstGeom>
          <a:noFill/>
          <a:ln/>
        </p:spPr>
        <p:txBody>
          <a:bodyPr wrap="square" lIns="0" tIns="0" rIns="0" bIns="0" rtlCol="0" anchor="t"/>
          <a:lstStyle/>
          <a:p>
            <a:pPr indent="0" marL="0">
              <a:spcAft>
                <a:spcPts val="400"/>
              </a:spcAft>
              <a:buNone/>
            </a:pPr>
            <a:r>
              <a:rPr lang="en-US" sz="1300" b="1" dirty="0">
                <a:solidFill>
                  <a:srgbClr val="FAD400"/>
                </a:solidFill>
                <a:latin typeface="Arial" pitchFamily="34" charset="0"/>
                <a:ea typeface="Arial" pitchFamily="34" charset="-122"/>
                <a:cs typeface="Arial" pitchFamily="34" charset="-120"/>
              </a:rPr>
              <a:t>Disusun oleh Kelompok 1</a:t>
            </a:r>
            <a:endParaRPr lang="en-US" sz="1300" dirty="0"/>
          </a:p>
          <a:p>
            <a:pPr indent="0" marL="0">
              <a:buNone/>
            </a:pPr>
            <a:r>
              <a:rPr lang="en-US" sz="1300" dirty="0">
                <a:solidFill>
                  <a:srgbClr val="E5ECF5"/>
                </a:solidFill>
                <a:latin typeface="Arial" pitchFamily="34" charset="0"/>
                <a:ea typeface="Arial" pitchFamily="34" charset="-122"/>
                <a:cs typeface="Arial" pitchFamily="34" charset="-120"/>
              </a:rPr>
              <a:t>Amelia Gizzela Sheehan Auni (25/574579/PPA/07252)</a:t>
            </a:r>
            <a:endParaRPr lang="en-US" sz="1300" dirty="0"/>
          </a:p>
          <a:p>
            <a:pPr indent="0" marL="0">
              <a:buNone/>
            </a:pPr>
            <a:r>
              <a:rPr lang="en-US" sz="1300" dirty="0">
                <a:solidFill>
                  <a:srgbClr val="E5ECF5"/>
                </a:solidFill>
                <a:latin typeface="Arial" pitchFamily="34" charset="0"/>
                <a:ea typeface="Arial" pitchFamily="34" charset="-122"/>
                <a:cs typeface="Arial" pitchFamily="34" charset="-120"/>
              </a:rPr>
              <a:t>Aulia Gita Pratiwi (25/572701/PPA/07197)</a:t>
            </a:r>
            <a:endParaRPr lang="en-US" sz="1300" dirty="0"/>
          </a:p>
          <a:p>
            <a:pPr indent="0" marL="0">
              <a:buNone/>
            </a:pPr>
            <a:r>
              <a:rPr lang="en-US" sz="1300" dirty="0">
                <a:solidFill>
                  <a:srgbClr val="E5ECF5"/>
                </a:solidFill>
                <a:latin typeface="Arial" pitchFamily="34" charset="0"/>
                <a:ea typeface="Arial" pitchFamily="34" charset="-122"/>
                <a:cs typeface="Arial" pitchFamily="34" charset="-120"/>
              </a:rPr>
              <a:t>St. Syakirah (25/573284/PPA/07217)</a:t>
            </a:r>
            <a:endParaRPr lang="en-US" sz="1300" dirty="0"/>
          </a:p>
          <a:p>
            <a:pPr indent="0" marL="0">
              <a:buNone/>
            </a:pPr>
            <a:r>
              <a:rPr lang="en-US" sz="1300" dirty="0">
                <a:solidFill>
                  <a:srgbClr val="E5ECF5"/>
                </a:solidFill>
                <a:latin typeface="Arial" pitchFamily="34" charset="0"/>
                <a:ea typeface="Arial" pitchFamily="34" charset="-122"/>
                <a:cs typeface="Arial" pitchFamily="34" charset="-120"/>
              </a:rPr>
              <a:t>Aditya Iko Winarko (25/574566/PPA/07251)</a:t>
            </a:r>
            <a:endParaRPr lang="en-US" sz="1300" dirty="0"/>
          </a:p>
          <a:p>
            <a:pPr indent="0" marL="0">
              <a:buNone/>
            </a:pPr>
            <a:r>
              <a:rPr lang="en-US" sz="1300" dirty="0">
                <a:solidFill>
                  <a:srgbClr val="E5ECF5"/>
                </a:solidFill>
                <a:latin typeface="Arial" pitchFamily="34" charset="0"/>
                <a:ea typeface="Arial" pitchFamily="34" charset="-122"/>
                <a:cs typeface="Arial" pitchFamily="34" charset="-120"/>
              </a:rPr>
              <a:t>Royan Aditya (26/589551/PPA/07364)</a:t>
            </a:r>
            <a:endParaRPr lang="en-US" sz="1300" dirty="0"/>
          </a:p>
        </p:txBody>
      </p:sp>
      <p:sp>
        <p:nvSpPr>
          <p:cNvPr id="28" name="Text 26"/>
          <p:cNvSpPr txBox="1"/>
          <p:nvPr/>
        </p:nvSpPr>
        <p:spPr>
          <a:xfrm>
            <a:off x="548640" y="6263640"/>
            <a:ext cx="8229600" cy="274320"/>
          </a:xfrm>
          <a:prstGeom prst="rect">
            <a:avLst/>
          </a:prstGeom>
          <a:noFill/>
          <a:ln/>
        </p:spPr>
        <p:txBody>
          <a:bodyPr wrap="square" lIns="0" tIns="0" rIns="0" bIns="0" rtlCol="0" anchor="ctr"/>
          <a:lstStyle/>
          <a:p>
            <a:pPr indent="0" marL="0">
              <a:buNone/>
            </a:pPr>
            <a:r>
              <a:rPr lang="en-US" sz="1200" dirty="0">
                <a:solidFill>
                  <a:srgbClr val="9FB6D0"/>
                </a:solidFill>
                <a:latin typeface="Arial" pitchFamily="34" charset="0"/>
                <a:ea typeface="Arial" pitchFamily="34" charset="-122"/>
                <a:cs typeface="Arial" pitchFamily="34" charset="-120"/>
              </a:rPr>
              <a:t>Universitas Gadjah Mada · Presentasi 1 Oktober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B8960C"/>
                </a:solidFill>
                <a:latin typeface="Arial" pitchFamily="34" charset="0"/>
                <a:ea typeface="Arial" pitchFamily="34" charset="-122"/>
                <a:cs typeface="Arial" pitchFamily="34" charset="-120"/>
              </a:rPr>
              <a:t>RINGKASAN</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12406A"/>
                </a:solidFill>
                <a:latin typeface="Arial" pitchFamily="34" charset="0"/>
                <a:ea typeface="Arial" pitchFamily="34" charset="-122"/>
                <a:cs typeface="Arial" pitchFamily="34" charset="-120"/>
              </a:rPr>
              <a:t>Bi-LSTM CRF unggul, model klasik tertinggal jauh</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C"/>
                </a:solidFill>
                <a:latin typeface="Arial" pitchFamily="34" charset="0"/>
                <a:ea typeface="Arial" pitchFamily="34" charset="-122"/>
                <a:cs typeface="Arial" pitchFamily="34" charset="-120"/>
              </a:rPr>
              <a:t>Kelompok 1 · Pemrosesan Bahasa Alami Lanjut · UGM</a:t>
            </a:r>
            <a:endParaRPr lang="en-US" sz="1000" dirty="0"/>
          </a:p>
        </p:txBody>
      </p:sp>
      <p:sp>
        <p:nvSpPr>
          <p:cNvPr id="5" name="Text 3"/>
          <p:cNvSpPr txBox="1"/>
          <p:nvPr/>
        </p:nvSpPr>
        <p:spPr>
          <a:xfrm>
            <a:off x="10728655" y="6446520"/>
            <a:ext cx="914400" cy="228600"/>
          </a:xfrm>
          <a:prstGeom prst="rect">
            <a:avLst/>
          </a:prstGeom>
          <a:noFill/>
          <a:ln/>
        </p:spPr>
        <p:txBody>
          <a:bodyPr wrap="square" lIns="0" tIns="0" rIns="0" bIns="0" rtlCol="0" anchor="ctr"/>
          <a:lstStyle/>
          <a:p>
            <a:pPr algn="r" indent="0" marL="0">
              <a:buNone/>
            </a:pPr>
            <a:r>
              <a:rPr lang="en-US" sz="1000" dirty="0">
                <a:solidFill>
                  <a:srgbClr val="5B6B7C"/>
                </a:solidFill>
                <a:latin typeface="Arial" pitchFamily="34" charset="0"/>
                <a:ea typeface="Arial" pitchFamily="34" charset="-122"/>
                <a:cs typeface="Arial" pitchFamily="34" charset="-120"/>
              </a:rPr>
              <a:t>2</a:t>
            </a:r>
            <a:endParaRPr lang="en-US" sz="1000" dirty="0"/>
          </a:p>
        </p:txBody>
      </p:sp>
      <p:sp>
        <p:nvSpPr>
          <p:cNvPr id="7" name="Shape 4"/>
          <p:cNvSpPr/>
          <p:nvPr/>
        </p:nvSpPr>
        <p:spPr>
          <a:xfrm>
            <a:off x="548640" y="1783080"/>
            <a:ext cx="3474720" cy="2743200"/>
          </a:xfrm>
          <a:prstGeom prst="rect">
            <a:avLst/>
          </a:prstGeom>
          <a:solidFill>
            <a:srgbClr val="F4F5F7"/>
          </a:solidFill>
          <a:ln w="6350">
            <a:solidFill>
              <a:srgbClr val="F4F5F7"/>
            </a:solidFill>
            <a:prstDash val="solid"/>
          </a:ln>
        </p:spPr>
      </p:sp>
      <p:sp>
        <p:nvSpPr>
          <p:cNvPr id="8" name="Text 5"/>
          <p:cNvSpPr txBox="1"/>
          <p:nvPr/>
        </p:nvSpPr>
        <p:spPr>
          <a:xfrm>
            <a:off x="777240" y="1965960"/>
            <a:ext cx="3017520" cy="320040"/>
          </a:xfrm>
          <a:prstGeom prst="rect">
            <a:avLst/>
          </a:prstGeom>
          <a:noFill/>
          <a:ln/>
        </p:spPr>
        <p:txBody>
          <a:bodyPr wrap="square" lIns="0" tIns="0" rIns="0" bIns="0" rtlCol="0" anchor="ctr"/>
          <a:lstStyle/>
          <a:p>
            <a:pPr indent="0" marL="0">
              <a:buNone/>
            </a:pPr>
            <a:r>
              <a:rPr lang="en-US" sz="1600" b="1" dirty="0">
                <a:solidFill>
                  <a:srgbClr val="5B6B7C"/>
                </a:solidFill>
                <a:latin typeface="Arial" pitchFamily="34" charset="0"/>
                <a:ea typeface="Arial" pitchFamily="34" charset="-122"/>
                <a:cs typeface="Arial" pitchFamily="34" charset="-120"/>
              </a:rPr>
              <a:t>CRF</a:t>
            </a:r>
            <a:endParaRPr lang="en-US" sz="1600" dirty="0"/>
          </a:p>
        </p:txBody>
      </p:sp>
      <p:sp>
        <p:nvSpPr>
          <p:cNvPr id="9" name="Text 6"/>
          <p:cNvSpPr txBox="1"/>
          <p:nvPr/>
        </p:nvSpPr>
        <p:spPr>
          <a:xfrm>
            <a:off x="777240" y="2331720"/>
            <a:ext cx="3017520" cy="1005840"/>
          </a:xfrm>
          <a:prstGeom prst="rect">
            <a:avLst/>
          </a:prstGeom>
          <a:noFill/>
          <a:ln/>
        </p:spPr>
        <p:txBody>
          <a:bodyPr wrap="square" lIns="0" tIns="0" rIns="0" bIns="0" rtlCol="0" anchor="ctr"/>
          <a:lstStyle/>
          <a:p>
            <a:pPr indent="0" marL="0">
              <a:buNone/>
            </a:pPr>
            <a:r>
              <a:rPr lang="en-US" sz="6600" b="1" dirty="0">
                <a:solidFill>
                  <a:srgbClr val="12406A"/>
                </a:solidFill>
                <a:latin typeface="Arial" pitchFamily="34" charset="0"/>
                <a:ea typeface="Arial" pitchFamily="34" charset="-122"/>
                <a:cs typeface="Arial" pitchFamily="34" charset="-120"/>
              </a:rPr>
              <a:t>27,8</a:t>
            </a:r>
            <a:endParaRPr lang="en-US" sz="6600" dirty="0"/>
          </a:p>
        </p:txBody>
      </p:sp>
      <p:sp>
        <p:nvSpPr>
          <p:cNvPr id="10" name="Text 7"/>
          <p:cNvSpPr txBox="1"/>
          <p:nvPr/>
        </p:nvSpPr>
        <p:spPr>
          <a:xfrm>
            <a:off x="777240" y="3383280"/>
            <a:ext cx="3017520" cy="274320"/>
          </a:xfrm>
          <a:prstGeom prst="rect">
            <a:avLst/>
          </a:prstGeom>
          <a:noFill/>
          <a:ln/>
        </p:spPr>
        <p:txBody>
          <a:bodyPr wrap="square" lIns="0" tIns="0" rIns="0" bIns="0" rtlCol="0" anchor="ctr"/>
          <a:lstStyle/>
          <a:p>
            <a:pPr indent="0" marL="0">
              <a:buNone/>
            </a:pPr>
            <a:r>
              <a:rPr lang="en-US" sz="1300" dirty="0">
                <a:solidFill>
                  <a:srgbClr val="5B6B7C"/>
                </a:solidFill>
                <a:latin typeface="Arial" pitchFamily="34" charset="0"/>
                <a:ea typeface="Arial" pitchFamily="34" charset="-122"/>
                <a:cs typeface="Arial" pitchFamily="34" charset="-120"/>
              </a:rPr>
              <a:t>F1 entity di test</a:t>
            </a:r>
            <a:endParaRPr lang="en-US" sz="1300" dirty="0"/>
          </a:p>
        </p:txBody>
      </p:sp>
      <p:sp>
        <p:nvSpPr>
          <p:cNvPr id="11" name="Text 8"/>
          <p:cNvSpPr txBox="1"/>
          <p:nvPr/>
        </p:nvSpPr>
        <p:spPr>
          <a:xfrm>
            <a:off x="777240" y="3703320"/>
            <a:ext cx="3017520" cy="685800"/>
          </a:xfrm>
          <a:prstGeom prst="rect">
            <a:avLst/>
          </a:prstGeom>
          <a:noFill/>
          <a:ln/>
        </p:spPr>
        <p:txBody>
          <a:bodyPr wrap="square" lIns="0" tIns="0" rIns="0" bIns="0" rtlCol="0" anchor="t"/>
          <a:lstStyle/>
          <a:p>
            <a:pPr indent="0" marL="0">
              <a:spcAft>
                <a:spcPts val="400"/>
              </a:spcAft>
              <a:buNone/>
            </a:pPr>
            <a:r>
              <a:rPr lang="en-US" sz="1200" dirty="0">
                <a:solidFill>
                  <a:srgbClr val="1F2937"/>
                </a:solidFill>
                <a:latin typeface="Arial" pitchFamily="34" charset="0"/>
                <a:ea typeface="Arial" pitchFamily="34" charset="-122"/>
                <a:cs typeface="Arial" pitchFamily="34" charset="-120"/>
              </a:rPr>
              <a:t>Precision 42,4 · Recall 20,7</a:t>
            </a:r>
            <a:endParaRPr lang="en-US" sz="1200" dirty="0"/>
          </a:p>
          <a:p>
            <a:pPr indent="0" marL="0">
              <a:buNone/>
            </a:pPr>
            <a:r>
              <a:rPr lang="en-US" sz="1200" dirty="0">
                <a:solidFill>
                  <a:srgbClr val="1F2937"/>
                </a:solidFill>
                <a:latin typeface="Arial" pitchFamily="34" charset="0"/>
                <a:ea typeface="Arial" pitchFamily="34" charset="-122"/>
                <a:cs typeface="Arial" pitchFamily="34" charset="-120"/>
              </a:rPr>
              <a:t>F1 surface 25,6</a:t>
            </a:r>
            <a:endParaRPr lang="en-US" sz="1200" dirty="0"/>
          </a:p>
        </p:txBody>
      </p:sp>
      <p:sp>
        <p:nvSpPr>
          <p:cNvPr id="12" name="Shape 9"/>
          <p:cNvSpPr/>
          <p:nvPr/>
        </p:nvSpPr>
        <p:spPr>
          <a:xfrm>
            <a:off x="4352544" y="1783080"/>
            <a:ext cx="3474720" cy="2743200"/>
          </a:xfrm>
          <a:prstGeom prst="rect">
            <a:avLst/>
          </a:prstGeom>
          <a:solidFill>
            <a:srgbClr val="F4F5F7"/>
          </a:solidFill>
          <a:ln w="6350">
            <a:solidFill>
              <a:srgbClr val="F4F5F7"/>
            </a:solidFill>
            <a:prstDash val="solid"/>
          </a:ln>
        </p:spPr>
      </p:sp>
      <p:sp>
        <p:nvSpPr>
          <p:cNvPr id="13" name="Text 10"/>
          <p:cNvSpPr txBox="1"/>
          <p:nvPr/>
        </p:nvSpPr>
        <p:spPr>
          <a:xfrm>
            <a:off x="4581144" y="1965960"/>
            <a:ext cx="3017520" cy="320040"/>
          </a:xfrm>
          <a:prstGeom prst="rect">
            <a:avLst/>
          </a:prstGeom>
          <a:noFill/>
          <a:ln/>
        </p:spPr>
        <p:txBody>
          <a:bodyPr wrap="square" lIns="0" tIns="0" rIns="0" bIns="0" rtlCol="0" anchor="ctr"/>
          <a:lstStyle/>
          <a:p>
            <a:pPr indent="0" marL="0">
              <a:buNone/>
            </a:pPr>
            <a:r>
              <a:rPr lang="en-US" sz="1600" b="1" dirty="0">
                <a:solidFill>
                  <a:srgbClr val="5B6B7C"/>
                </a:solidFill>
                <a:latin typeface="Arial" pitchFamily="34" charset="0"/>
                <a:ea typeface="Arial" pitchFamily="34" charset="-122"/>
                <a:cs typeface="Arial" pitchFamily="34" charset="-120"/>
              </a:rPr>
              <a:t>SVM</a:t>
            </a:r>
            <a:endParaRPr lang="en-US" sz="1600" dirty="0"/>
          </a:p>
        </p:txBody>
      </p:sp>
      <p:sp>
        <p:nvSpPr>
          <p:cNvPr id="14" name="Text 11"/>
          <p:cNvSpPr txBox="1"/>
          <p:nvPr/>
        </p:nvSpPr>
        <p:spPr>
          <a:xfrm>
            <a:off x="4581144" y="2331720"/>
            <a:ext cx="3017520" cy="1005840"/>
          </a:xfrm>
          <a:prstGeom prst="rect">
            <a:avLst/>
          </a:prstGeom>
          <a:noFill/>
          <a:ln/>
        </p:spPr>
        <p:txBody>
          <a:bodyPr wrap="square" lIns="0" tIns="0" rIns="0" bIns="0" rtlCol="0" anchor="ctr"/>
          <a:lstStyle/>
          <a:p>
            <a:pPr indent="0" marL="0">
              <a:buNone/>
            </a:pPr>
            <a:r>
              <a:rPr lang="en-US" sz="6600" b="1" dirty="0">
                <a:solidFill>
                  <a:srgbClr val="12406A"/>
                </a:solidFill>
                <a:latin typeface="Arial" pitchFamily="34" charset="0"/>
                <a:ea typeface="Arial" pitchFamily="34" charset="-122"/>
                <a:cs typeface="Arial" pitchFamily="34" charset="-120"/>
              </a:rPr>
              <a:t>31,3</a:t>
            </a:r>
            <a:endParaRPr lang="en-US" sz="6600" dirty="0"/>
          </a:p>
        </p:txBody>
      </p:sp>
      <p:sp>
        <p:nvSpPr>
          <p:cNvPr id="15" name="Text 12"/>
          <p:cNvSpPr txBox="1"/>
          <p:nvPr/>
        </p:nvSpPr>
        <p:spPr>
          <a:xfrm>
            <a:off x="4581144" y="3383280"/>
            <a:ext cx="3017520" cy="274320"/>
          </a:xfrm>
          <a:prstGeom prst="rect">
            <a:avLst/>
          </a:prstGeom>
          <a:noFill/>
          <a:ln/>
        </p:spPr>
        <p:txBody>
          <a:bodyPr wrap="square" lIns="0" tIns="0" rIns="0" bIns="0" rtlCol="0" anchor="ctr"/>
          <a:lstStyle/>
          <a:p>
            <a:pPr indent="0" marL="0">
              <a:buNone/>
            </a:pPr>
            <a:r>
              <a:rPr lang="en-US" sz="1300" dirty="0">
                <a:solidFill>
                  <a:srgbClr val="5B6B7C"/>
                </a:solidFill>
                <a:latin typeface="Arial" pitchFamily="34" charset="0"/>
                <a:ea typeface="Arial" pitchFamily="34" charset="-122"/>
                <a:cs typeface="Arial" pitchFamily="34" charset="-120"/>
              </a:rPr>
              <a:t>F1 entity di test</a:t>
            </a:r>
            <a:endParaRPr lang="en-US" sz="1300" dirty="0"/>
          </a:p>
        </p:txBody>
      </p:sp>
      <p:sp>
        <p:nvSpPr>
          <p:cNvPr id="16" name="Text 13"/>
          <p:cNvSpPr txBox="1"/>
          <p:nvPr/>
        </p:nvSpPr>
        <p:spPr>
          <a:xfrm>
            <a:off x="4581144" y="3703320"/>
            <a:ext cx="3017520" cy="685800"/>
          </a:xfrm>
          <a:prstGeom prst="rect">
            <a:avLst/>
          </a:prstGeom>
          <a:noFill/>
          <a:ln/>
        </p:spPr>
        <p:txBody>
          <a:bodyPr wrap="square" lIns="0" tIns="0" rIns="0" bIns="0" rtlCol="0" anchor="t"/>
          <a:lstStyle/>
          <a:p>
            <a:pPr indent="0" marL="0">
              <a:spcAft>
                <a:spcPts val="400"/>
              </a:spcAft>
              <a:buNone/>
            </a:pPr>
            <a:r>
              <a:rPr lang="en-US" sz="1200" dirty="0">
                <a:solidFill>
                  <a:srgbClr val="1F2937"/>
                </a:solidFill>
                <a:latin typeface="Arial" pitchFamily="34" charset="0"/>
                <a:ea typeface="Arial" pitchFamily="34" charset="-122"/>
                <a:cs typeface="Arial" pitchFamily="34" charset="-120"/>
              </a:rPr>
              <a:t>Precision 30,9 · Recall 31,8</a:t>
            </a:r>
            <a:endParaRPr lang="en-US" sz="1200" dirty="0"/>
          </a:p>
          <a:p>
            <a:pPr indent="0" marL="0">
              <a:buNone/>
            </a:pPr>
            <a:r>
              <a:rPr lang="en-US" sz="1200" dirty="0">
                <a:solidFill>
                  <a:srgbClr val="1F2937"/>
                </a:solidFill>
                <a:latin typeface="Arial" pitchFamily="34" charset="0"/>
                <a:ea typeface="Arial" pitchFamily="34" charset="-122"/>
                <a:cs typeface="Arial" pitchFamily="34" charset="-120"/>
              </a:rPr>
              <a:t>F1 surface 26,7</a:t>
            </a:r>
            <a:endParaRPr lang="en-US" sz="1200" dirty="0"/>
          </a:p>
        </p:txBody>
      </p:sp>
      <p:sp>
        <p:nvSpPr>
          <p:cNvPr id="17" name="Shape 14"/>
          <p:cNvSpPr/>
          <p:nvPr/>
        </p:nvSpPr>
        <p:spPr>
          <a:xfrm>
            <a:off x="8156448" y="1783080"/>
            <a:ext cx="3474720" cy="2743200"/>
          </a:xfrm>
          <a:prstGeom prst="rect">
            <a:avLst/>
          </a:prstGeom>
          <a:solidFill>
            <a:srgbClr val="12406A"/>
          </a:solidFill>
          <a:ln w="6350">
            <a:solidFill>
              <a:srgbClr val="12406A"/>
            </a:solidFill>
            <a:prstDash val="solid"/>
          </a:ln>
        </p:spPr>
      </p:sp>
      <p:sp>
        <p:nvSpPr>
          <p:cNvPr id="18" name="Text 15"/>
          <p:cNvSpPr txBox="1"/>
          <p:nvPr/>
        </p:nvSpPr>
        <p:spPr>
          <a:xfrm>
            <a:off x="8385048" y="1965960"/>
            <a:ext cx="3017520" cy="320040"/>
          </a:xfrm>
          <a:prstGeom prst="rect">
            <a:avLst/>
          </a:prstGeom>
          <a:noFill/>
          <a:ln/>
        </p:spPr>
        <p:txBody>
          <a:bodyPr wrap="square" lIns="0" tIns="0" rIns="0" bIns="0" rtlCol="0" anchor="ctr"/>
          <a:lstStyle/>
          <a:p>
            <a:pPr indent="0" marL="0">
              <a:buNone/>
            </a:pPr>
            <a:r>
              <a:rPr lang="en-US" sz="1600" b="1" dirty="0">
                <a:solidFill>
                  <a:srgbClr val="FAD400"/>
                </a:solidFill>
                <a:latin typeface="Arial" pitchFamily="34" charset="0"/>
                <a:ea typeface="Arial" pitchFamily="34" charset="-122"/>
                <a:cs typeface="Arial" pitchFamily="34" charset="-120"/>
              </a:rPr>
              <a:t>Bi-LSTM CRF</a:t>
            </a:r>
            <a:endParaRPr lang="en-US" sz="1600" dirty="0"/>
          </a:p>
        </p:txBody>
      </p:sp>
      <p:sp>
        <p:nvSpPr>
          <p:cNvPr id="19" name="Text 16"/>
          <p:cNvSpPr txBox="1"/>
          <p:nvPr/>
        </p:nvSpPr>
        <p:spPr>
          <a:xfrm>
            <a:off x="8385048" y="2331720"/>
            <a:ext cx="3017520" cy="1005840"/>
          </a:xfrm>
          <a:prstGeom prst="rect">
            <a:avLst/>
          </a:prstGeom>
          <a:noFill/>
          <a:ln/>
        </p:spPr>
        <p:txBody>
          <a:bodyPr wrap="square" lIns="0" tIns="0" rIns="0" bIns="0" rtlCol="0" anchor="ctr"/>
          <a:lstStyle/>
          <a:p>
            <a:pPr indent="0" marL="0">
              <a:buNone/>
            </a:pPr>
            <a:r>
              <a:rPr lang="en-US" sz="6600" b="1" dirty="0">
                <a:solidFill>
                  <a:srgbClr val="FFFFFF"/>
                </a:solidFill>
                <a:latin typeface="Arial" pitchFamily="34" charset="0"/>
                <a:ea typeface="Arial" pitchFamily="34" charset="-122"/>
                <a:cs typeface="Arial" pitchFamily="34" charset="-120"/>
              </a:rPr>
              <a:t>41,9</a:t>
            </a:r>
            <a:endParaRPr lang="en-US" sz="6600" dirty="0"/>
          </a:p>
        </p:txBody>
      </p:sp>
      <p:sp>
        <p:nvSpPr>
          <p:cNvPr id="20" name="Text 17"/>
          <p:cNvSpPr txBox="1"/>
          <p:nvPr/>
        </p:nvSpPr>
        <p:spPr>
          <a:xfrm>
            <a:off x="8385048" y="3383280"/>
            <a:ext cx="3017520" cy="274320"/>
          </a:xfrm>
          <a:prstGeom prst="rect">
            <a:avLst/>
          </a:prstGeom>
          <a:noFill/>
          <a:ln/>
        </p:spPr>
        <p:txBody>
          <a:bodyPr wrap="square" lIns="0" tIns="0" rIns="0" bIns="0" rtlCol="0" anchor="ctr"/>
          <a:lstStyle/>
          <a:p>
            <a:pPr indent="0" marL="0">
              <a:buNone/>
            </a:pPr>
            <a:r>
              <a:rPr lang="en-US" sz="1300" dirty="0">
                <a:solidFill>
                  <a:srgbClr val="CADCFC"/>
                </a:solidFill>
                <a:latin typeface="Arial" pitchFamily="34" charset="0"/>
                <a:ea typeface="Arial" pitchFamily="34" charset="-122"/>
                <a:cs typeface="Arial" pitchFamily="34" charset="-120"/>
              </a:rPr>
              <a:t>F1 entity di test</a:t>
            </a:r>
            <a:endParaRPr lang="en-US" sz="1300" dirty="0"/>
          </a:p>
        </p:txBody>
      </p:sp>
      <p:sp>
        <p:nvSpPr>
          <p:cNvPr id="21" name="Text 18"/>
          <p:cNvSpPr txBox="1"/>
          <p:nvPr/>
        </p:nvSpPr>
        <p:spPr>
          <a:xfrm>
            <a:off x="8385048" y="3703320"/>
            <a:ext cx="3017520" cy="685800"/>
          </a:xfrm>
          <a:prstGeom prst="rect">
            <a:avLst/>
          </a:prstGeom>
          <a:noFill/>
          <a:ln/>
        </p:spPr>
        <p:txBody>
          <a:bodyPr wrap="square" lIns="0" tIns="0" rIns="0" bIns="0" rtlCol="0" anchor="t"/>
          <a:lstStyle/>
          <a:p>
            <a:pPr indent="0" marL="0">
              <a:spcAft>
                <a:spcPts val="400"/>
              </a:spcAft>
              <a:buNone/>
            </a:pPr>
            <a:r>
              <a:rPr lang="en-US" sz="1200" dirty="0">
                <a:solidFill>
                  <a:srgbClr val="FFFFFF"/>
                </a:solidFill>
                <a:latin typeface="Arial" pitchFamily="34" charset="0"/>
                <a:ea typeface="Arial" pitchFamily="34" charset="-122"/>
                <a:cs typeface="Arial" pitchFamily="34" charset="-120"/>
              </a:rPr>
              <a:t>Precision 56,3 · Recall 33,5</a:t>
            </a:r>
            <a:endParaRPr lang="en-US" sz="1200" dirty="0"/>
          </a:p>
          <a:p>
            <a:pPr indent="0" marL="0">
              <a:buNone/>
            </a:pPr>
            <a:r>
              <a:rPr lang="en-US" sz="1200" dirty="0">
                <a:solidFill>
                  <a:srgbClr val="FFFFFF"/>
                </a:solidFill>
                <a:latin typeface="Arial" pitchFamily="34" charset="0"/>
                <a:ea typeface="Arial" pitchFamily="34" charset="-122"/>
                <a:cs typeface="Arial" pitchFamily="34" charset="-120"/>
              </a:rPr>
              <a:t>F1 surface 40,7 · rata-rata 3 seed (±0,84)</a:t>
            </a:r>
            <a:endParaRPr lang="en-US" sz="1200" dirty="0"/>
          </a:p>
        </p:txBody>
      </p:sp>
      <p:sp>
        <p:nvSpPr>
          <p:cNvPr id="22" name="Shape 19"/>
          <p:cNvSpPr/>
          <p:nvPr/>
        </p:nvSpPr>
        <p:spPr>
          <a:xfrm>
            <a:off x="548640" y="4800600"/>
            <a:ext cx="11094415" cy="1097280"/>
          </a:xfrm>
          <a:prstGeom prst="rect">
            <a:avLst/>
          </a:prstGeom>
          <a:solidFill>
            <a:srgbClr val="E6EEF6"/>
          </a:solidFill>
          <a:ln w="6350">
            <a:solidFill>
              <a:srgbClr val="E6EEF6"/>
            </a:solidFill>
            <a:prstDash val="solid"/>
          </a:ln>
        </p:spPr>
      </p:sp>
      <p:sp>
        <p:nvSpPr>
          <p:cNvPr id="23" name="Text 20"/>
          <p:cNvSpPr txBox="1"/>
          <p:nvPr/>
        </p:nvSpPr>
        <p:spPr>
          <a:xfrm>
            <a:off x="822960" y="4937760"/>
            <a:ext cx="10545775" cy="822960"/>
          </a:xfrm>
          <a:prstGeom prst="rect">
            <a:avLst/>
          </a:prstGeom>
          <a:noFill/>
          <a:ln/>
        </p:spPr>
        <p:txBody>
          <a:bodyPr wrap="square" lIns="0" tIns="0" rIns="0" bIns="0" rtlCol="0" anchor="ctr"/>
          <a:lstStyle/>
          <a:p>
            <a:pPr indent="0" marL="0">
              <a:buNone/>
            </a:pPr>
            <a:r>
              <a:rPr lang="en-US" sz="1400" b="1" dirty="0">
                <a:solidFill>
                  <a:srgbClr val="12406A"/>
                </a:solidFill>
                <a:latin typeface="Arial" pitchFamily="34" charset="0"/>
                <a:ea typeface="Arial" pitchFamily="34" charset="-122"/>
                <a:cs typeface="Arial" pitchFamily="34" charset="-120"/>
              </a:rPr>
              <a:t>Pembanding shared task WNUT17: </a:t>
            </a:r>
            <a:pPr indent="0" marL="0">
              <a:buNone/>
            </a:pPr>
            <a:r>
              <a:rPr lang="en-US" sz="1400" dirty="0">
                <a:solidFill>
                  <a:srgbClr val="1F2937"/>
                </a:solidFill>
                <a:latin typeface="Arial" pitchFamily="34" charset="0"/>
                <a:ea typeface="Arial" pitchFamily="34" charset="-122"/>
                <a:cs typeface="Arial" pitchFamily="34" charset="-120"/>
              </a:rPr>
              <a:t>peserta terbaik (UH-RiTUAL) F1 entity 41,86 dan F1 surface 40,24.</a:t>
            </a:r>
            <a:endParaRPr lang="en-US" sz="1400" dirty="0"/>
          </a:p>
          <a:p>
            <a:pPr indent="0" marL="0">
              <a:buNone/>
            </a:pPr>
            <a:r>
              <a:rPr lang="en-US" sz="1200" dirty="0">
                <a:solidFill>
                  <a:srgbClr val="5B6B7C"/>
                </a:solidFill>
                <a:latin typeface="Arial" pitchFamily="34" charset="0"/>
                <a:ea typeface="Arial" pitchFamily="34" charset="-122"/>
                <a:cs typeface="Arial" pitchFamily="34" charset="-120"/>
              </a:rPr>
              <a:t>Bukan perbandingan yang setara: anotasi test di repositori sudah dikoreksi (1.079 entitas, di paper 1.040), dan F1 surface kami memakai huruf kecil.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B8960C"/>
                </a:solidFill>
                <a:latin typeface="Arial" pitchFamily="34" charset="0"/>
                <a:ea typeface="Arial" pitchFamily="34" charset="-122"/>
                <a:cs typeface="Arial" pitchFamily="34" charset="-120"/>
              </a:rPr>
              <a:t>DARI STAGE 1</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12406A"/>
                </a:solidFill>
                <a:latin typeface="Arial" pitchFamily="34" charset="0"/>
                <a:ea typeface="Arial" pitchFamily="34" charset="-122"/>
                <a:cs typeface="Arial" pitchFamily="34" charset="-120"/>
              </a:rPr>
              <a:t>Tiga temuan Stage 1 yang membentuk desain model</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C"/>
                </a:solidFill>
                <a:latin typeface="Arial" pitchFamily="34" charset="0"/>
                <a:ea typeface="Arial" pitchFamily="34" charset="-122"/>
                <a:cs typeface="Arial" pitchFamily="34" charset="-120"/>
              </a:rPr>
              <a:t>Kelompok 1 · Pemrosesan Bahasa Alami Lanjut · UGM</a:t>
            </a:r>
            <a:endParaRPr lang="en-US" sz="1000" dirty="0"/>
          </a:p>
        </p:txBody>
      </p:sp>
      <p:sp>
        <p:nvSpPr>
          <p:cNvPr id="5" name="Text 3"/>
          <p:cNvSpPr txBox="1"/>
          <p:nvPr/>
        </p:nvSpPr>
        <p:spPr>
          <a:xfrm>
            <a:off x="10728655" y="6446520"/>
            <a:ext cx="914400" cy="228600"/>
          </a:xfrm>
          <a:prstGeom prst="rect">
            <a:avLst/>
          </a:prstGeom>
          <a:noFill/>
          <a:ln/>
        </p:spPr>
        <p:txBody>
          <a:bodyPr wrap="square" lIns="0" tIns="0" rIns="0" bIns="0" rtlCol="0" anchor="ctr"/>
          <a:lstStyle/>
          <a:p>
            <a:pPr algn="r" indent="0" marL="0">
              <a:buNone/>
            </a:pPr>
            <a:r>
              <a:rPr lang="en-US" sz="1000" dirty="0">
                <a:solidFill>
                  <a:srgbClr val="5B6B7C"/>
                </a:solidFill>
                <a:latin typeface="Arial" pitchFamily="34" charset="0"/>
                <a:ea typeface="Arial" pitchFamily="34" charset="-122"/>
                <a:cs typeface="Arial" pitchFamily="34" charset="-120"/>
              </a:rPr>
              <a:t>3</a:t>
            </a:r>
            <a:endParaRPr lang="en-US" sz="1000" dirty="0"/>
          </a:p>
        </p:txBody>
      </p:sp>
      <p:sp>
        <p:nvSpPr>
          <p:cNvPr id="7" name="Shape 4"/>
          <p:cNvSpPr/>
          <p:nvPr/>
        </p:nvSpPr>
        <p:spPr>
          <a:xfrm>
            <a:off x="548640" y="1783080"/>
            <a:ext cx="3474720" cy="1783080"/>
          </a:xfrm>
          <a:prstGeom prst="rect">
            <a:avLst/>
          </a:prstGeom>
          <a:solidFill>
            <a:srgbClr val="F4F5F7"/>
          </a:solidFill>
          <a:ln w="6350">
            <a:solidFill>
              <a:srgbClr val="F4F5F7"/>
            </a:solidFill>
            <a:prstDash val="solid"/>
          </a:ln>
        </p:spPr>
      </p:sp>
      <p:sp>
        <p:nvSpPr>
          <p:cNvPr id="8" name="Text 5"/>
          <p:cNvSpPr txBox="1"/>
          <p:nvPr/>
        </p:nvSpPr>
        <p:spPr>
          <a:xfrm>
            <a:off x="731520" y="1920240"/>
            <a:ext cx="3108960" cy="891540"/>
          </a:xfrm>
          <a:prstGeom prst="rect">
            <a:avLst/>
          </a:prstGeom>
          <a:noFill/>
          <a:ln/>
        </p:spPr>
        <p:txBody>
          <a:bodyPr wrap="square" lIns="0" tIns="0" rIns="0" bIns="0" rtlCol="0" anchor="ctr"/>
          <a:lstStyle/>
          <a:p>
            <a:pPr indent="0" marL="0">
              <a:buNone/>
            </a:pPr>
            <a:r>
              <a:rPr lang="en-US" sz="4600" b="1" dirty="0">
                <a:solidFill>
                  <a:srgbClr val="12406A"/>
                </a:solidFill>
                <a:latin typeface="Arial" pitchFamily="34" charset="0"/>
                <a:ea typeface="Arial" pitchFamily="34" charset="-122"/>
                <a:cs typeface="Arial" pitchFamily="34" charset="-120"/>
              </a:rPr>
              <a:t>98%</a:t>
            </a:r>
            <a:endParaRPr lang="en-US" sz="4600" dirty="0"/>
          </a:p>
        </p:txBody>
      </p:sp>
      <p:sp>
        <p:nvSpPr>
          <p:cNvPr id="9" name="Text 6"/>
          <p:cNvSpPr txBox="1"/>
          <p:nvPr/>
        </p:nvSpPr>
        <p:spPr>
          <a:xfrm>
            <a:off x="731520" y="2766060"/>
            <a:ext cx="3108960" cy="662940"/>
          </a:xfrm>
          <a:prstGeom prst="rect">
            <a:avLst/>
          </a:prstGeom>
          <a:noFill/>
          <a:ln/>
        </p:spPr>
        <p:txBody>
          <a:bodyPr wrap="square" lIns="0" tIns="0" rIns="0" bIns="0" rtlCol="0" anchor="t"/>
          <a:lstStyle/>
          <a:p>
            <a:pPr indent="0" marL="0">
              <a:buNone/>
            </a:pPr>
            <a:r>
              <a:rPr lang="en-US" sz="1300" dirty="0">
                <a:solidFill>
                  <a:srgbClr val="1F2937"/>
                </a:solidFill>
                <a:latin typeface="Arial" pitchFamily="34" charset="0"/>
                <a:ea typeface="Arial" pitchFamily="34" charset="-122"/>
                <a:cs typeface="Arial" pitchFamily="34" charset="-120"/>
              </a:rPr>
              <a:t>surface form entitas di test tidak pernah muncul di train</a:t>
            </a:r>
            <a:endParaRPr lang="en-US" sz="1300" dirty="0"/>
          </a:p>
        </p:txBody>
      </p:sp>
      <p:sp>
        <p:nvSpPr>
          <p:cNvPr id="10" name="Shape 7"/>
          <p:cNvSpPr/>
          <p:nvPr/>
        </p:nvSpPr>
        <p:spPr>
          <a:xfrm>
            <a:off x="4352544" y="1783080"/>
            <a:ext cx="3474720" cy="1783080"/>
          </a:xfrm>
          <a:prstGeom prst="rect">
            <a:avLst/>
          </a:prstGeom>
          <a:solidFill>
            <a:srgbClr val="F4F5F7"/>
          </a:solidFill>
          <a:ln w="6350">
            <a:solidFill>
              <a:srgbClr val="F4F5F7"/>
            </a:solidFill>
            <a:prstDash val="solid"/>
          </a:ln>
        </p:spPr>
      </p:sp>
      <p:sp>
        <p:nvSpPr>
          <p:cNvPr id="11" name="Text 8"/>
          <p:cNvSpPr txBox="1"/>
          <p:nvPr/>
        </p:nvSpPr>
        <p:spPr>
          <a:xfrm>
            <a:off x="4535424" y="1920240"/>
            <a:ext cx="3108960" cy="891540"/>
          </a:xfrm>
          <a:prstGeom prst="rect">
            <a:avLst/>
          </a:prstGeom>
          <a:noFill/>
          <a:ln/>
        </p:spPr>
        <p:txBody>
          <a:bodyPr wrap="square" lIns="0" tIns="0" rIns="0" bIns="0" rtlCol="0" anchor="ctr"/>
          <a:lstStyle/>
          <a:p>
            <a:pPr indent="0" marL="0">
              <a:buNone/>
            </a:pPr>
            <a:r>
              <a:rPr lang="en-US" sz="4600" b="1" dirty="0">
                <a:solidFill>
                  <a:srgbClr val="12406A"/>
                </a:solidFill>
                <a:latin typeface="Arial" pitchFamily="34" charset="0"/>
                <a:ea typeface="Arial" pitchFamily="34" charset="-122"/>
                <a:cs typeface="Arial" pitchFamily="34" charset="-120"/>
              </a:rPr>
              <a:t>92,6%</a:t>
            </a:r>
            <a:endParaRPr lang="en-US" sz="4600" dirty="0"/>
          </a:p>
        </p:txBody>
      </p:sp>
      <p:sp>
        <p:nvSpPr>
          <p:cNvPr id="12" name="Text 9"/>
          <p:cNvSpPr txBox="1"/>
          <p:nvPr/>
        </p:nvSpPr>
        <p:spPr>
          <a:xfrm>
            <a:off x="4535424" y="2766060"/>
            <a:ext cx="3108960" cy="662940"/>
          </a:xfrm>
          <a:prstGeom prst="rect">
            <a:avLst/>
          </a:prstGeom>
          <a:noFill/>
          <a:ln/>
        </p:spPr>
        <p:txBody>
          <a:bodyPr wrap="square" lIns="0" tIns="0" rIns="0" bIns="0" rtlCol="0" anchor="t"/>
          <a:lstStyle/>
          <a:p>
            <a:pPr indent="0" marL="0">
              <a:buNone/>
            </a:pPr>
            <a:r>
              <a:rPr lang="en-US" sz="1300" dirty="0">
                <a:solidFill>
                  <a:srgbClr val="1F2937"/>
                </a:solidFill>
                <a:latin typeface="Arial" pitchFamily="34" charset="0"/>
                <a:ea typeface="Arial" pitchFamily="34" charset="-122"/>
                <a:cs typeface="Arial" pitchFamily="34" charset="-120"/>
              </a:rPr>
              <a:t>token test berlabel O, kelas sangat timpang</a:t>
            </a:r>
            <a:endParaRPr lang="en-US" sz="1300" dirty="0"/>
          </a:p>
        </p:txBody>
      </p:sp>
      <p:sp>
        <p:nvSpPr>
          <p:cNvPr id="13" name="Shape 10"/>
          <p:cNvSpPr/>
          <p:nvPr/>
        </p:nvSpPr>
        <p:spPr>
          <a:xfrm>
            <a:off x="8156448" y="1783080"/>
            <a:ext cx="3474720" cy="1783080"/>
          </a:xfrm>
          <a:prstGeom prst="rect">
            <a:avLst/>
          </a:prstGeom>
          <a:solidFill>
            <a:srgbClr val="F4F5F7"/>
          </a:solidFill>
          <a:ln w="6350">
            <a:solidFill>
              <a:srgbClr val="F4F5F7"/>
            </a:solidFill>
            <a:prstDash val="solid"/>
          </a:ln>
        </p:spPr>
      </p:sp>
      <p:sp>
        <p:nvSpPr>
          <p:cNvPr id="14" name="Text 11"/>
          <p:cNvSpPr txBox="1"/>
          <p:nvPr/>
        </p:nvSpPr>
        <p:spPr>
          <a:xfrm>
            <a:off x="8339328" y="1920240"/>
            <a:ext cx="3108960" cy="891540"/>
          </a:xfrm>
          <a:prstGeom prst="rect">
            <a:avLst/>
          </a:prstGeom>
          <a:noFill/>
          <a:ln/>
        </p:spPr>
        <p:txBody>
          <a:bodyPr wrap="square" lIns="0" tIns="0" rIns="0" bIns="0" rtlCol="0" anchor="ctr"/>
          <a:lstStyle/>
          <a:p>
            <a:pPr indent="0" marL="0">
              <a:buNone/>
            </a:pPr>
            <a:r>
              <a:rPr lang="en-US" sz="4600" b="1" dirty="0">
                <a:solidFill>
                  <a:srgbClr val="12406A"/>
                </a:solidFill>
                <a:latin typeface="Arial" pitchFamily="34" charset="0"/>
                <a:ea typeface="Arial" pitchFamily="34" charset="-122"/>
                <a:cs typeface="Arial" pitchFamily="34" charset="-120"/>
              </a:rPr>
              <a:t>46,5%</a:t>
            </a:r>
            <a:endParaRPr lang="en-US" sz="4600" dirty="0"/>
          </a:p>
        </p:txBody>
      </p:sp>
      <p:sp>
        <p:nvSpPr>
          <p:cNvPr id="15" name="Text 12"/>
          <p:cNvSpPr txBox="1"/>
          <p:nvPr/>
        </p:nvSpPr>
        <p:spPr>
          <a:xfrm>
            <a:off x="8339328" y="2766060"/>
            <a:ext cx="3108960" cy="662940"/>
          </a:xfrm>
          <a:prstGeom prst="rect">
            <a:avLst/>
          </a:prstGeom>
          <a:noFill/>
          <a:ln/>
        </p:spPr>
        <p:txBody>
          <a:bodyPr wrap="square" lIns="0" tIns="0" rIns="0" bIns="0" rtlCol="0" anchor="t"/>
          <a:lstStyle/>
          <a:p>
            <a:pPr indent="0" marL="0">
              <a:buNone/>
            </a:pPr>
            <a:r>
              <a:rPr lang="en-US" sz="1300" dirty="0">
                <a:solidFill>
                  <a:srgbClr val="1F2937"/>
                </a:solidFill>
                <a:latin typeface="Arial" pitchFamily="34" charset="0"/>
                <a:ea typeface="Arial" pitchFamily="34" charset="-122"/>
                <a:cs typeface="Arial" pitchFamily="34" charset="-120"/>
              </a:rPr>
              <a:t>kalimat test tidak memuat entitas sama sekali</a:t>
            </a:r>
            <a:endParaRPr lang="en-US" sz="1300" dirty="0"/>
          </a:p>
        </p:txBody>
      </p:sp>
      <p:sp>
        <p:nvSpPr>
          <p:cNvPr id="16" name="Shape 13"/>
          <p:cNvSpPr/>
          <p:nvPr/>
        </p:nvSpPr>
        <p:spPr>
          <a:xfrm>
            <a:off x="548640" y="3794760"/>
            <a:ext cx="11094415" cy="1920240"/>
          </a:xfrm>
          <a:prstGeom prst="rect">
            <a:avLst/>
          </a:prstGeom>
          <a:solidFill>
            <a:srgbClr val="F4F5F7"/>
          </a:solidFill>
          <a:ln w="6350">
            <a:solidFill>
              <a:srgbClr val="F4F5F7"/>
            </a:solidFill>
            <a:prstDash val="solid"/>
          </a:ln>
        </p:spPr>
      </p:sp>
      <p:sp>
        <p:nvSpPr>
          <p:cNvPr id="17" name="Text 14"/>
          <p:cNvSpPr txBox="1"/>
          <p:nvPr/>
        </p:nvSpPr>
        <p:spPr>
          <a:xfrm>
            <a:off x="777240" y="3931920"/>
            <a:ext cx="7315200" cy="274320"/>
          </a:xfrm>
          <a:prstGeom prst="rect">
            <a:avLst/>
          </a:prstGeom>
          <a:noFill/>
          <a:ln/>
        </p:spPr>
        <p:txBody>
          <a:bodyPr wrap="square" lIns="0" tIns="0" rIns="0" bIns="0" rtlCol="0" anchor="ctr"/>
          <a:lstStyle/>
          <a:p>
            <a:pPr indent="0" marL="0">
              <a:buNone/>
            </a:pPr>
            <a:r>
              <a:rPr lang="en-US" sz="1400" b="1" dirty="0">
                <a:solidFill>
                  <a:srgbClr val="12406A"/>
                </a:solidFill>
                <a:latin typeface="Arial" pitchFamily="34" charset="0"/>
                <a:ea typeface="Arial" pitchFamily="34" charset="-122"/>
                <a:cs typeface="Arial" pitchFamily="34" charset="-120"/>
              </a:rPr>
              <a:t>Contoh Stage 1: kalimat Reddit tanpa entitas</a:t>
            </a:r>
            <a:endParaRPr lang="en-US" sz="1400" dirty="0"/>
          </a:p>
        </p:txBody>
      </p:sp>
      <p:sp>
        <p:nvSpPr>
          <p:cNvPr id="18" name="Shape 15"/>
          <p:cNvSpPr/>
          <p:nvPr/>
        </p:nvSpPr>
        <p:spPr>
          <a:xfrm>
            <a:off x="777240" y="4343400"/>
            <a:ext cx="822960" cy="384048"/>
          </a:xfrm>
          <a:prstGeom prst="roundRect">
            <a:avLst>
              <a:gd name="adj" fmla="val 19048"/>
            </a:avLst>
          </a:prstGeom>
          <a:solidFill>
            <a:srgbClr val="F4F5F7"/>
          </a:solidFill>
          <a:ln w="9525">
            <a:solidFill>
              <a:srgbClr val="D9DEE5"/>
            </a:solidFill>
            <a:prstDash val="solid"/>
          </a:ln>
        </p:spPr>
      </p:sp>
      <p:sp>
        <p:nvSpPr>
          <p:cNvPr id="19" name="Text 16"/>
          <p:cNvSpPr txBox="1"/>
          <p:nvPr/>
        </p:nvSpPr>
        <p:spPr>
          <a:xfrm>
            <a:off x="777240" y="4343400"/>
            <a:ext cx="822960" cy="384048"/>
          </a:xfrm>
          <a:prstGeom prst="rect">
            <a:avLst/>
          </a:prstGeom>
          <a:noFill/>
          <a:ln/>
        </p:spPr>
        <p:txBody>
          <a:bodyPr wrap="square" lIns="0" tIns="0" rIns="0" bIns="0" rtlCol="0" anchor="ctr"/>
          <a:lstStyle/>
          <a:p>
            <a:pPr algn="ctr" indent="0" marL="0">
              <a:buNone/>
            </a:pPr>
            <a:r>
              <a:rPr lang="en-US" sz="1200" dirty="0">
                <a:solidFill>
                  <a:srgbClr val="1F2937"/>
                </a:solidFill>
                <a:latin typeface="Arial" pitchFamily="34" charset="0"/>
                <a:ea typeface="Arial" pitchFamily="34" charset="-122"/>
                <a:cs typeface="Arial" pitchFamily="34" charset="-120"/>
              </a:rPr>
              <a:t>&amp;</a:t>
            </a:r>
            <a:endParaRPr lang="en-US" sz="1200" dirty="0"/>
          </a:p>
        </p:txBody>
      </p:sp>
      <p:sp>
        <p:nvSpPr>
          <p:cNvPr id="20" name="Text 17"/>
          <p:cNvSpPr txBox="1"/>
          <p:nvPr/>
        </p:nvSpPr>
        <p:spPr>
          <a:xfrm>
            <a:off x="777240" y="4764024"/>
            <a:ext cx="822960" cy="201168"/>
          </a:xfrm>
          <a:prstGeom prst="rect">
            <a:avLst/>
          </a:prstGeom>
          <a:noFill/>
          <a:ln/>
        </p:spPr>
        <p:txBody>
          <a:bodyPr wrap="square" lIns="0" tIns="0" rIns="0" bIns="0" rtlCol="0" anchor="ctr"/>
          <a:lstStyle/>
          <a:p>
            <a:pPr algn="ctr" indent="0" marL="0">
              <a:buNone/>
            </a:pPr>
            <a:r>
              <a:rPr lang="en-US" sz="900" dirty="0">
                <a:solidFill>
                  <a:srgbClr val="5B6B7C"/>
                </a:solidFill>
                <a:latin typeface="Arial" pitchFamily="34" charset="0"/>
                <a:ea typeface="Arial" pitchFamily="34" charset="-122"/>
                <a:cs typeface="Arial" pitchFamily="34" charset="-120"/>
              </a:rPr>
              <a:t>O</a:t>
            </a:r>
            <a:endParaRPr lang="en-US" sz="900" dirty="0"/>
          </a:p>
        </p:txBody>
      </p:sp>
      <p:sp>
        <p:nvSpPr>
          <p:cNvPr id="21" name="Shape 18"/>
          <p:cNvSpPr/>
          <p:nvPr/>
        </p:nvSpPr>
        <p:spPr>
          <a:xfrm>
            <a:off x="1673352" y="4343400"/>
            <a:ext cx="822960" cy="384048"/>
          </a:xfrm>
          <a:prstGeom prst="roundRect">
            <a:avLst>
              <a:gd name="adj" fmla="val 19048"/>
            </a:avLst>
          </a:prstGeom>
          <a:solidFill>
            <a:srgbClr val="F4F5F7"/>
          </a:solidFill>
          <a:ln w="9525">
            <a:solidFill>
              <a:srgbClr val="D9DEE5"/>
            </a:solidFill>
            <a:prstDash val="solid"/>
          </a:ln>
        </p:spPr>
      </p:sp>
      <p:sp>
        <p:nvSpPr>
          <p:cNvPr id="22" name="Text 19"/>
          <p:cNvSpPr txBox="1"/>
          <p:nvPr/>
        </p:nvSpPr>
        <p:spPr>
          <a:xfrm>
            <a:off x="1673352" y="4343400"/>
            <a:ext cx="822960" cy="384048"/>
          </a:xfrm>
          <a:prstGeom prst="rect">
            <a:avLst/>
          </a:prstGeom>
          <a:noFill/>
          <a:ln/>
        </p:spPr>
        <p:txBody>
          <a:bodyPr wrap="square" lIns="0" tIns="0" rIns="0" bIns="0" rtlCol="0" anchor="ctr"/>
          <a:lstStyle/>
          <a:p>
            <a:pPr algn="ctr" indent="0" marL="0">
              <a:buNone/>
            </a:pPr>
            <a:r>
              <a:rPr lang="en-US" sz="1200" dirty="0">
                <a:solidFill>
                  <a:srgbClr val="1F2937"/>
                </a:solidFill>
                <a:latin typeface="Arial" pitchFamily="34" charset="0"/>
                <a:ea typeface="Arial" pitchFamily="34" charset="-122"/>
                <a:cs typeface="Arial" pitchFamily="34" charset="-120"/>
              </a:rPr>
              <a:t>gt</a:t>
            </a:r>
            <a:endParaRPr lang="en-US" sz="1200" dirty="0"/>
          </a:p>
        </p:txBody>
      </p:sp>
      <p:sp>
        <p:nvSpPr>
          <p:cNvPr id="23" name="Text 20"/>
          <p:cNvSpPr txBox="1"/>
          <p:nvPr/>
        </p:nvSpPr>
        <p:spPr>
          <a:xfrm>
            <a:off x="1673352" y="4764024"/>
            <a:ext cx="822960" cy="201168"/>
          </a:xfrm>
          <a:prstGeom prst="rect">
            <a:avLst/>
          </a:prstGeom>
          <a:noFill/>
          <a:ln/>
        </p:spPr>
        <p:txBody>
          <a:bodyPr wrap="square" lIns="0" tIns="0" rIns="0" bIns="0" rtlCol="0" anchor="ctr"/>
          <a:lstStyle/>
          <a:p>
            <a:pPr algn="ctr" indent="0" marL="0">
              <a:buNone/>
            </a:pPr>
            <a:r>
              <a:rPr lang="en-US" sz="900" dirty="0">
                <a:solidFill>
                  <a:srgbClr val="5B6B7C"/>
                </a:solidFill>
                <a:latin typeface="Arial" pitchFamily="34" charset="0"/>
                <a:ea typeface="Arial" pitchFamily="34" charset="-122"/>
                <a:cs typeface="Arial" pitchFamily="34" charset="-120"/>
              </a:rPr>
              <a:t>O</a:t>
            </a:r>
            <a:endParaRPr lang="en-US" sz="900" dirty="0"/>
          </a:p>
        </p:txBody>
      </p:sp>
      <p:sp>
        <p:nvSpPr>
          <p:cNvPr id="24" name="Shape 21"/>
          <p:cNvSpPr/>
          <p:nvPr/>
        </p:nvSpPr>
        <p:spPr>
          <a:xfrm>
            <a:off x="2569464" y="4343400"/>
            <a:ext cx="822960" cy="384048"/>
          </a:xfrm>
          <a:prstGeom prst="roundRect">
            <a:avLst>
              <a:gd name="adj" fmla="val 19048"/>
            </a:avLst>
          </a:prstGeom>
          <a:solidFill>
            <a:srgbClr val="F4F5F7"/>
          </a:solidFill>
          <a:ln w="9525">
            <a:solidFill>
              <a:srgbClr val="D9DEE5"/>
            </a:solidFill>
            <a:prstDash val="solid"/>
          </a:ln>
        </p:spPr>
      </p:sp>
      <p:sp>
        <p:nvSpPr>
          <p:cNvPr id="25" name="Text 22"/>
          <p:cNvSpPr txBox="1"/>
          <p:nvPr/>
        </p:nvSpPr>
        <p:spPr>
          <a:xfrm>
            <a:off x="2569464" y="4343400"/>
            <a:ext cx="822960" cy="384048"/>
          </a:xfrm>
          <a:prstGeom prst="rect">
            <a:avLst/>
          </a:prstGeom>
          <a:noFill/>
          <a:ln/>
        </p:spPr>
        <p:txBody>
          <a:bodyPr wrap="square" lIns="0" tIns="0" rIns="0" bIns="0" rtlCol="0" anchor="ctr"/>
          <a:lstStyle/>
          <a:p>
            <a:pPr algn="ctr" indent="0" marL="0">
              <a:buNone/>
            </a:pPr>
            <a:r>
              <a:rPr lang="en-US" sz="1200" dirty="0">
                <a:solidFill>
                  <a:srgbClr val="1F2937"/>
                </a:solidFill>
                <a:latin typeface="Arial" pitchFamily="34" charset="0"/>
                <a:ea typeface="Arial" pitchFamily="34" charset="-122"/>
                <a:cs typeface="Arial" pitchFamily="34" charset="-120"/>
              </a:rPr>
              <a:t>;</a:t>
            </a:r>
            <a:endParaRPr lang="en-US" sz="1200" dirty="0"/>
          </a:p>
        </p:txBody>
      </p:sp>
      <p:sp>
        <p:nvSpPr>
          <p:cNvPr id="26" name="Text 23"/>
          <p:cNvSpPr txBox="1"/>
          <p:nvPr/>
        </p:nvSpPr>
        <p:spPr>
          <a:xfrm>
            <a:off x="2569464" y="4764024"/>
            <a:ext cx="822960" cy="201168"/>
          </a:xfrm>
          <a:prstGeom prst="rect">
            <a:avLst/>
          </a:prstGeom>
          <a:noFill/>
          <a:ln/>
        </p:spPr>
        <p:txBody>
          <a:bodyPr wrap="square" lIns="0" tIns="0" rIns="0" bIns="0" rtlCol="0" anchor="ctr"/>
          <a:lstStyle/>
          <a:p>
            <a:pPr algn="ctr" indent="0" marL="0">
              <a:buNone/>
            </a:pPr>
            <a:r>
              <a:rPr lang="en-US" sz="900" dirty="0">
                <a:solidFill>
                  <a:srgbClr val="5B6B7C"/>
                </a:solidFill>
                <a:latin typeface="Arial" pitchFamily="34" charset="0"/>
                <a:ea typeface="Arial" pitchFamily="34" charset="-122"/>
                <a:cs typeface="Arial" pitchFamily="34" charset="-120"/>
              </a:rPr>
              <a:t>O</a:t>
            </a:r>
            <a:endParaRPr lang="en-US" sz="900" dirty="0"/>
          </a:p>
        </p:txBody>
      </p:sp>
      <p:sp>
        <p:nvSpPr>
          <p:cNvPr id="27" name="Shape 24"/>
          <p:cNvSpPr/>
          <p:nvPr/>
        </p:nvSpPr>
        <p:spPr>
          <a:xfrm>
            <a:off x="3465576" y="4343400"/>
            <a:ext cx="822960" cy="384048"/>
          </a:xfrm>
          <a:prstGeom prst="roundRect">
            <a:avLst>
              <a:gd name="adj" fmla="val 19048"/>
            </a:avLst>
          </a:prstGeom>
          <a:solidFill>
            <a:srgbClr val="F4F5F7"/>
          </a:solidFill>
          <a:ln w="9525">
            <a:solidFill>
              <a:srgbClr val="D9DEE5"/>
            </a:solidFill>
            <a:prstDash val="solid"/>
          </a:ln>
        </p:spPr>
      </p:sp>
      <p:sp>
        <p:nvSpPr>
          <p:cNvPr id="28" name="Text 25"/>
          <p:cNvSpPr txBox="1"/>
          <p:nvPr/>
        </p:nvSpPr>
        <p:spPr>
          <a:xfrm>
            <a:off x="3465576" y="4343400"/>
            <a:ext cx="822960" cy="384048"/>
          </a:xfrm>
          <a:prstGeom prst="rect">
            <a:avLst/>
          </a:prstGeom>
          <a:noFill/>
          <a:ln/>
        </p:spPr>
        <p:txBody>
          <a:bodyPr wrap="square" lIns="0" tIns="0" rIns="0" bIns="0" rtlCol="0" anchor="ctr"/>
          <a:lstStyle/>
          <a:p>
            <a:pPr algn="ctr" indent="0" marL="0">
              <a:buNone/>
            </a:pPr>
            <a:r>
              <a:rPr lang="en-US" sz="1200" dirty="0">
                <a:solidFill>
                  <a:srgbClr val="1F2937"/>
                </a:solidFill>
                <a:latin typeface="Arial" pitchFamily="34" charset="0"/>
                <a:ea typeface="Arial" pitchFamily="34" charset="-122"/>
                <a:cs typeface="Arial" pitchFamily="34" charset="-120"/>
              </a:rPr>
              <a:t>Umm</a:t>
            </a:r>
            <a:endParaRPr lang="en-US" sz="1200" dirty="0"/>
          </a:p>
        </p:txBody>
      </p:sp>
      <p:sp>
        <p:nvSpPr>
          <p:cNvPr id="29" name="Text 26"/>
          <p:cNvSpPr txBox="1"/>
          <p:nvPr/>
        </p:nvSpPr>
        <p:spPr>
          <a:xfrm>
            <a:off x="3465576" y="4764024"/>
            <a:ext cx="822960" cy="201168"/>
          </a:xfrm>
          <a:prstGeom prst="rect">
            <a:avLst/>
          </a:prstGeom>
          <a:noFill/>
          <a:ln/>
        </p:spPr>
        <p:txBody>
          <a:bodyPr wrap="square" lIns="0" tIns="0" rIns="0" bIns="0" rtlCol="0" anchor="ctr"/>
          <a:lstStyle/>
          <a:p>
            <a:pPr algn="ctr" indent="0" marL="0">
              <a:buNone/>
            </a:pPr>
            <a:r>
              <a:rPr lang="en-US" sz="900" dirty="0">
                <a:solidFill>
                  <a:srgbClr val="5B6B7C"/>
                </a:solidFill>
                <a:latin typeface="Arial" pitchFamily="34" charset="0"/>
                <a:ea typeface="Arial" pitchFamily="34" charset="-122"/>
                <a:cs typeface="Arial" pitchFamily="34" charset="-120"/>
              </a:rPr>
              <a:t>O</a:t>
            </a:r>
            <a:endParaRPr lang="en-US" sz="900" dirty="0"/>
          </a:p>
        </p:txBody>
      </p:sp>
      <p:sp>
        <p:nvSpPr>
          <p:cNvPr id="30" name="Shape 27"/>
          <p:cNvSpPr/>
          <p:nvPr/>
        </p:nvSpPr>
        <p:spPr>
          <a:xfrm>
            <a:off x="4361688" y="4343400"/>
            <a:ext cx="822960" cy="384048"/>
          </a:xfrm>
          <a:prstGeom prst="roundRect">
            <a:avLst>
              <a:gd name="adj" fmla="val 19048"/>
            </a:avLst>
          </a:prstGeom>
          <a:solidFill>
            <a:srgbClr val="F4F5F7"/>
          </a:solidFill>
          <a:ln w="9525">
            <a:solidFill>
              <a:srgbClr val="D9DEE5"/>
            </a:solidFill>
            <a:prstDash val="solid"/>
          </a:ln>
        </p:spPr>
      </p:sp>
      <p:sp>
        <p:nvSpPr>
          <p:cNvPr id="31" name="Text 28"/>
          <p:cNvSpPr txBox="1"/>
          <p:nvPr/>
        </p:nvSpPr>
        <p:spPr>
          <a:xfrm>
            <a:off x="4361688" y="4343400"/>
            <a:ext cx="822960" cy="384048"/>
          </a:xfrm>
          <a:prstGeom prst="rect">
            <a:avLst/>
          </a:prstGeom>
          <a:noFill/>
          <a:ln/>
        </p:spPr>
        <p:txBody>
          <a:bodyPr wrap="square" lIns="0" tIns="0" rIns="0" bIns="0" rtlCol="0" anchor="ctr"/>
          <a:lstStyle/>
          <a:p>
            <a:pPr algn="ctr" indent="0" marL="0">
              <a:buNone/>
            </a:pPr>
            <a:r>
              <a:rPr lang="en-US" sz="1200" dirty="0">
                <a:solidFill>
                  <a:srgbClr val="1F2937"/>
                </a:solidFill>
                <a:latin typeface="Arial" pitchFamily="34" charset="0"/>
                <a:ea typeface="Arial" pitchFamily="34" charset="-122"/>
                <a:cs typeface="Arial" pitchFamily="34" charset="-120"/>
              </a:rPr>
              <a:t>,</a:t>
            </a:r>
            <a:endParaRPr lang="en-US" sz="1200" dirty="0"/>
          </a:p>
        </p:txBody>
      </p:sp>
      <p:sp>
        <p:nvSpPr>
          <p:cNvPr id="32" name="Text 29"/>
          <p:cNvSpPr txBox="1"/>
          <p:nvPr/>
        </p:nvSpPr>
        <p:spPr>
          <a:xfrm>
            <a:off x="4361688" y="4764024"/>
            <a:ext cx="822960" cy="201168"/>
          </a:xfrm>
          <a:prstGeom prst="rect">
            <a:avLst/>
          </a:prstGeom>
          <a:noFill/>
          <a:ln/>
        </p:spPr>
        <p:txBody>
          <a:bodyPr wrap="square" lIns="0" tIns="0" rIns="0" bIns="0" rtlCol="0" anchor="ctr"/>
          <a:lstStyle/>
          <a:p>
            <a:pPr algn="ctr" indent="0" marL="0">
              <a:buNone/>
            </a:pPr>
            <a:r>
              <a:rPr lang="en-US" sz="900" dirty="0">
                <a:solidFill>
                  <a:srgbClr val="5B6B7C"/>
                </a:solidFill>
                <a:latin typeface="Arial" pitchFamily="34" charset="0"/>
                <a:ea typeface="Arial" pitchFamily="34" charset="-122"/>
                <a:cs typeface="Arial" pitchFamily="34" charset="-120"/>
              </a:rPr>
              <a:t>O</a:t>
            </a:r>
            <a:endParaRPr lang="en-US" sz="900" dirty="0"/>
          </a:p>
        </p:txBody>
      </p:sp>
      <p:sp>
        <p:nvSpPr>
          <p:cNvPr id="33" name="Shape 30"/>
          <p:cNvSpPr/>
          <p:nvPr/>
        </p:nvSpPr>
        <p:spPr>
          <a:xfrm>
            <a:off x="5257800" y="4343400"/>
            <a:ext cx="822960" cy="384048"/>
          </a:xfrm>
          <a:prstGeom prst="roundRect">
            <a:avLst>
              <a:gd name="adj" fmla="val 19048"/>
            </a:avLst>
          </a:prstGeom>
          <a:solidFill>
            <a:srgbClr val="F4F5F7"/>
          </a:solidFill>
          <a:ln w="9525">
            <a:solidFill>
              <a:srgbClr val="D9DEE5"/>
            </a:solidFill>
            <a:prstDash val="solid"/>
          </a:ln>
        </p:spPr>
      </p:sp>
      <p:sp>
        <p:nvSpPr>
          <p:cNvPr id="34" name="Text 31"/>
          <p:cNvSpPr txBox="1"/>
          <p:nvPr/>
        </p:nvSpPr>
        <p:spPr>
          <a:xfrm>
            <a:off x="5257800" y="4343400"/>
            <a:ext cx="822960" cy="384048"/>
          </a:xfrm>
          <a:prstGeom prst="rect">
            <a:avLst/>
          </a:prstGeom>
          <a:noFill/>
          <a:ln/>
        </p:spPr>
        <p:txBody>
          <a:bodyPr wrap="square" lIns="0" tIns="0" rIns="0" bIns="0" rtlCol="0" anchor="ctr"/>
          <a:lstStyle/>
          <a:p>
            <a:pPr algn="ctr" indent="0" marL="0">
              <a:buNone/>
            </a:pPr>
            <a:r>
              <a:rPr lang="en-US" sz="1200" dirty="0">
                <a:solidFill>
                  <a:srgbClr val="1F2937"/>
                </a:solidFill>
                <a:latin typeface="Arial" pitchFamily="34" charset="0"/>
                <a:ea typeface="Arial" pitchFamily="34" charset="-122"/>
                <a:cs typeface="Arial" pitchFamily="34" charset="-120"/>
              </a:rPr>
              <a:t>where</a:t>
            </a:r>
            <a:endParaRPr lang="en-US" sz="1200" dirty="0"/>
          </a:p>
        </p:txBody>
      </p:sp>
      <p:sp>
        <p:nvSpPr>
          <p:cNvPr id="35" name="Text 32"/>
          <p:cNvSpPr txBox="1"/>
          <p:nvPr/>
        </p:nvSpPr>
        <p:spPr>
          <a:xfrm>
            <a:off x="5257800" y="4764024"/>
            <a:ext cx="822960" cy="201168"/>
          </a:xfrm>
          <a:prstGeom prst="rect">
            <a:avLst/>
          </a:prstGeom>
          <a:noFill/>
          <a:ln/>
        </p:spPr>
        <p:txBody>
          <a:bodyPr wrap="square" lIns="0" tIns="0" rIns="0" bIns="0" rtlCol="0" anchor="ctr"/>
          <a:lstStyle/>
          <a:p>
            <a:pPr algn="ctr" indent="0" marL="0">
              <a:buNone/>
            </a:pPr>
            <a:r>
              <a:rPr lang="en-US" sz="900" dirty="0">
                <a:solidFill>
                  <a:srgbClr val="5B6B7C"/>
                </a:solidFill>
                <a:latin typeface="Arial" pitchFamily="34" charset="0"/>
                <a:ea typeface="Arial" pitchFamily="34" charset="-122"/>
                <a:cs typeface="Arial" pitchFamily="34" charset="-120"/>
              </a:rPr>
              <a:t>O</a:t>
            </a:r>
            <a:endParaRPr lang="en-US" sz="900" dirty="0"/>
          </a:p>
        </p:txBody>
      </p:sp>
      <p:sp>
        <p:nvSpPr>
          <p:cNvPr id="36" name="Shape 33"/>
          <p:cNvSpPr/>
          <p:nvPr/>
        </p:nvSpPr>
        <p:spPr>
          <a:xfrm>
            <a:off x="6153912" y="4343400"/>
            <a:ext cx="822960" cy="384048"/>
          </a:xfrm>
          <a:prstGeom prst="roundRect">
            <a:avLst>
              <a:gd name="adj" fmla="val 19048"/>
            </a:avLst>
          </a:prstGeom>
          <a:solidFill>
            <a:srgbClr val="F4F5F7"/>
          </a:solidFill>
          <a:ln w="9525">
            <a:solidFill>
              <a:srgbClr val="D9DEE5"/>
            </a:solidFill>
            <a:prstDash val="solid"/>
          </a:ln>
        </p:spPr>
      </p:sp>
      <p:sp>
        <p:nvSpPr>
          <p:cNvPr id="37" name="Text 34"/>
          <p:cNvSpPr txBox="1"/>
          <p:nvPr/>
        </p:nvSpPr>
        <p:spPr>
          <a:xfrm>
            <a:off x="6153912" y="4343400"/>
            <a:ext cx="822960" cy="384048"/>
          </a:xfrm>
          <a:prstGeom prst="rect">
            <a:avLst/>
          </a:prstGeom>
          <a:noFill/>
          <a:ln/>
        </p:spPr>
        <p:txBody>
          <a:bodyPr wrap="square" lIns="0" tIns="0" rIns="0" bIns="0" rtlCol="0" anchor="ctr"/>
          <a:lstStyle/>
          <a:p>
            <a:pPr algn="ctr" indent="0" marL="0">
              <a:buNone/>
            </a:pPr>
            <a:r>
              <a:rPr lang="en-US" sz="1200" dirty="0">
                <a:solidFill>
                  <a:srgbClr val="1F2937"/>
                </a:solidFill>
                <a:latin typeface="Arial" pitchFamily="34" charset="0"/>
                <a:ea typeface="Arial" pitchFamily="34" charset="-122"/>
                <a:cs typeface="Arial" pitchFamily="34" charset="-120"/>
              </a:rPr>
              <a:t>are</a:t>
            </a:r>
            <a:endParaRPr lang="en-US" sz="1200" dirty="0"/>
          </a:p>
        </p:txBody>
      </p:sp>
      <p:sp>
        <p:nvSpPr>
          <p:cNvPr id="38" name="Text 35"/>
          <p:cNvSpPr txBox="1"/>
          <p:nvPr/>
        </p:nvSpPr>
        <p:spPr>
          <a:xfrm>
            <a:off x="6153912" y="4764024"/>
            <a:ext cx="822960" cy="201168"/>
          </a:xfrm>
          <a:prstGeom prst="rect">
            <a:avLst/>
          </a:prstGeom>
          <a:noFill/>
          <a:ln/>
        </p:spPr>
        <p:txBody>
          <a:bodyPr wrap="square" lIns="0" tIns="0" rIns="0" bIns="0" rtlCol="0" anchor="ctr"/>
          <a:lstStyle/>
          <a:p>
            <a:pPr algn="ctr" indent="0" marL="0">
              <a:buNone/>
            </a:pPr>
            <a:r>
              <a:rPr lang="en-US" sz="900" dirty="0">
                <a:solidFill>
                  <a:srgbClr val="5B6B7C"/>
                </a:solidFill>
                <a:latin typeface="Arial" pitchFamily="34" charset="0"/>
                <a:ea typeface="Arial" pitchFamily="34" charset="-122"/>
                <a:cs typeface="Arial" pitchFamily="34" charset="-120"/>
              </a:rPr>
              <a:t>O</a:t>
            </a:r>
            <a:endParaRPr lang="en-US" sz="900" dirty="0"/>
          </a:p>
        </p:txBody>
      </p:sp>
      <p:sp>
        <p:nvSpPr>
          <p:cNvPr id="39" name="Shape 36"/>
          <p:cNvSpPr/>
          <p:nvPr/>
        </p:nvSpPr>
        <p:spPr>
          <a:xfrm>
            <a:off x="7050024" y="4343400"/>
            <a:ext cx="822960" cy="384048"/>
          </a:xfrm>
          <a:prstGeom prst="roundRect">
            <a:avLst>
              <a:gd name="adj" fmla="val 19048"/>
            </a:avLst>
          </a:prstGeom>
          <a:solidFill>
            <a:srgbClr val="F4F5F7"/>
          </a:solidFill>
          <a:ln w="9525">
            <a:solidFill>
              <a:srgbClr val="D9DEE5"/>
            </a:solidFill>
            <a:prstDash val="solid"/>
          </a:ln>
        </p:spPr>
      </p:sp>
      <p:sp>
        <p:nvSpPr>
          <p:cNvPr id="40" name="Text 37"/>
          <p:cNvSpPr txBox="1"/>
          <p:nvPr/>
        </p:nvSpPr>
        <p:spPr>
          <a:xfrm>
            <a:off x="7050024" y="4343400"/>
            <a:ext cx="822960" cy="384048"/>
          </a:xfrm>
          <a:prstGeom prst="rect">
            <a:avLst/>
          </a:prstGeom>
          <a:noFill/>
          <a:ln/>
        </p:spPr>
        <p:txBody>
          <a:bodyPr wrap="square" lIns="0" tIns="0" rIns="0" bIns="0" rtlCol="0" anchor="ctr"/>
          <a:lstStyle/>
          <a:p>
            <a:pPr algn="ctr" indent="0" marL="0">
              <a:buNone/>
            </a:pPr>
            <a:r>
              <a:rPr lang="en-US" sz="1200" dirty="0">
                <a:solidFill>
                  <a:srgbClr val="1F2937"/>
                </a:solidFill>
                <a:latin typeface="Arial" pitchFamily="34" charset="0"/>
                <a:ea typeface="Arial" pitchFamily="34" charset="-122"/>
                <a:cs typeface="Arial" pitchFamily="34" charset="-120"/>
              </a:rPr>
              <a:t>all</a:t>
            </a:r>
            <a:endParaRPr lang="en-US" sz="1200" dirty="0"/>
          </a:p>
        </p:txBody>
      </p:sp>
      <p:sp>
        <p:nvSpPr>
          <p:cNvPr id="41" name="Text 38"/>
          <p:cNvSpPr txBox="1"/>
          <p:nvPr/>
        </p:nvSpPr>
        <p:spPr>
          <a:xfrm>
            <a:off x="7050024" y="4764024"/>
            <a:ext cx="822960" cy="201168"/>
          </a:xfrm>
          <a:prstGeom prst="rect">
            <a:avLst/>
          </a:prstGeom>
          <a:noFill/>
          <a:ln/>
        </p:spPr>
        <p:txBody>
          <a:bodyPr wrap="square" lIns="0" tIns="0" rIns="0" bIns="0" rtlCol="0" anchor="ctr"/>
          <a:lstStyle/>
          <a:p>
            <a:pPr algn="ctr" indent="0" marL="0">
              <a:buNone/>
            </a:pPr>
            <a:r>
              <a:rPr lang="en-US" sz="900" dirty="0">
                <a:solidFill>
                  <a:srgbClr val="5B6B7C"/>
                </a:solidFill>
                <a:latin typeface="Arial" pitchFamily="34" charset="0"/>
                <a:ea typeface="Arial" pitchFamily="34" charset="-122"/>
                <a:cs typeface="Arial" pitchFamily="34" charset="-120"/>
              </a:rPr>
              <a:t>O</a:t>
            </a:r>
            <a:endParaRPr lang="en-US" sz="900" dirty="0"/>
          </a:p>
        </p:txBody>
      </p:sp>
      <p:sp>
        <p:nvSpPr>
          <p:cNvPr id="42" name="Shape 39"/>
          <p:cNvSpPr/>
          <p:nvPr/>
        </p:nvSpPr>
        <p:spPr>
          <a:xfrm>
            <a:off x="7946136" y="4343400"/>
            <a:ext cx="822960" cy="384048"/>
          </a:xfrm>
          <a:prstGeom prst="roundRect">
            <a:avLst>
              <a:gd name="adj" fmla="val 19048"/>
            </a:avLst>
          </a:prstGeom>
          <a:solidFill>
            <a:srgbClr val="F4F5F7"/>
          </a:solidFill>
          <a:ln w="9525">
            <a:solidFill>
              <a:srgbClr val="D9DEE5"/>
            </a:solidFill>
            <a:prstDash val="solid"/>
          </a:ln>
        </p:spPr>
      </p:sp>
      <p:sp>
        <p:nvSpPr>
          <p:cNvPr id="43" name="Text 40"/>
          <p:cNvSpPr txBox="1"/>
          <p:nvPr/>
        </p:nvSpPr>
        <p:spPr>
          <a:xfrm>
            <a:off x="7946136" y="4343400"/>
            <a:ext cx="822960" cy="384048"/>
          </a:xfrm>
          <a:prstGeom prst="rect">
            <a:avLst/>
          </a:prstGeom>
          <a:noFill/>
          <a:ln/>
        </p:spPr>
        <p:txBody>
          <a:bodyPr wrap="square" lIns="0" tIns="0" rIns="0" bIns="0" rtlCol="0" anchor="ctr"/>
          <a:lstStyle/>
          <a:p>
            <a:pPr algn="ctr" indent="0" marL="0">
              <a:buNone/>
            </a:pPr>
            <a:r>
              <a:rPr lang="en-US" sz="1200" dirty="0">
                <a:solidFill>
                  <a:srgbClr val="1F2937"/>
                </a:solidFill>
                <a:latin typeface="Arial" pitchFamily="34" charset="0"/>
                <a:ea typeface="Arial" pitchFamily="34" charset="-122"/>
                <a:cs typeface="Arial" pitchFamily="34" charset="-120"/>
              </a:rPr>
              <a:t>these</a:t>
            </a:r>
            <a:endParaRPr lang="en-US" sz="1200" dirty="0"/>
          </a:p>
        </p:txBody>
      </p:sp>
      <p:sp>
        <p:nvSpPr>
          <p:cNvPr id="44" name="Text 41"/>
          <p:cNvSpPr txBox="1"/>
          <p:nvPr/>
        </p:nvSpPr>
        <p:spPr>
          <a:xfrm>
            <a:off x="7946136" y="4764024"/>
            <a:ext cx="822960" cy="201168"/>
          </a:xfrm>
          <a:prstGeom prst="rect">
            <a:avLst/>
          </a:prstGeom>
          <a:noFill/>
          <a:ln/>
        </p:spPr>
        <p:txBody>
          <a:bodyPr wrap="square" lIns="0" tIns="0" rIns="0" bIns="0" rtlCol="0" anchor="ctr"/>
          <a:lstStyle/>
          <a:p>
            <a:pPr algn="ctr" indent="0" marL="0">
              <a:buNone/>
            </a:pPr>
            <a:r>
              <a:rPr lang="en-US" sz="900" dirty="0">
                <a:solidFill>
                  <a:srgbClr val="5B6B7C"/>
                </a:solidFill>
                <a:latin typeface="Arial" pitchFamily="34" charset="0"/>
                <a:ea typeface="Arial" pitchFamily="34" charset="-122"/>
                <a:cs typeface="Arial" pitchFamily="34" charset="-120"/>
              </a:rPr>
              <a:t>O</a:t>
            </a:r>
            <a:endParaRPr lang="en-US" sz="900" dirty="0"/>
          </a:p>
        </p:txBody>
      </p:sp>
      <p:sp>
        <p:nvSpPr>
          <p:cNvPr id="45" name="Shape 42"/>
          <p:cNvSpPr/>
          <p:nvPr/>
        </p:nvSpPr>
        <p:spPr>
          <a:xfrm>
            <a:off x="8842248" y="4343400"/>
            <a:ext cx="822960" cy="384048"/>
          </a:xfrm>
          <a:prstGeom prst="roundRect">
            <a:avLst>
              <a:gd name="adj" fmla="val 19048"/>
            </a:avLst>
          </a:prstGeom>
          <a:solidFill>
            <a:srgbClr val="F4F5F7"/>
          </a:solidFill>
          <a:ln w="9525">
            <a:solidFill>
              <a:srgbClr val="D9DEE5"/>
            </a:solidFill>
            <a:prstDash val="solid"/>
          </a:ln>
        </p:spPr>
      </p:sp>
      <p:sp>
        <p:nvSpPr>
          <p:cNvPr id="46" name="Text 43"/>
          <p:cNvSpPr txBox="1"/>
          <p:nvPr/>
        </p:nvSpPr>
        <p:spPr>
          <a:xfrm>
            <a:off x="8842248" y="4343400"/>
            <a:ext cx="822960" cy="384048"/>
          </a:xfrm>
          <a:prstGeom prst="rect">
            <a:avLst/>
          </a:prstGeom>
          <a:noFill/>
          <a:ln/>
        </p:spPr>
        <p:txBody>
          <a:bodyPr wrap="square" lIns="0" tIns="0" rIns="0" bIns="0" rtlCol="0" anchor="ctr"/>
          <a:lstStyle/>
          <a:p>
            <a:pPr algn="ctr" indent="0" marL="0">
              <a:buNone/>
            </a:pPr>
            <a:r>
              <a:rPr lang="en-US" sz="1200" dirty="0">
                <a:solidFill>
                  <a:srgbClr val="1F2937"/>
                </a:solidFill>
                <a:latin typeface="Arial" pitchFamily="34" charset="0"/>
                <a:ea typeface="Arial" pitchFamily="34" charset="-122"/>
                <a:cs typeface="Arial" pitchFamily="34" charset="-120"/>
              </a:rPr>
              <a:t>alleged</a:t>
            </a:r>
            <a:endParaRPr lang="en-US" sz="1200" dirty="0"/>
          </a:p>
        </p:txBody>
      </p:sp>
      <p:sp>
        <p:nvSpPr>
          <p:cNvPr id="47" name="Text 44"/>
          <p:cNvSpPr txBox="1"/>
          <p:nvPr/>
        </p:nvSpPr>
        <p:spPr>
          <a:xfrm>
            <a:off x="8842248" y="4764024"/>
            <a:ext cx="822960" cy="201168"/>
          </a:xfrm>
          <a:prstGeom prst="rect">
            <a:avLst/>
          </a:prstGeom>
          <a:noFill/>
          <a:ln/>
        </p:spPr>
        <p:txBody>
          <a:bodyPr wrap="square" lIns="0" tIns="0" rIns="0" bIns="0" rtlCol="0" anchor="ctr"/>
          <a:lstStyle/>
          <a:p>
            <a:pPr algn="ctr" indent="0" marL="0">
              <a:buNone/>
            </a:pPr>
            <a:r>
              <a:rPr lang="en-US" sz="900" dirty="0">
                <a:solidFill>
                  <a:srgbClr val="5B6B7C"/>
                </a:solidFill>
                <a:latin typeface="Arial" pitchFamily="34" charset="0"/>
                <a:ea typeface="Arial" pitchFamily="34" charset="-122"/>
                <a:cs typeface="Arial" pitchFamily="34" charset="-120"/>
              </a:rPr>
              <a:t>O</a:t>
            </a:r>
            <a:endParaRPr lang="en-US" sz="900" dirty="0"/>
          </a:p>
        </p:txBody>
      </p:sp>
      <p:sp>
        <p:nvSpPr>
          <p:cNvPr id="48" name="Shape 45"/>
          <p:cNvSpPr/>
          <p:nvPr/>
        </p:nvSpPr>
        <p:spPr>
          <a:xfrm>
            <a:off x="9738360" y="4343400"/>
            <a:ext cx="822960" cy="384048"/>
          </a:xfrm>
          <a:prstGeom prst="roundRect">
            <a:avLst>
              <a:gd name="adj" fmla="val 19048"/>
            </a:avLst>
          </a:prstGeom>
          <a:solidFill>
            <a:srgbClr val="F4F5F7"/>
          </a:solidFill>
          <a:ln w="9525">
            <a:solidFill>
              <a:srgbClr val="D9DEE5"/>
            </a:solidFill>
            <a:prstDash val="solid"/>
          </a:ln>
        </p:spPr>
      </p:sp>
      <p:sp>
        <p:nvSpPr>
          <p:cNvPr id="49" name="Text 46"/>
          <p:cNvSpPr txBox="1"/>
          <p:nvPr/>
        </p:nvSpPr>
        <p:spPr>
          <a:xfrm>
            <a:off x="9738360" y="4343400"/>
            <a:ext cx="822960" cy="384048"/>
          </a:xfrm>
          <a:prstGeom prst="rect">
            <a:avLst/>
          </a:prstGeom>
          <a:noFill/>
          <a:ln/>
        </p:spPr>
        <p:txBody>
          <a:bodyPr wrap="square" lIns="0" tIns="0" rIns="0" bIns="0" rtlCol="0" anchor="ctr"/>
          <a:lstStyle/>
          <a:p>
            <a:pPr algn="ctr" indent="0" marL="0">
              <a:buNone/>
            </a:pPr>
            <a:r>
              <a:rPr lang="en-US" sz="1200" dirty="0">
                <a:solidFill>
                  <a:srgbClr val="1F2937"/>
                </a:solidFill>
                <a:latin typeface="Arial" pitchFamily="34" charset="0"/>
                <a:ea typeface="Arial" pitchFamily="34" charset="-122"/>
                <a:cs typeface="Arial" pitchFamily="34" charset="-120"/>
              </a:rPr>
              <a:t>criticisms</a:t>
            </a:r>
            <a:endParaRPr lang="en-US" sz="1200" dirty="0"/>
          </a:p>
        </p:txBody>
      </p:sp>
      <p:sp>
        <p:nvSpPr>
          <p:cNvPr id="50" name="Text 47"/>
          <p:cNvSpPr txBox="1"/>
          <p:nvPr/>
        </p:nvSpPr>
        <p:spPr>
          <a:xfrm>
            <a:off x="9738360" y="4764024"/>
            <a:ext cx="822960" cy="201168"/>
          </a:xfrm>
          <a:prstGeom prst="rect">
            <a:avLst/>
          </a:prstGeom>
          <a:noFill/>
          <a:ln/>
        </p:spPr>
        <p:txBody>
          <a:bodyPr wrap="square" lIns="0" tIns="0" rIns="0" bIns="0" rtlCol="0" anchor="ctr"/>
          <a:lstStyle/>
          <a:p>
            <a:pPr algn="ctr" indent="0" marL="0">
              <a:buNone/>
            </a:pPr>
            <a:r>
              <a:rPr lang="en-US" sz="900" dirty="0">
                <a:solidFill>
                  <a:srgbClr val="5B6B7C"/>
                </a:solidFill>
                <a:latin typeface="Arial" pitchFamily="34" charset="0"/>
                <a:ea typeface="Arial" pitchFamily="34" charset="-122"/>
                <a:cs typeface="Arial" pitchFamily="34" charset="-120"/>
              </a:rPr>
              <a:t>O</a:t>
            </a:r>
            <a:endParaRPr lang="en-US" sz="900" dirty="0"/>
          </a:p>
        </p:txBody>
      </p:sp>
      <p:sp>
        <p:nvSpPr>
          <p:cNvPr id="51" name="Shape 48"/>
          <p:cNvSpPr/>
          <p:nvPr/>
        </p:nvSpPr>
        <p:spPr>
          <a:xfrm>
            <a:off x="10634472" y="4343400"/>
            <a:ext cx="822960" cy="384048"/>
          </a:xfrm>
          <a:prstGeom prst="roundRect">
            <a:avLst>
              <a:gd name="adj" fmla="val 19048"/>
            </a:avLst>
          </a:prstGeom>
          <a:solidFill>
            <a:srgbClr val="F4F5F7"/>
          </a:solidFill>
          <a:ln w="9525">
            <a:solidFill>
              <a:srgbClr val="D9DEE5"/>
            </a:solidFill>
            <a:prstDash val="solid"/>
          </a:ln>
        </p:spPr>
      </p:sp>
      <p:sp>
        <p:nvSpPr>
          <p:cNvPr id="52" name="Text 49"/>
          <p:cNvSpPr txBox="1"/>
          <p:nvPr/>
        </p:nvSpPr>
        <p:spPr>
          <a:xfrm>
            <a:off x="10634472" y="4343400"/>
            <a:ext cx="822960" cy="384048"/>
          </a:xfrm>
          <a:prstGeom prst="rect">
            <a:avLst/>
          </a:prstGeom>
          <a:noFill/>
          <a:ln/>
        </p:spPr>
        <p:txBody>
          <a:bodyPr wrap="square" lIns="0" tIns="0" rIns="0" bIns="0" rtlCol="0" anchor="ctr"/>
          <a:lstStyle/>
          <a:p>
            <a:pPr algn="ctr" indent="0" marL="0">
              <a:buNone/>
            </a:pPr>
            <a:r>
              <a:rPr lang="en-US" sz="1200" dirty="0">
                <a:solidFill>
                  <a:srgbClr val="1F2937"/>
                </a:solidFill>
                <a:latin typeface="Arial" pitchFamily="34" charset="0"/>
                <a:ea typeface="Arial" pitchFamily="34" charset="-122"/>
                <a:cs typeface="Arial" pitchFamily="34" charset="-120"/>
              </a:rPr>
              <a:t>?</a:t>
            </a:r>
            <a:endParaRPr lang="en-US" sz="1200" dirty="0"/>
          </a:p>
        </p:txBody>
      </p:sp>
      <p:sp>
        <p:nvSpPr>
          <p:cNvPr id="53" name="Text 50"/>
          <p:cNvSpPr txBox="1"/>
          <p:nvPr/>
        </p:nvSpPr>
        <p:spPr>
          <a:xfrm>
            <a:off x="10634472" y="4764024"/>
            <a:ext cx="822960" cy="201168"/>
          </a:xfrm>
          <a:prstGeom prst="rect">
            <a:avLst/>
          </a:prstGeom>
          <a:noFill/>
          <a:ln/>
        </p:spPr>
        <p:txBody>
          <a:bodyPr wrap="square" lIns="0" tIns="0" rIns="0" bIns="0" rtlCol="0" anchor="ctr"/>
          <a:lstStyle/>
          <a:p>
            <a:pPr algn="ctr" indent="0" marL="0">
              <a:buNone/>
            </a:pPr>
            <a:r>
              <a:rPr lang="en-US" sz="900" dirty="0">
                <a:solidFill>
                  <a:srgbClr val="5B6B7C"/>
                </a:solidFill>
                <a:latin typeface="Arial" pitchFamily="34" charset="0"/>
                <a:ea typeface="Arial" pitchFamily="34" charset="-122"/>
                <a:cs typeface="Arial" pitchFamily="34" charset="-120"/>
              </a:rPr>
              <a:t>O</a:t>
            </a:r>
            <a:endParaRPr lang="en-US" sz="900" dirty="0"/>
          </a:p>
        </p:txBody>
      </p:sp>
      <p:sp>
        <p:nvSpPr>
          <p:cNvPr id="54" name="Text 51"/>
          <p:cNvSpPr txBox="1"/>
          <p:nvPr/>
        </p:nvSpPr>
        <p:spPr>
          <a:xfrm>
            <a:off x="777240" y="5230368"/>
            <a:ext cx="10058400" cy="274320"/>
          </a:xfrm>
          <a:prstGeom prst="rect">
            <a:avLst/>
          </a:prstGeom>
          <a:noFill/>
          <a:ln/>
        </p:spPr>
        <p:txBody>
          <a:bodyPr wrap="square" lIns="0" tIns="0" rIns="0" bIns="0" rtlCol="0" anchor="ctr"/>
          <a:lstStyle/>
          <a:p>
            <a:pPr indent="0" marL="0">
              <a:buNone/>
            </a:pPr>
            <a:r>
              <a:rPr lang="en-US" sz="1200" dirty="0">
                <a:solidFill>
                  <a:srgbClr val="5B6B7C"/>
                </a:solidFill>
                <a:latin typeface="Arial" pitchFamily="34" charset="0"/>
                <a:ea typeface="Arial" pitchFamily="34" charset="-122"/>
                <a:cs typeface="Arial" pitchFamily="34" charset="-120"/>
              </a:rPr>
              <a:t>12 token, semuanya O. Tokenizer memecah entity HTML "&amp;gt;" menjadi &amp;, gt, dan ;</a:t>
            </a:r>
            <a:endParaRPr lang="en-US" sz="1200" dirty="0"/>
          </a:p>
        </p:txBody>
      </p:sp>
      <p:sp>
        <p:nvSpPr>
          <p:cNvPr id="55" name="Text 52"/>
          <p:cNvSpPr txBox="1"/>
          <p:nvPr/>
        </p:nvSpPr>
        <p:spPr>
          <a:xfrm>
            <a:off x="548640" y="5852160"/>
            <a:ext cx="11094415" cy="365760"/>
          </a:xfrm>
          <a:prstGeom prst="rect">
            <a:avLst/>
          </a:prstGeom>
          <a:noFill/>
          <a:ln/>
        </p:spPr>
        <p:txBody>
          <a:bodyPr wrap="square" lIns="0" tIns="0" rIns="0" bIns="0" rtlCol="0" anchor="ctr"/>
          <a:lstStyle/>
          <a:p>
            <a:pPr indent="0" marL="0">
              <a:buNone/>
            </a:pPr>
            <a:r>
              <a:rPr lang="en-US" sz="1500" b="1" dirty="0">
                <a:solidFill>
                  <a:srgbClr val="12406A"/>
                </a:solidFill>
                <a:latin typeface="Arial" pitchFamily="34" charset="0"/>
                <a:ea typeface="Arial" pitchFamily="34" charset="-122"/>
                <a:cs typeface="Arial" pitchFamily="34" charset="-120"/>
              </a:rPr>
              <a:t>Konsekuensi: model harus memakai konteks, bentuk kata, dan embedding, bukan identitas kata.</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B8960C"/>
                </a:solidFill>
                <a:latin typeface="Arial" pitchFamily="34" charset="0"/>
                <a:ea typeface="Arial" pitchFamily="34" charset="-122"/>
                <a:cs typeface="Arial" pitchFamily="34" charset="-120"/>
              </a:rPr>
              <a:t>PROTOKOL</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12406A"/>
                </a:solidFill>
                <a:latin typeface="Arial" pitchFamily="34" charset="0"/>
                <a:ea typeface="Arial" pitchFamily="34" charset="-122"/>
                <a:cs typeface="Arial" pitchFamily="34" charset="-120"/>
              </a:rPr>
              <a:t>Protokol eksperimen dan metrik evaluasi</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C"/>
                </a:solidFill>
                <a:latin typeface="Arial" pitchFamily="34" charset="0"/>
                <a:ea typeface="Arial" pitchFamily="34" charset="-122"/>
                <a:cs typeface="Arial" pitchFamily="34" charset="-120"/>
              </a:rPr>
              <a:t>Kelompok 1 · Pemrosesan Bahasa Alami Lanjut · UGM</a:t>
            </a:r>
            <a:endParaRPr lang="en-US" sz="1000" dirty="0"/>
          </a:p>
        </p:txBody>
      </p:sp>
      <p:sp>
        <p:nvSpPr>
          <p:cNvPr id="5" name="Text 3"/>
          <p:cNvSpPr txBox="1"/>
          <p:nvPr/>
        </p:nvSpPr>
        <p:spPr>
          <a:xfrm>
            <a:off x="10728655" y="6446520"/>
            <a:ext cx="914400" cy="228600"/>
          </a:xfrm>
          <a:prstGeom prst="rect">
            <a:avLst/>
          </a:prstGeom>
          <a:noFill/>
          <a:ln/>
        </p:spPr>
        <p:txBody>
          <a:bodyPr wrap="square" lIns="0" tIns="0" rIns="0" bIns="0" rtlCol="0" anchor="ctr"/>
          <a:lstStyle/>
          <a:p>
            <a:pPr algn="r" indent="0" marL="0">
              <a:buNone/>
            </a:pPr>
            <a:r>
              <a:rPr lang="en-US" sz="1000" dirty="0">
                <a:solidFill>
                  <a:srgbClr val="5B6B7C"/>
                </a:solidFill>
                <a:latin typeface="Arial" pitchFamily="34" charset="0"/>
                <a:ea typeface="Arial" pitchFamily="34" charset="-122"/>
                <a:cs typeface="Arial" pitchFamily="34" charset="-120"/>
              </a:rPr>
              <a:t>4</a:t>
            </a:r>
            <a:endParaRPr lang="en-US" sz="1000" dirty="0"/>
          </a:p>
        </p:txBody>
      </p:sp>
      <p:sp>
        <p:nvSpPr>
          <p:cNvPr id="7" name="Shape 4"/>
          <p:cNvSpPr/>
          <p:nvPr/>
        </p:nvSpPr>
        <p:spPr>
          <a:xfrm>
            <a:off x="548640" y="1783080"/>
            <a:ext cx="2468880" cy="1600200"/>
          </a:xfrm>
          <a:prstGeom prst="rect">
            <a:avLst/>
          </a:prstGeom>
          <a:solidFill>
            <a:srgbClr val="F4F5F7"/>
          </a:solidFill>
          <a:ln w="6350">
            <a:solidFill>
              <a:srgbClr val="F4F5F7"/>
            </a:solidFill>
            <a:prstDash val="solid"/>
          </a:ln>
        </p:spPr>
      </p:sp>
      <p:sp>
        <p:nvSpPr>
          <p:cNvPr id="8" name="Text 5"/>
          <p:cNvSpPr txBox="1"/>
          <p:nvPr/>
        </p:nvSpPr>
        <p:spPr>
          <a:xfrm>
            <a:off x="731520" y="1920240"/>
            <a:ext cx="2103120" cy="365760"/>
          </a:xfrm>
          <a:prstGeom prst="rect">
            <a:avLst/>
          </a:prstGeom>
          <a:noFill/>
          <a:ln/>
        </p:spPr>
        <p:txBody>
          <a:bodyPr wrap="square" lIns="0" tIns="0" rIns="0" bIns="0" rtlCol="0" anchor="ctr"/>
          <a:lstStyle/>
          <a:p>
            <a:pPr indent="0" marL="0">
              <a:buNone/>
            </a:pPr>
            <a:r>
              <a:rPr lang="en-US" sz="1700" b="1" dirty="0">
                <a:solidFill>
                  <a:srgbClr val="12406A"/>
                </a:solidFill>
                <a:latin typeface="Arial" pitchFamily="34" charset="0"/>
                <a:ea typeface="Arial" pitchFamily="34" charset="-122"/>
                <a:cs typeface="Arial" pitchFamily="34" charset="-120"/>
              </a:rPr>
              <a:t>1  Latih</a:t>
            </a:r>
            <a:endParaRPr lang="en-US" sz="1700" dirty="0"/>
          </a:p>
        </p:txBody>
      </p:sp>
      <p:sp>
        <p:nvSpPr>
          <p:cNvPr id="9" name="Text 6"/>
          <p:cNvSpPr txBox="1"/>
          <p:nvPr/>
        </p:nvSpPr>
        <p:spPr>
          <a:xfrm>
            <a:off x="731520" y="2377440"/>
            <a:ext cx="2103120" cy="914400"/>
          </a:xfrm>
          <a:prstGeom prst="rect">
            <a:avLst/>
          </a:prstGeom>
          <a:noFill/>
          <a:ln/>
        </p:spPr>
        <p:txBody>
          <a:bodyPr wrap="square" lIns="0" tIns="0" rIns="0" bIns="0" rtlCol="0" anchor="t"/>
          <a:lstStyle/>
          <a:p>
            <a:pPr indent="0" marL="0">
              <a:buNone/>
            </a:pPr>
            <a:r>
              <a:rPr lang="en-US" sz="1300" dirty="0">
                <a:solidFill>
                  <a:srgbClr val="1F2937"/>
                </a:solidFill>
                <a:latin typeface="Arial" pitchFamily="34" charset="0"/>
                <a:ea typeface="Arial" pitchFamily="34" charset="-122"/>
                <a:cs typeface="Arial" pitchFamily="34" charset="-120"/>
              </a:rPr>
              <a:t>wnut17train.conll</a:t>
            </a:r>
            <a:endParaRPr lang="en-US" sz="1300" dirty="0"/>
          </a:p>
          <a:p>
            <a:pPr indent="0" marL="0">
              <a:buNone/>
            </a:pPr>
            <a:r>
              <a:rPr lang="en-US" sz="1300" dirty="0">
                <a:solidFill>
                  <a:srgbClr val="1F2937"/>
                </a:solidFill>
                <a:latin typeface="Arial" pitchFamily="34" charset="0"/>
                <a:ea typeface="Arial" pitchFamily="34" charset="-122"/>
                <a:cs typeface="Arial" pitchFamily="34" charset="-120"/>
              </a:rPr>
              <a:t>3.394 kalimat</a:t>
            </a:r>
            <a:endParaRPr lang="en-US" sz="1300" dirty="0"/>
          </a:p>
        </p:txBody>
      </p:sp>
      <p:sp>
        <p:nvSpPr>
          <p:cNvPr id="10" name="Shape 7"/>
          <p:cNvSpPr/>
          <p:nvPr/>
        </p:nvSpPr>
        <p:spPr>
          <a:xfrm>
            <a:off x="3063240" y="2583180"/>
            <a:ext cx="310896" cy="0"/>
          </a:xfrm>
          <a:prstGeom prst="line">
            <a:avLst/>
          </a:prstGeom>
          <a:noFill/>
          <a:ln w="25400">
            <a:solidFill>
              <a:srgbClr val="12406A"/>
            </a:solidFill>
            <a:prstDash val="solid"/>
            <a:tailEnd type="triangle"/>
          </a:ln>
        </p:spPr>
      </p:sp>
      <p:sp>
        <p:nvSpPr>
          <p:cNvPr id="11" name="Shape 8"/>
          <p:cNvSpPr/>
          <p:nvPr/>
        </p:nvSpPr>
        <p:spPr>
          <a:xfrm>
            <a:off x="3419856" y="1783080"/>
            <a:ext cx="2468880" cy="1600200"/>
          </a:xfrm>
          <a:prstGeom prst="rect">
            <a:avLst/>
          </a:prstGeom>
          <a:solidFill>
            <a:srgbClr val="F4F5F7"/>
          </a:solidFill>
          <a:ln w="6350">
            <a:solidFill>
              <a:srgbClr val="F4F5F7"/>
            </a:solidFill>
            <a:prstDash val="solid"/>
          </a:ln>
        </p:spPr>
      </p:sp>
      <p:sp>
        <p:nvSpPr>
          <p:cNvPr id="12" name="Text 9"/>
          <p:cNvSpPr txBox="1"/>
          <p:nvPr/>
        </p:nvSpPr>
        <p:spPr>
          <a:xfrm>
            <a:off x="3602736" y="1920240"/>
            <a:ext cx="2103120" cy="365760"/>
          </a:xfrm>
          <a:prstGeom prst="rect">
            <a:avLst/>
          </a:prstGeom>
          <a:noFill/>
          <a:ln/>
        </p:spPr>
        <p:txBody>
          <a:bodyPr wrap="square" lIns="0" tIns="0" rIns="0" bIns="0" rtlCol="0" anchor="ctr"/>
          <a:lstStyle/>
          <a:p>
            <a:pPr indent="0" marL="0">
              <a:buNone/>
            </a:pPr>
            <a:r>
              <a:rPr lang="en-US" sz="1700" b="1" dirty="0">
                <a:solidFill>
                  <a:srgbClr val="12406A"/>
                </a:solidFill>
                <a:latin typeface="Arial" pitchFamily="34" charset="0"/>
                <a:ea typeface="Arial" pitchFamily="34" charset="-122"/>
                <a:cs typeface="Arial" pitchFamily="34" charset="-120"/>
              </a:rPr>
              <a:t>2  Tuning</a:t>
            </a:r>
            <a:endParaRPr lang="en-US" sz="1700" dirty="0"/>
          </a:p>
        </p:txBody>
      </p:sp>
      <p:sp>
        <p:nvSpPr>
          <p:cNvPr id="13" name="Text 10"/>
          <p:cNvSpPr txBox="1"/>
          <p:nvPr/>
        </p:nvSpPr>
        <p:spPr>
          <a:xfrm>
            <a:off x="3602736" y="2377440"/>
            <a:ext cx="2103120" cy="914400"/>
          </a:xfrm>
          <a:prstGeom prst="rect">
            <a:avLst/>
          </a:prstGeom>
          <a:noFill/>
          <a:ln/>
        </p:spPr>
        <p:txBody>
          <a:bodyPr wrap="square" lIns="0" tIns="0" rIns="0" bIns="0" rtlCol="0" anchor="t"/>
          <a:lstStyle/>
          <a:p>
            <a:pPr indent="0" marL="0">
              <a:buNone/>
            </a:pPr>
            <a:r>
              <a:rPr lang="en-US" sz="1300" dirty="0">
                <a:solidFill>
                  <a:srgbClr val="1F2937"/>
                </a:solidFill>
                <a:latin typeface="Arial" pitchFamily="34" charset="0"/>
                <a:ea typeface="Arial" pitchFamily="34" charset="-122"/>
                <a:cs typeface="Arial" pitchFamily="34" charset="-120"/>
              </a:rPr>
              <a:t>emerging.dev.conll, 1.009 kalimat. Pilih hiperparameter dan epoch</a:t>
            </a:r>
            <a:endParaRPr lang="en-US" sz="1300" dirty="0"/>
          </a:p>
        </p:txBody>
      </p:sp>
      <p:sp>
        <p:nvSpPr>
          <p:cNvPr id="14" name="Shape 11"/>
          <p:cNvSpPr/>
          <p:nvPr/>
        </p:nvSpPr>
        <p:spPr>
          <a:xfrm>
            <a:off x="5934456" y="2583180"/>
            <a:ext cx="310896" cy="0"/>
          </a:xfrm>
          <a:prstGeom prst="line">
            <a:avLst/>
          </a:prstGeom>
          <a:noFill/>
          <a:ln w="25400">
            <a:solidFill>
              <a:srgbClr val="12406A"/>
            </a:solidFill>
            <a:prstDash val="solid"/>
            <a:tailEnd type="triangle"/>
          </a:ln>
        </p:spPr>
      </p:sp>
      <p:sp>
        <p:nvSpPr>
          <p:cNvPr id="15" name="Shape 12"/>
          <p:cNvSpPr/>
          <p:nvPr/>
        </p:nvSpPr>
        <p:spPr>
          <a:xfrm>
            <a:off x="6291072" y="1783080"/>
            <a:ext cx="2468880" cy="1600200"/>
          </a:xfrm>
          <a:prstGeom prst="rect">
            <a:avLst/>
          </a:prstGeom>
          <a:solidFill>
            <a:srgbClr val="F4F5F7"/>
          </a:solidFill>
          <a:ln w="6350">
            <a:solidFill>
              <a:srgbClr val="F4F5F7"/>
            </a:solidFill>
            <a:prstDash val="solid"/>
          </a:ln>
        </p:spPr>
      </p:sp>
      <p:sp>
        <p:nvSpPr>
          <p:cNvPr id="16" name="Text 13"/>
          <p:cNvSpPr txBox="1"/>
          <p:nvPr/>
        </p:nvSpPr>
        <p:spPr>
          <a:xfrm>
            <a:off x="6473952" y="1920240"/>
            <a:ext cx="2103120" cy="365760"/>
          </a:xfrm>
          <a:prstGeom prst="rect">
            <a:avLst/>
          </a:prstGeom>
          <a:noFill/>
          <a:ln/>
        </p:spPr>
        <p:txBody>
          <a:bodyPr wrap="square" lIns="0" tIns="0" rIns="0" bIns="0" rtlCol="0" anchor="ctr"/>
          <a:lstStyle/>
          <a:p>
            <a:pPr indent="0" marL="0">
              <a:buNone/>
            </a:pPr>
            <a:r>
              <a:rPr lang="en-US" sz="1700" b="1" dirty="0">
                <a:solidFill>
                  <a:srgbClr val="12406A"/>
                </a:solidFill>
                <a:latin typeface="Arial" pitchFamily="34" charset="0"/>
                <a:ea typeface="Arial" pitchFamily="34" charset="-122"/>
                <a:cs typeface="Arial" pitchFamily="34" charset="-120"/>
              </a:rPr>
              <a:t>3  Latih ulang</a:t>
            </a:r>
            <a:endParaRPr lang="en-US" sz="1700" dirty="0"/>
          </a:p>
        </p:txBody>
      </p:sp>
      <p:sp>
        <p:nvSpPr>
          <p:cNvPr id="17" name="Text 14"/>
          <p:cNvSpPr txBox="1"/>
          <p:nvPr/>
        </p:nvSpPr>
        <p:spPr>
          <a:xfrm>
            <a:off x="6473952" y="2377440"/>
            <a:ext cx="2103120" cy="914400"/>
          </a:xfrm>
          <a:prstGeom prst="rect">
            <a:avLst/>
          </a:prstGeom>
          <a:noFill/>
          <a:ln/>
        </p:spPr>
        <p:txBody>
          <a:bodyPr wrap="square" lIns="0" tIns="0" rIns="0" bIns="0" rtlCol="0" anchor="t"/>
          <a:lstStyle/>
          <a:p>
            <a:pPr indent="0" marL="0">
              <a:buNone/>
            </a:pPr>
            <a:r>
              <a:rPr lang="en-US" sz="1300" dirty="0">
                <a:solidFill>
                  <a:srgbClr val="1F2937"/>
                </a:solidFill>
                <a:latin typeface="Arial" pitchFamily="34" charset="0"/>
                <a:ea typeface="Arial" pitchFamily="34" charset="-122"/>
                <a:cs typeface="Arial" pitchFamily="34" charset="-120"/>
              </a:rPr>
              <a:t>Train + dev dengan konfigurasi terpilih</a:t>
            </a:r>
            <a:endParaRPr lang="en-US" sz="1300" dirty="0"/>
          </a:p>
        </p:txBody>
      </p:sp>
      <p:sp>
        <p:nvSpPr>
          <p:cNvPr id="18" name="Shape 15"/>
          <p:cNvSpPr/>
          <p:nvPr/>
        </p:nvSpPr>
        <p:spPr>
          <a:xfrm>
            <a:off x="8805672" y="2583180"/>
            <a:ext cx="310896" cy="0"/>
          </a:xfrm>
          <a:prstGeom prst="line">
            <a:avLst/>
          </a:prstGeom>
          <a:noFill/>
          <a:ln w="25400">
            <a:solidFill>
              <a:srgbClr val="12406A"/>
            </a:solidFill>
            <a:prstDash val="solid"/>
            <a:tailEnd type="triangle"/>
          </a:ln>
        </p:spPr>
      </p:sp>
      <p:sp>
        <p:nvSpPr>
          <p:cNvPr id="19" name="Shape 16"/>
          <p:cNvSpPr/>
          <p:nvPr/>
        </p:nvSpPr>
        <p:spPr>
          <a:xfrm>
            <a:off x="9162288" y="1783080"/>
            <a:ext cx="2468880" cy="1600200"/>
          </a:xfrm>
          <a:prstGeom prst="rect">
            <a:avLst/>
          </a:prstGeom>
          <a:solidFill>
            <a:srgbClr val="F4F5F7"/>
          </a:solidFill>
          <a:ln w="6350">
            <a:solidFill>
              <a:srgbClr val="F4F5F7"/>
            </a:solidFill>
            <a:prstDash val="solid"/>
          </a:ln>
        </p:spPr>
      </p:sp>
      <p:sp>
        <p:nvSpPr>
          <p:cNvPr id="20" name="Text 17"/>
          <p:cNvSpPr txBox="1"/>
          <p:nvPr/>
        </p:nvSpPr>
        <p:spPr>
          <a:xfrm>
            <a:off x="9345168" y="1920240"/>
            <a:ext cx="2103120" cy="365760"/>
          </a:xfrm>
          <a:prstGeom prst="rect">
            <a:avLst/>
          </a:prstGeom>
          <a:noFill/>
          <a:ln/>
        </p:spPr>
        <p:txBody>
          <a:bodyPr wrap="square" lIns="0" tIns="0" rIns="0" bIns="0" rtlCol="0" anchor="ctr"/>
          <a:lstStyle/>
          <a:p>
            <a:pPr indent="0" marL="0">
              <a:buNone/>
            </a:pPr>
            <a:r>
              <a:rPr lang="en-US" sz="1700" b="1" dirty="0">
                <a:solidFill>
                  <a:srgbClr val="12406A"/>
                </a:solidFill>
                <a:latin typeface="Arial" pitchFamily="34" charset="0"/>
                <a:ea typeface="Arial" pitchFamily="34" charset="-122"/>
                <a:cs typeface="Arial" pitchFamily="34" charset="-120"/>
              </a:rPr>
              <a:t>4  Uji sekali</a:t>
            </a:r>
            <a:endParaRPr lang="en-US" sz="1700" dirty="0"/>
          </a:p>
        </p:txBody>
      </p:sp>
      <p:sp>
        <p:nvSpPr>
          <p:cNvPr id="21" name="Text 18"/>
          <p:cNvSpPr txBox="1"/>
          <p:nvPr/>
        </p:nvSpPr>
        <p:spPr>
          <a:xfrm>
            <a:off x="9345168" y="2377440"/>
            <a:ext cx="2103120" cy="914400"/>
          </a:xfrm>
          <a:prstGeom prst="rect">
            <a:avLst/>
          </a:prstGeom>
          <a:noFill/>
          <a:ln/>
        </p:spPr>
        <p:txBody>
          <a:bodyPr wrap="square" lIns="0" tIns="0" rIns="0" bIns="0" rtlCol="0" anchor="t"/>
          <a:lstStyle/>
          <a:p>
            <a:pPr indent="0" marL="0">
              <a:buNone/>
            </a:pPr>
            <a:r>
              <a:rPr lang="en-US" sz="1300" dirty="0">
                <a:solidFill>
                  <a:srgbClr val="1F2937"/>
                </a:solidFill>
                <a:latin typeface="Arial" pitchFamily="34" charset="0"/>
                <a:ea typeface="Arial" pitchFamily="34" charset="-122"/>
                <a:cs typeface="Arial" pitchFamily="34" charset="-120"/>
              </a:rPr>
              <a:t>emerging.test.annotated</a:t>
            </a:r>
            <a:endParaRPr lang="en-US" sz="1300" dirty="0"/>
          </a:p>
          <a:p>
            <a:pPr indent="0" marL="0">
              <a:buNone/>
            </a:pPr>
            <a:r>
              <a:rPr lang="en-US" sz="1300" dirty="0">
                <a:solidFill>
                  <a:srgbClr val="1F2937"/>
                </a:solidFill>
                <a:latin typeface="Arial" pitchFamily="34" charset="0"/>
                <a:ea typeface="Arial" pitchFamily="34" charset="-122"/>
                <a:cs typeface="Arial" pitchFamily="34" charset="-120"/>
              </a:rPr>
              <a:t>1.287 kalimat</a:t>
            </a:r>
            <a:endParaRPr lang="en-US" sz="1300" dirty="0"/>
          </a:p>
        </p:txBody>
      </p:sp>
      <p:sp>
        <p:nvSpPr>
          <p:cNvPr id="22" name="Shape 19"/>
          <p:cNvSpPr/>
          <p:nvPr/>
        </p:nvSpPr>
        <p:spPr>
          <a:xfrm>
            <a:off x="548640" y="3657600"/>
            <a:ext cx="3474720" cy="1874520"/>
          </a:xfrm>
          <a:prstGeom prst="rect">
            <a:avLst/>
          </a:prstGeom>
          <a:solidFill>
            <a:srgbClr val="F4F5F7"/>
          </a:solidFill>
          <a:ln w="6350">
            <a:solidFill>
              <a:srgbClr val="F4F5F7"/>
            </a:solidFill>
            <a:prstDash val="solid"/>
          </a:ln>
        </p:spPr>
      </p:sp>
      <p:sp>
        <p:nvSpPr>
          <p:cNvPr id="23" name="Text 20"/>
          <p:cNvSpPr txBox="1"/>
          <p:nvPr/>
        </p:nvSpPr>
        <p:spPr>
          <a:xfrm>
            <a:off x="777240" y="3840480"/>
            <a:ext cx="3017520" cy="1508760"/>
          </a:xfrm>
          <a:prstGeom prst="rect">
            <a:avLst/>
          </a:prstGeom>
          <a:noFill/>
          <a:ln/>
        </p:spPr>
        <p:txBody>
          <a:bodyPr wrap="square" lIns="0" tIns="0" rIns="0" bIns="0" rtlCol="0" anchor="t"/>
          <a:lstStyle/>
          <a:p>
            <a:pPr indent="0" marL="0">
              <a:spcAft>
                <a:spcPts val="800"/>
              </a:spcAft>
              <a:buNone/>
            </a:pPr>
            <a:r>
              <a:rPr lang="en-US" sz="1500" b="1" dirty="0">
                <a:solidFill>
                  <a:srgbClr val="12406A"/>
                </a:solidFill>
                <a:latin typeface="Arial" pitchFamily="34" charset="0"/>
                <a:ea typeface="Arial" pitchFamily="34" charset="-122"/>
                <a:cs typeface="Arial" pitchFamily="34" charset="-120"/>
              </a:rPr>
              <a:t>F1 entity (strict)</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Entitas benar bila batas dan tipe sama persis dengan gold. Dihitung dengan seqeval, skema IOB2. Metrik utama.</a:t>
            </a:r>
            <a:endParaRPr lang="en-US" sz="1300" dirty="0"/>
          </a:p>
        </p:txBody>
      </p:sp>
      <p:sp>
        <p:nvSpPr>
          <p:cNvPr id="24" name="Shape 21"/>
          <p:cNvSpPr/>
          <p:nvPr/>
        </p:nvSpPr>
        <p:spPr>
          <a:xfrm>
            <a:off x="4352544" y="3657600"/>
            <a:ext cx="3474720" cy="1874520"/>
          </a:xfrm>
          <a:prstGeom prst="rect">
            <a:avLst/>
          </a:prstGeom>
          <a:solidFill>
            <a:srgbClr val="F4F5F7"/>
          </a:solidFill>
          <a:ln w="6350">
            <a:solidFill>
              <a:srgbClr val="F4F5F7"/>
            </a:solidFill>
            <a:prstDash val="solid"/>
          </a:ln>
        </p:spPr>
      </p:sp>
      <p:sp>
        <p:nvSpPr>
          <p:cNvPr id="25" name="Text 22"/>
          <p:cNvSpPr txBox="1"/>
          <p:nvPr/>
        </p:nvSpPr>
        <p:spPr>
          <a:xfrm>
            <a:off x="4581144" y="3840480"/>
            <a:ext cx="3017520" cy="1508760"/>
          </a:xfrm>
          <a:prstGeom prst="rect">
            <a:avLst/>
          </a:prstGeom>
          <a:noFill/>
          <a:ln/>
        </p:spPr>
        <p:txBody>
          <a:bodyPr wrap="square" lIns="0" tIns="0" rIns="0" bIns="0" rtlCol="0" anchor="t"/>
          <a:lstStyle/>
          <a:p>
            <a:pPr indent="0" marL="0">
              <a:spcAft>
                <a:spcPts val="800"/>
              </a:spcAft>
              <a:buNone/>
            </a:pPr>
            <a:r>
              <a:rPr lang="en-US" sz="1500" b="1" dirty="0">
                <a:solidFill>
                  <a:srgbClr val="12406A"/>
                </a:solidFill>
                <a:latin typeface="Arial" pitchFamily="34" charset="0"/>
                <a:ea typeface="Arial" pitchFamily="34" charset="-122"/>
                <a:cs typeface="Arial" pitchFamily="34" charset="-120"/>
              </a:rPr>
              <a:t>F1 surface</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Pasangan unik surface form (huruf kecil) dan tipe. Metrik kedua shared task.</a:t>
            </a:r>
            <a:endParaRPr lang="en-US" sz="1300" dirty="0"/>
          </a:p>
        </p:txBody>
      </p:sp>
      <p:sp>
        <p:nvSpPr>
          <p:cNvPr id="26" name="Shape 23"/>
          <p:cNvSpPr/>
          <p:nvPr/>
        </p:nvSpPr>
        <p:spPr>
          <a:xfrm>
            <a:off x="8156448" y="3657600"/>
            <a:ext cx="3474720" cy="1874520"/>
          </a:xfrm>
          <a:prstGeom prst="rect">
            <a:avLst/>
          </a:prstGeom>
          <a:solidFill>
            <a:srgbClr val="F4F5F7"/>
          </a:solidFill>
          <a:ln w="6350">
            <a:solidFill>
              <a:srgbClr val="F4F5F7"/>
            </a:solidFill>
            <a:prstDash val="solid"/>
          </a:ln>
        </p:spPr>
      </p:sp>
      <p:sp>
        <p:nvSpPr>
          <p:cNvPr id="27" name="Text 24"/>
          <p:cNvSpPr txBox="1"/>
          <p:nvPr/>
        </p:nvSpPr>
        <p:spPr>
          <a:xfrm>
            <a:off x="8385048" y="3840480"/>
            <a:ext cx="3017520" cy="1508760"/>
          </a:xfrm>
          <a:prstGeom prst="rect">
            <a:avLst/>
          </a:prstGeom>
          <a:noFill/>
          <a:ln/>
        </p:spPr>
        <p:txBody>
          <a:bodyPr wrap="square" lIns="0" tIns="0" rIns="0" bIns="0" rtlCol="0" anchor="t"/>
          <a:lstStyle/>
          <a:p>
            <a:pPr indent="0" marL="0">
              <a:spcAft>
                <a:spcPts val="800"/>
              </a:spcAft>
              <a:buNone/>
            </a:pPr>
            <a:r>
              <a:rPr lang="en-US" sz="1500" b="1" dirty="0">
                <a:solidFill>
                  <a:srgbClr val="12406A"/>
                </a:solidFill>
                <a:latin typeface="Arial" pitchFamily="34" charset="0"/>
                <a:ea typeface="Arial" pitchFamily="34" charset="-122"/>
                <a:cs typeface="Arial" pitchFamily="34" charset="-120"/>
              </a:rPr>
              <a:t>Akurasi token</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Hanya pembanding. Tidak dipakai memilih model, karena token O sudah 92,6%.</a:t>
            </a:r>
            <a:endParaRPr lang="en-US" sz="1300" dirty="0"/>
          </a:p>
        </p:txBody>
      </p:sp>
      <p:sp>
        <p:nvSpPr>
          <p:cNvPr id="28" name="Text 25"/>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200" dirty="0">
                <a:solidFill>
                  <a:srgbClr val="5B6B7C"/>
                </a:solidFill>
                <a:latin typeface="Arial" pitchFamily="34" charset="0"/>
                <a:ea typeface="Arial" pitchFamily="34" charset="-122"/>
                <a:cs typeface="Arial" pitchFamily="34" charset="-120"/>
              </a:rPr>
              <a:t>Seed 42. Bi-LSTM CRF diulang dengan seed 42, 43, 44. Validasi silang 5-fold per dokumen sebagai cek stabilitas.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B8960C"/>
                </a:solidFill>
                <a:latin typeface="Arial" pitchFamily="34" charset="0"/>
                <a:ea typeface="Arial" pitchFamily="34" charset="-122"/>
                <a:cs typeface="Arial" pitchFamily="34" charset="-120"/>
              </a:rPr>
              <a:t>MODEL 1</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12406A"/>
                </a:solidFill>
                <a:latin typeface="Arial" pitchFamily="34" charset="0"/>
                <a:ea typeface="Arial" pitchFamily="34" charset="-122"/>
                <a:cs typeface="Arial" pitchFamily="34" charset="-120"/>
              </a:rPr>
              <a:t>CRF dengan fitur rancangan sendiri</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C"/>
                </a:solidFill>
                <a:latin typeface="Arial" pitchFamily="34" charset="0"/>
                <a:ea typeface="Arial" pitchFamily="34" charset="-122"/>
                <a:cs typeface="Arial" pitchFamily="34" charset="-120"/>
              </a:rPr>
              <a:t>Kelompok 1 · Pemrosesan Bahasa Alami Lanjut · UGM</a:t>
            </a:r>
            <a:endParaRPr lang="en-US" sz="1000" dirty="0"/>
          </a:p>
        </p:txBody>
      </p:sp>
      <p:sp>
        <p:nvSpPr>
          <p:cNvPr id="5" name="Text 3"/>
          <p:cNvSpPr txBox="1"/>
          <p:nvPr/>
        </p:nvSpPr>
        <p:spPr>
          <a:xfrm>
            <a:off x="10728655" y="6446520"/>
            <a:ext cx="914400" cy="228600"/>
          </a:xfrm>
          <a:prstGeom prst="rect">
            <a:avLst/>
          </a:prstGeom>
          <a:noFill/>
          <a:ln/>
        </p:spPr>
        <p:txBody>
          <a:bodyPr wrap="square" lIns="0" tIns="0" rIns="0" bIns="0" rtlCol="0" anchor="ctr"/>
          <a:lstStyle/>
          <a:p>
            <a:pPr algn="r" indent="0" marL="0">
              <a:buNone/>
            </a:pPr>
            <a:r>
              <a:rPr lang="en-US" sz="1000" dirty="0">
                <a:solidFill>
                  <a:srgbClr val="5B6B7C"/>
                </a:solidFill>
                <a:latin typeface="Arial" pitchFamily="34" charset="0"/>
                <a:ea typeface="Arial" pitchFamily="34" charset="-122"/>
                <a:cs typeface="Arial" pitchFamily="34" charset="-120"/>
              </a:rPr>
              <a:t>5</a:t>
            </a:r>
            <a:endParaRPr lang="en-US" sz="1000" dirty="0"/>
          </a:p>
        </p:txBody>
      </p:sp>
      <p:sp>
        <p:nvSpPr>
          <p:cNvPr id="7" name="Shape 4"/>
          <p:cNvSpPr/>
          <p:nvPr/>
        </p:nvSpPr>
        <p:spPr>
          <a:xfrm>
            <a:off x="548640" y="1783080"/>
            <a:ext cx="6858000" cy="4251960"/>
          </a:xfrm>
          <a:prstGeom prst="rect">
            <a:avLst/>
          </a:prstGeom>
          <a:solidFill>
            <a:srgbClr val="F4F5F7"/>
          </a:solidFill>
          <a:ln w="6350">
            <a:solidFill>
              <a:srgbClr val="F4F5F7"/>
            </a:solidFill>
            <a:prstDash val="solid"/>
          </a:ln>
        </p:spPr>
      </p:sp>
      <p:sp>
        <p:nvSpPr>
          <p:cNvPr id="8" name="Text 5"/>
          <p:cNvSpPr txBox="1"/>
          <p:nvPr/>
        </p:nvSpPr>
        <p:spPr>
          <a:xfrm>
            <a:off x="777240" y="1965960"/>
            <a:ext cx="1645920" cy="457200"/>
          </a:xfrm>
          <a:prstGeom prst="rect">
            <a:avLst/>
          </a:prstGeom>
          <a:noFill/>
          <a:ln/>
        </p:spPr>
        <p:txBody>
          <a:bodyPr wrap="square" lIns="0" tIns="0" rIns="0" bIns="0" rtlCol="0" anchor="ctr"/>
          <a:lstStyle/>
          <a:p>
            <a:pPr indent="0" marL="0">
              <a:buNone/>
            </a:pPr>
            <a:r>
              <a:rPr lang="en-US" sz="1400" b="1" dirty="0">
                <a:solidFill>
                  <a:srgbClr val="12406A"/>
                </a:solidFill>
                <a:latin typeface="Arial" pitchFamily="34" charset="0"/>
                <a:ea typeface="Arial" pitchFamily="34" charset="-122"/>
                <a:cs typeface="Arial" pitchFamily="34" charset="-120"/>
              </a:rPr>
              <a:t>Kata</a:t>
            </a:r>
            <a:endParaRPr lang="en-US" sz="1400" dirty="0"/>
          </a:p>
        </p:txBody>
      </p:sp>
      <p:sp>
        <p:nvSpPr>
          <p:cNvPr id="9" name="Text 6"/>
          <p:cNvSpPr txBox="1"/>
          <p:nvPr/>
        </p:nvSpPr>
        <p:spPr>
          <a:xfrm>
            <a:off x="2468880" y="1965960"/>
            <a:ext cx="4754880" cy="457200"/>
          </a:xfrm>
          <a:prstGeom prst="rect">
            <a:avLst/>
          </a:prstGeom>
          <a:noFill/>
          <a:ln/>
        </p:spPr>
        <p:txBody>
          <a:bodyPr wrap="square" lIns="0" tIns="0" rIns="0" bIns="0" rtlCol="0" anchor="ctr"/>
          <a:lstStyle/>
          <a:p>
            <a:pPr indent="0" marL="0">
              <a:buNone/>
            </a:pPr>
            <a:r>
              <a:rPr lang="en-US" sz="1300" dirty="0">
                <a:solidFill>
                  <a:srgbClr val="1F2937"/>
                </a:solidFill>
                <a:latin typeface="Arial" pitchFamily="34" charset="0"/>
                <a:ea typeface="Arial" pitchFamily="34" charset="-122"/>
                <a:cs typeface="Arial" pitchFamily="34" charset="-120"/>
              </a:rPr>
              <a:t>huruf kecil, bentuk ternormalisasi, stopword</a:t>
            </a:r>
            <a:endParaRPr lang="en-US" sz="1300" dirty="0"/>
          </a:p>
        </p:txBody>
      </p:sp>
      <p:sp>
        <p:nvSpPr>
          <p:cNvPr id="10" name="Text 7"/>
          <p:cNvSpPr txBox="1"/>
          <p:nvPr/>
        </p:nvSpPr>
        <p:spPr>
          <a:xfrm>
            <a:off x="777240" y="2514600"/>
            <a:ext cx="1645920" cy="457200"/>
          </a:xfrm>
          <a:prstGeom prst="rect">
            <a:avLst/>
          </a:prstGeom>
          <a:noFill/>
          <a:ln/>
        </p:spPr>
        <p:txBody>
          <a:bodyPr wrap="square" lIns="0" tIns="0" rIns="0" bIns="0" rtlCol="0" anchor="ctr"/>
          <a:lstStyle/>
          <a:p>
            <a:pPr indent="0" marL="0">
              <a:buNone/>
            </a:pPr>
            <a:r>
              <a:rPr lang="en-US" sz="1400" b="1" dirty="0">
                <a:solidFill>
                  <a:srgbClr val="12406A"/>
                </a:solidFill>
                <a:latin typeface="Arial" pitchFamily="34" charset="0"/>
                <a:ea typeface="Arial" pitchFamily="34" charset="-122"/>
                <a:cs typeface="Arial" pitchFamily="34" charset="-120"/>
              </a:rPr>
              <a:t>Bentuk</a:t>
            </a:r>
            <a:endParaRPr lang="en-US" sz="1400" dirty="0"/>
          </a:p>
        </p:txBody>
      </p:sp>
      <p:sp>
        <p:nvSpPr>
          <p:cNvPr id="11" name="Text 8"/>
          <p:cNvSpPr txBox="1"/>
          <p:nvPr/>
        </p:nvSpPr>
        <p:spPr>
          <a:xfrm>
            <a:off x="2468880" y="2514600"/>
            <a:ext cx="4754880" cy="457200"/>
          </a:xfrm>
          <a:prstGeom prst="rect">
            <a:avLst/>
          </a:prstGeom>
          <a:noFill/>
          <a:ln/>
        </p:spPr>
        <p:txBody>
          <a:bodyPr wrap="square" lIns="0" tIns="0" rIns="0" bIns="0" rtlCol="0" anchor="ctr"/>
          <a:lstStyle/>
          <a:p>
            <a:pPr indent="0" marL="0">
              <a:buNone/>
            </a:pPr>
            <a:r>
              <a:rPr lang="en-US" sz="1300" dirty="0">
                <a:solidFill>
                  <a:srgbClr val="1F2937"/>
                </a:solidFill>
                <a:latin typeface="Arial" pitchFamily="34" charset="0"/>
                <a:ea typeface="Arial" pitchFamily="34" charset="-122"/>
                <a:cs typeface="Arial" pitchFamily="34" charset="-120"/>
              </a:rPr>
              <a:t>pola Xxxx, title, upper, digit, tanda hubung</a:t>
            </a:r>
            <a:endParaRPr lang="en-US" sz="1300" dirty="0"/>
          </a:p>
        </p:txBody>
      </p:sp>
      <p:sp>
        <p:nvSpPr>
          <p:cNvPr id="12" name="Text 9"/>
          <p:cNvSpPr txBox="1"/>
          <p:nvPr/>
        </p:nvSpPr>
        <p:spPr>
          <a:xfrm>
            <a:off x="777240" y="3063240"/>
            <a:ext cx="1645920" cy="457200"/>
          </a:xfrm>
          <a:prstGeom prst="rect">
            <a:avLst/>
          </a:prstGeom>
          <a:noFill/>
          <a:ln/>
        </p:spPr>
        <p:txBody>
          <a:bodyPr wrap="square" lIns="0" tIns="0" rIns="0" bIns="0" rtlCol="0" anchor="ctr"/>
          <a:lstStyle/>
          <a:p>
            <a:pPr indent="0" marL="0">
              <a:buNone/>
            </a:pPr>
            <a:r>
              <a:rPr lang="en-US" sz="1400" b="1" dirty="0">
                <a:solidFill>
                  <a:srgbClr val="12406A"/>
                </a:solidFill>
                <a:latin typeface="Arial" pitchFamily="34" charset="0"/>
                <a:ea typeface="Arial" pitchFamily="34" charset="-122"/>
                <a:cs typeface="Arial" pitchFamily="34" charset="-120"/>
              </a:rPr>
              <a:t>Afiks</a:t>
            </a:r>
            <a:endParaRPr lang="en-US" sz="1400" dirty="0"/>
          </a:p>
        </p:txBody>
      </p:sp>
      <p:sp>
        <p:nvSpPr>
          <p:cNvPr id="13" name="Text 10"/>
          <p:cNvSpPr txBox="1"/>
          <p:nvPr/>
        </p:nvSpPr>
        <p:spPr>
          <a:xfrm>
            <a:off x="2468880" y="3063240"/>
            <a:ext cx="4754880" cy="457200"/>
          </a:xfrm>
          <a:prstGeom prst="rect">
            <a:avLst/>
          </a:prstGeom>
          <a:noFill/>
          <a:ln/>
        </p:spPr>
        <p:txBody>
          <a:bodyPr wrap="square" lIns="0" tIns="0" rIns="0" bIns="0" rtlCol="0" anchor="ctr"/>
          <a:lstStyle/>
          <a:p>
            <a:pPr indent="0" marL="0">
              <a:buNone/>
            </a:pPr>
            <a:r>
              <a:rPr lang="en-US" sz="1300" dirty="0">
                <a:solidFill>
                  <a:srgbClr val="1F2937"/>
                </a:solidFill>
                <a:latin typeface="Arial" pitchFamily="34" charset="0"/>
                <a:ea typeface="Arial" pitchFamily="34" charset="-122"/>
                <a:cs typeface="Arial" pitchFamily="34" charset="-120"/>
              </a:rPr>
              <a:t>prefix dan suffix 1 sampai 4, panjang kata</a:t>
            </a:r>
            <a:endParaRPr lang="en-US" sz="1300" dirty="0"/>
          </a:p>
        </p:txBody>
      </p:sp>
      <p:sp>
        <p:nvSpPr>
          <p:cNvPr id="14" name="Text 11"/>
          <p:cNvSpPr txBox="1"/>
          <p:nvPr/>
        </p:nvSpPr>
        <p:spPr>
          <a:xfrm>
            <a:off x="777240" y="3611880"/>
            <a:ext cx="1645920" cy="457200"/>
          </a:xfrm>
          <a:prstGeom prst="rect">
            <a:avLst/>
          </a:prstGeom>
          <a:noFill/>
          <a:ln/>
        </p:spPr>
        <p:txBody>
          <a:bodyPr wrap="square" lIns="0" tIns="0" rIns="0" bIns="0" rtlCol="0" anchor="ctr"/>
          <a:lstStyle/>
          <a:p>
            <a:pPr indent="0" marL="0">
              <a:buNone/>
            </a:pPr>
            <a:r>
              <a:rPr lang="en-US" sz="1400" b="1" dirty="0">
                <a:solidFill>
                  <a:srgbClr val="12406A"/>
                </a:solidFill>
                <a:latin typeface="Arial" pitchFamily="34" charset="0"/>
                <a:ea typeface="Arial" pitchFamily="34" charset="-122"/>
                <a:cs typeface="Arial" pitchFamily="34" charset="-120"/>
              </a:rPr>
              <a:t>Media sosial</a:t>
            </a:r>
            <a:endParaRPr lang="en-US" sz="1400" dirty="0"/>
          </a:p>
        </p:txBody>
      </p:sp>
      <p:sp>
        <p:nvSpPr>
          <p:cNvPr id="15" name="Text 12"/>
          <p:cNvSpPr txBox="1"/>
          <p:nvPr/>
        </p:nvSpPr>
        <p:spPr>
          <a:xfrm>
            <a:off x="2468880" y="3611880"/>
            <a:ext cx="4754880" cy="457200"/>
          </a:xfrm>
          <a:prstGeom prst="rect">
            <a:avLst/>
          </a:prstGeom>
          <a:noFill/>
          <a:ln/>
        </p:spPr>
        <p:txBody>
          <a:bodyPr wrap="square" lIns="0" tIns="0" rIns="0" bIns="0" rtlCol="0" anchor="ctr"/>
          <a:lstStyle/>
          <a:p>
            <a:pPr indent="0" marL="0">
              <a:buNone/>
            </a:pPr>
            <a:r>
              <a:rPr lang="en-US" sz="1300" dirty="0">
                <a:solidFill>
                  <a:srgbClr val="1F2937"/>
                </a:solidFill>
                <a:latin typeface="Arial" pitchFamily="34" charset="0"/>
                <a:ea typeface="Arial" pitchFamily="34" charset="-122"/>
                <a:cs typeface="Arial" pitchFamily="34" charset="-120"/>
              </a:rPr>
              <a:t>URL, @mention, #hashtag, emoji</a:t>
            </a:r>
            <a:endParaRPr lang="en-US" sz="1300" dirty="0"/>
          </a:p>
        </p:txBody>
      </p:sp>
      <p:sp>
        <p:nvSpPr>
          <p:cNvPr id="16" name="Text 13"/>
          <p:cNvSpPr txBox="1"/>
          <p:nvPr/>
        </p:nvSpPr>
        <p:spPr>
          <a:xfrm>
            <a:off x="777240" y="4160520"/>
            <a:ext cx="1645920" cy="457200"/>
          </a:xfrm>
          <a:prstGeom prst="rect">
            <a:avLst/>
          </a:prstGeom>
          <a:noFill/>
          <a:ln/>
        </p:spPr>
        <p:txBody>
          <a:bodyPr wrap="square" lIns="0" tIns="0" rIns="0" bIns="0" rtlCol="0" anchor="ctr"/>
          <a:lstStyle/>
          <a:p>
            <a:pPr indent="0" marL="0">
              <a:buNone/>
            </a:pPr>
            <a:r>
              <a:rPr lang="en-US" sz="1400" b="1" dirty="0">
                <a:solidFill>
                  <a:srgbClr val="12406A"/>
                </a:solidFill>
                <a:latin typeface="Arial" pitchFamily="34" charset="0"/>
                <a:ea typeface="Arial" pitchFamily="34" charset="-122"/>
                <a:cs typeface="Arial" pitchFamily="34" charset="-120"/>
              </a:rPr>
              <a:t>Konteks</a:t>
            </a:r>
            <a:endParaRPr lang="en-US" sz="1400" dirty="0"/>
          </a:p>
        </p:txBody>
      </p:sp>
      <p:sp>
        <p:nvSpPr>
          <p:cNvPr id="17" name="Text 14"/>
          <p:cNvSpPr txBox="1"/>
          <p:nvPr/>
        </p:nvSpPr>
        <p:spPr>
          <a:xfrm>
            <a:off x="2468880" y="4160520"/>
            <a:ext cx="4754880" cy="457200"/>
          </a:xfrm>
          <a:prstGeom prst="rect">
            <a:avLst/>
          </a:prstGeom>
          <a:noFill/>
          <a:ln/>
        </p:spPr>
        <p:txBody>
          <a:bodyPr wrap="square" lIns="0" tIns="0" rIns="0" bIns="0" rtlCol="0" anchor="ctr"/>
          <a:lstStyle/>
          <a:p>
            <a:pPr indent="0" marL="0">
              <a:buNone/>
            </a:pPr>
            <a:r>
              <a:rPr lang="en-US" sz="1300" dirty="0">
                <a:solidFill>
                  <a:srgbClr val="1F2937"/>
                </a:solidFill>
                <a:latin typeface="Arial" pitchFamily="34" charset="0"/>
                <a:ea typeface="Arial" pitchFamily="34" charset="-122"/>
                <a:cs typeface="Arial" pitchFamily="34" charset="-120"/>
              </a:rPr>
              <a:t>kata -2 sampai +2, bigram, penanda awal dan akhir kalimat</a:t>
            </a:r>
            <a:endParaRPr lang="en-US" sz="1300" dirty="0"/>
          </a:p>
        </p:txBody>
      </p:sp>
      <p:sp>
        <p:nvSpPr>
          <p:cNvPr id="18" name="Text 15"/>
          <p:cNvSpPr txBox="1"/>
          <p:nvPr/>
        </p:nvSpPr>
        <p:spPr>
          <a:xfrm>
            <a:off x="777240" y="4709160"/>
            <a:ext cx="1645920" cy="457200"/>
          </a:xfrm>
          <a:prstGeom prst="rect">
            <a:avLst/>
          </a:prstGeom>
          <a:noFill/>
          <a:ln/>
        </p:spPr>
        <p:txBody>
          <a:bodyPr wrap="square" lIns="0" tIns="0" rIns="0" bIns="0" rtlCol="0" anchor="ctr"/>
          <a:lstStyle/>
          <a:p>
            <a:pPr indent="0" marL="0">
              <a:buNone/>
            </a:pPr>
            <a:r>
              <a:rPr lang="en-US" sz="1400" b="1" dirty="0">
                <a:solidFill>
                  <a:srgbClr val="12406A"/>
                </a:solidFill>
                <a:latin typeface="Arial" pitchFamily="34" charset="0"/>
                <a:ea typeface="Arial" pitchFamily="34" charset="-122"/>
                <a:cs typeface="Arial" pitchFamily="34" charset="-120"/>
              </a:rPr>
              <a:t>POS tag</a:t>
            </a:r>
            <a:endParaRPr lang="en-US" sz="1400" dirty="0"/>
          </a:p>
        </p:txBody>
      </p:sp>
      <p:sp>
        <p:nvSpPr>
          <p:cNvPr id="19" name="Text 16"/>
          <p:cNvSpPr txBox="1"/>
          <p:nvPr/>
        </p:nvSpPr>
        <p:spPr>
          <a:xfrm>
            <a:off x="2468880" y="4709160"/>
            <a:ext cx="4754880" cy="457200"/>
          </a:xfrm>
          <a:prstGeom prst="rect">
            <a:avLst/>
          </a:prstGeom>
          <a:noFill/>
          <a:ln/>
        </p:spPr>
        <p:txBody>
          <a:bodyPr wrap="square" lIns="0" tIns="0" rIns="0" bIns="0" rtlCol="0" anchor="ctr"/>
          <a:lstStyle/>
          <a:p>
            <a:pPr indent="0" marL="0">
              <a:buNone/>
            </a:pPr>
            <a:r>
              <a:rPr lang="en-US" sz="1300" dirty="0">
                <a:solidFill>
                  <a:srgbClr val="1F2937"/>
                </a:solidFill>
                <a:latin typeface="Arial" pitchFamily="34" charset="0"/>
                <a:ea typeface="Arial" pitchFamily="34" charset="-122"/>
                <a:cs typeface="Arial" pitchFamily="34" charset="-120"/>
              </a:rPr>
              <a:t>NLTK perceptron, kata dan tetangga ±1</a:t>
            </a:r>
            <a:endParaRPr lang="en-US" sz="1300" dirty="0"/>
          </a:p>
        </p:txBody>
      </p:sp>
      <p:sp>
        <p:nvSpPr>
          <p:cNvPr id="20" name="Text 17"/>
          <p:cNvSpPr txBox="1"/>
          <p:nvPr/>
        </p:nvSpPr>
        <p:spPr>
          <a:xfrm>
            <a:off x="777240" y="5257800"/>
            <a:ext cx="1645920" cy="457200"/>
          </a:xfrm>
          <a:prstGeom prst="rect">
            <a:avLst/>
          </a:prstGeom>
          <a:noFill/>
          <a:ln/>
        </p:spPr>
        <p:txBody>
          <a:bodyPr wrap="square" lIns="0" tIns="0" rIns="0" bIns="0" rtlCol="0" anchor="ctr"/>
          <a:lstStyle/>
          <a:p>
            <a:pPr indent="0" marL="0">
              <a:buNone/>
            </a:pPr>
            <a:r>
              <a:rPr lang="en-US" sz="1400" b="1" dirty="0">
                <a:solidFill>
                  <a:srgbClr val="12406A"/>
                </a:solidFill>
                <a:latin typeface="Arial" pitchFamily="34" charset="0"/>
                <a:ea typeface="Arial" pitchFamily="34" charset="-122"/>
                <a:cs typeface="Arial" pitchFamily="34" charset="-120"/>
              </a:rPr>
              <a:t>Cluster</a:t>
            </a:r>
            <a:endParaRPr lang="en-US" sz="1400" dirty="0"/>
          </a:p>
        </p:txBody>
      </p:sp>
      <p:sp>
        <p:nvSpPr>
          <p:cNvPr id="21" name="Text 18"/>
          <p:cNvSpPr txBox="1"/>
          <p:nvPr/>
        </p:nvSpPr>
        <p:spPr>
          <a:xfrm>
            <a:off x="2468880" y="5257800"/>
            <a:ext cx="4754880" cy="457200"/>
          </a:xfrm>
          <a:prstGeom prst="rect">
            <a:avLst/>
          </a:prstGeom>
          <a:noFill/>
          <a:ln/>
        </p:spPr>
        <p:txBody>
          <a:bodyPr wrap="square" lIns="0" tIns="0" rIns="0" bIns="0" rtlCol="0" anchor="ctr"/>
          <a:lstStyle/>
          <a:p>
            <a:pPr indent="0" marL="0">
              <a:buNone/>
            </a:pPr>
            <a:r>
              <a:rPr lang="en-US" sz="1300" dirty="0">
                <a:solidFill>
                  <a:srgbClr val="1F2937"/>
                </a:solidFill>
                <a:latin typeface="Arial" pitchFamily="34" charset="0"/>
                <a:ea typeface="Arial" pitchFamily="34" charset="-122"/>
                <a:cs typeface="Arial" pitchFamily="34" charset="-120"/>
              </a:rPr>
              <a:t>K-Means (k = 500) atas GloVe Twitter</a:t>
            </a:r>
            <a:endParaRPr lang="en-US" sz="1300" dirty="0"/>
          </a:p>
        </p:txBody>
      </p:sp>
      <p:sp>
        <p:nvSpPr>
          <p:cNvPr id="22" name="Shape 19"/>
          <p:cNvSpPr/>
          <p:nvPr/>
        </p:nvSpPr>
        <p:spPr>
          <a:xfrm>
            <a:off x="7680960" y="1783080"/>
            <a:ext cx="3959352" cy="2240280"/>
          </a:xfrm>
          <a:prstGeom prst="rect">
            <a:avLst/>
          </a:prstGeom>
          <a:solidFill>
            <a:srgbClr val="F4F5F7"/>
          </a:solidFill>
          <a:ln w="6350">
            <a:solidFill>
              <a:srgbClr val="F4F5F7"/>
            </a:solidFill>
            <a:prstDash val="solid"/>
          </a:ln>
        </p:spPr>
      </p:sp>
      <p:sp>
        <p:nvSpPr>
          <p:cNvPr id="23" name="Text 20"/>
          <p:cNvSpPr txBox="1"/>
          <p:nvPr/>
        </p:nvSpPr>
        <p:spPr>
          <a:xfrm>
            <a:off x="7909560" y="1965960"/>
            <a:ext cx="3502152" cy="1874520"/>
          </a:xfrm>
          <a:prstGeom prst="rect">
            <a:avLst/>
          </a:prstGeom>
          <a:noFill/>
          <a:ln/>
        </p:spPr>
        <p:txBody>
          <a:bodyPr wrap="square" lIns="0" tIns="0" rIns="0" bIns="0" rtlCol="0" anchor="t"/>
          <a:lstStyle/>
          <a:p>
            <a:pPr indent="0" marL="0">
              <a:spcAft>
                <a:spcPts val="800"/>
              </a:spcAft>
              <a:buNone/>
            </a:pPr>
            <a:r>
              <a:rPr lang="en-US" sz="1500" b="1" dirty="0">
                <a:solidFill>
                  <a:srgbClr val="12406A"/>
                </a:solidFill>
                <a:latin typeface="Arial" pitchFamily="34" charset="0"/>
                <a:ea typeface="Arial" pitchFamily="34" charset="-122"/>
                <a:cs typeface="Arial" pitchFamily="34" charset="-120"/>
              </a:rPr>
              <a:t>Konfigurasi</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sklearn-crfsuite, L-BFGS, 300 iterasi</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c1 = 0,3 · c2 = 0,003</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Dicari di dev: 3 nilai c1 x 3 nilai c2 x 2 set fitur (dengan dan tanpa cluster)</a:t>
            </a:r>
            <a:endParaRPr lang="en-US" sz="1300" dirty="0"/>
          </a:p>
        </p:txBody>
      </p:sp>
      <p:sp>
        <p:nvSpPr>
          <p:cNvPr id="24" name="Shape 21"/>
          <p:cNvSpPr/>
          <p:nvPr/>
        </p:nvSpPr>
        <p:spPr>
          <a:xfrm>
            <a:off x="7680960" y="4251960"/>
            <a:ext cx="3959352" cy="1783080"/>
          </a:xfrm>
          <a:prstGeom prst="rect">
            <a:avLst/>
          </a:prstGeom>
          <a:solidFill>
            <a:srgbClr val="E6EEF6"/>
          </a:solidFill>
          <a:ln w="6350">
            <a:solidFill>
              <a:srgbClr val="E6EEF6"/>
            </a:solidFill>
            <a:prstDash val="solid"/>
          </a:ln>
        </p:spPr>
      </p:sp>
      <p:sp>
        <p:nvSpPr>
          <p:cNvPr id="25" name="Text 22"/>
          <p:cNvSpPr txBox="1"/>
          <p:nvPr/>
        </p:nvSpPr>
        <p:spPr>
          <a:xfrm>
            <a:off x="7863840" y="4343400"/>
            <a:ext cx="1737360" cy="822960"/>
          </a:xfrm>
          <a:prstGeom prst="rect">
            <a:avLst/>
          </a:prstGeom>
          <a:noFill/>
          <a:ln/>
        </p:spPr>
        <p:txBody>
          <a:bodyPr wrap="square" lIns="0" tIns="0" rIns="0" bIns="0" rtlCol="0" anchor="ctr"/>
          <a:lstStyle/>
          <a:p>
            <a:pPr indent="0" marL="0">
              <a:buNone/>
            </a:pPr>
            <a:r>
              <a:rPr lang="en-US" sz="4000" b="1" dirty="0">
                <a:solidFill>
                  <a:srgbClr val="12406A"/>
                </a:solidFill>
                <a:latin typeface="Arial" pitchFamily="34" charset="0"/>
                <a:ea typeface="Arial" pitchFamily="34" charset="-122"/>
                <a:cs typeface="Arial" pitchFamily="34" charset="-120"/>
              </a:rPr>
              <a:t>25,3</a:t>
            </a:r>
            <a:endParaRPr lang="en-US" sz="4000" dirty="0"/>
          </a:p>
        </p:txBody>
      </p:sp>
      <p:sp>
        <p:nvSpPr>
          <p:cNvPr id="26" name="Text 23"/>
          <p:cNvSpPr txBox="1"/>
          <p:nvPr/>
        </p:nvSpPr>
        <p:spPr>
          <a:xfrm>
            <a:off x="7863840" y="5166360"/>
            <a:ext cx="1737360" cy="274320"/>
          </a:xfrm>
          <a:prstGeom prst="rect">
            <a:avLst/>
          </a:prstGeom>
          <a:noFill/>
          <a:ln/>
        </p:spPr>
        <p:txBody>
          <a:bodyPr wrap="square" lIns="0" tIns="0" rIns="0" bIns="0" rtlCol="0" anchor="ctr"/>
          <a:lstStyle/>
          <a:p>
            <a:pPr indent="0" marL="0">
              <a:buNone/>
            </a:pPr>
            <a:r>
              <a:rPr lang="en-US" sz="1200" dirty="0">
                <a:solidFill>
                  <a:srgbClr val="5B6B7C"/>
                </a:solidFill>
                <a:latin typeface="Arial" pitchFamily="34" charset="0"/>
                <a:ea typeface="Arial" pitchFamily="34" charset="-122"/>
                <a:cs typeface="Arial" pitchFamily="34" charset="-120"/>
              </a:rPr>
              <a:t>F1 dev</a:t>
            </a:r>
            <a:endParaRPr lang="en-US" sz="1200" dirty="0"/>
          </a:p>
        </p:txBody>
      </p:sp>
      <p:sp>
        <p:nvSpPr>
          <p:cNvPr id="27" name="Text 24"/>
          <p:cNvSpPr txBox="1"/>
          <p:nvPr/>
        </p:nvSpPr>
        <p:spPr>
          <a:xfrm>
            <a:off x="9692640" y="4343400"/>
            <a:ext cx="1737360" cy="822960"/>
          </a:xfrm>
          <a:prstGeom prst="rect">
            <a:avLst/>
          </a:prstGeom>
          <a:noFill/>
          <a:ln/>
        </p:spPr>
        <p:txBody>
          <a:bodyPr wrap="square" lIns="0" tIns="0" rIns="0" bIns="0" rtlCol="0" anchor="ctr"/>
          <a:lstStyle/>
          <a:p>
            <a:pPr indent="0" marL="0">
              <a:buNone/>
            </a:pPr>
            <a:r>
              <a:rPr lang="en-US" sz="4000" b="1" dirty="0">
                <a:solidFill>
                  <a:srgbClr val="12406A"/>
                </a:solidFill>
                <a:latin typeface="Arial" pitchFamily="34" charset="0"/>
                <a:ea typeface="Arial" pitchFamily="34" charset="-122"/>
                <a:cs typeface="Arial" pitchFamily="34" charset="-120"/>
              </a:rPr>
              <a:t>27,8</a:t>
            </a:r>
            <a:endParaRPr lang="en-US" sz="4000" dirty="0"/>
          </a:p>
        </p:txBody>
      </p:sp>
      <p:sp>
        <p:nvSpPr>
          <p:cNvPr id="28" name="Text 25"/>
          <p:cNvSpPr txBox="1"/>
          <p:nvPr/>
        </p:nvSpPr>
        <p:spPr>
          <a:xfrm>
            <a:off x="9692640" y="5166360"/>
            <a:ext cx="1828800" cy="274320"/>
          </a:xfrm>
          <a:prstGeom prst="rect">
            <a:avLst/>
          </a:prstGeom>
          <a:noFill/>
          <a:ln/>
        </p:spPr>
        <p:txBody>
          <a:bodyPr wrap="square" lIns="0" tIns="0" rIns="0" bIns="0" rtlCol="0" anchor="ctr"/>
          <a:lstStyle/>
          <a:p>
            <a:pPr indent="0" marL="0">
              <a:buNone/>
            </a:pPr>
            <a:r>
              <a:rPr lang="en-US" sz="1200" dirty="0">
                <a:solidFill>
                  <a:srgbClr val="5B6B7C"/>
                </a:solidFill>
                <a:latin typeface="Arial" pitchFamily="34" charset="0"/>
                <a:ea typeface="Arial" pitchFamily="34" charset="-122"/>
                <a:cs typeface="Arial" pitchFamily="34" charset="-120"/>
              </a:rPr>
              <a:t>F1 test (train + dev)</a:t>
            </a:r>
            <a:endParaRPr lang="en-US" sz="1200" dirty="0"/>
          </a:p>
        </p:txBody>
      </p:sp>
      <p:sp>
        <p:nvSpPr>
          <p:cNvPr id="29" name="Text 26"/>
          <p:cNvSpPr txBox="1"/>
          <p:nvPr/>
        </p:nvSpPr>
        <p:spPr>
          <a:xfrm>
            <a:off x="7863840" y="5577840"/>
            <a:ext cx="3657600" cy="274320"/>
          </a:xfrm>
          <a:prstGeom prst="rect">
            <a:avLst/>
          </a:prstGeom>
          <a:noFill/>
          <a:ln/>
        </p:spPr>
        <p:txBody>
          <a:bodyPr wrap="square" lIns="0" tIns="0" rIns="0" bIns="0" rtlCol="0" anchor="ctr"/>
          <a:lstStyle/>
          <a:p>
            <a:pPr indent="0" marL="0">
              <a:buNone/>
            </a:pPr>
            <a:r>
              <a:rPr lang="en-US" sz="1100" dirty="0">
                <a:solidFill>
                  <a:srgbClr val="5B6B7C"/>
                </a:solidFill>
                <a:latin typeface="Arial" pitchFamily="34" charset="0"/>
                <a:ea typeface="Arial" pitchFamily="34" charset="-122"/>
                <a:cs typeface="Arial" pitchFamily="34" charset="-120"/>
              </a:rPr>
              <a:t>Grid awal (100 iterasi): F1 dev 23,5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B8960C"/>
                </a:solidFill>
                <a:latin typeface="Arial" pitchFamily="34" charset="0"/>
                <a:ea typeface="Arial" pitchFamily="34" charset="-122"/>
                <a:cs typeface="Arial" pitchFamily="34" charset="-120"/>
              </a:rPr>
              <a:t>MODEL 2</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12406A"/>
                </a:solidFill>
                <a:latin typeface="Arial" pitchFamily="34" charset="0"/>
                <a:ea typeface="Arial" pitchFamily="34" charset="-122"/>
                <a:cs typeface="Arial" pitchFamily="34" charset="-120"/>
              </a:rPr>
              <a:t>SVM yang menilai token satu per satu</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C"/>
                </a:solidFill>
                <a:latin typeface="Arial" pitchFamily="34" charset="0"/>
                <a:ea typeface="Arial" pitchFamily="34" charset="-122"/>
                <a:cs typeface="Arial" pitchFamily="34" charset="-120"/>
              </a:rPr>
              <a:t>Kelompok 1 · Pemrosesan Bahasa Alami Lanjut · UGM</a:t>
            </a:r>
            <a:endParaRPr lang="en-US" sz="1000" dirty="0"/>
          </a:p>
        </p:txBody>
      </p:sp>
      <p:sp>
        <p:nvSpPr>
          <p:cNvPr id="5" name="Text 3"/>
          <p:cNvSpPr txBox="1"/>
          <p:nvPr/>
        </p:nvSpPr>
        <p:spPr>
          <a:xfrm>
            <a:off x="10728655" y="6446520"/>
            <a:ext cx="914400" cy="228600"/>
          </a:xfrm>
          <a:prstGeom prst="rect">
            <a:avLst/>
          </a:prstGeom>
          <a:noFill/>
          <a:ln/>
        </p:spPr>
        <p:txBody>
          <a:bodyPr wrap="square" lIns="0" tIns="0" rIns="0" bIns="0" rtlCol="0" anchor="ctr"/>
          <a:lstStyle/>
          <a:p>
            <a:pPr algn="r" indent="0" marL="0">
              <a:buNone/>
            </a:pPr>
            <a:r>
              <a:rPr lang="en-US" sz="1000" dirty="0">
                <a:solidFill>
                  <a:srgbClr val="5B6B7C"/>
                </a:solidFill>
                <a:latin typeface="Arial" pitchFamily="34" charset="0"/>
                <a:ea typeface="Arial" pitchFamily="34" charset="-122"/>
                <a:cs typeface="Arial" pitchFamily="34" charset="-120"/>
              </a:rPr>
              <a:t>6</a:t>
            </a:r>
            <a:endParaRPr lang="en-US" sz="1000" dirty="0"/>
          </a:p>
        </p:txBody>
      </p:sp>
      <p:sp>
        <p:nvSpPr>
          <p:cNvPr id="7" name="Shape 4"/>
          <p:cNvSpPr/>
          <p:nvPr/>
        </p:nvSpPr>
        <p:spPr>
          <a:xfrm>
            <a:off x="548640" y="1783080"/>
            <a:ext cx="6675120" cy="1280160"/>
          </a:xfrm>
          <a:prstGeom prst="rect">
            <a:avLst/>
          </a:prstGeom>
          <a:solidFill>
            <a:srgbClr val="F4F5F7"/>
          </a:solidFill>
          <a:ln w="6350">
            <a:solidFill>
              <a:srgbClr val="F4F5F7"/>
            </a:solidFill>
            <a:prstDash val="solid"/>
          </a:ln>
        </p:spPr>
      </p:sp>
      <p:sp>
        <p:nvSpPr>
          <p:cNvPr id="8" name="Shape 5"/>
          <p:cNvSpPr/>
          <p:nvPr/>
        </p:nvSpPr>
        <p:spPr>
          <a:xfrm>
            <a:off x="777240" y="2103120"/>
            <a:ext cx="640080" cy="640080"/>
          </a:xfrm>
          <a:prstGeom prst="ellipse">
            <a:avLst/>
          </a:prstGeom>
          <a:solidFill>
            <a:srgbClr val="12406A"/>
          </a:solidFill>
          <a:ln w="12700">
            <a:solidFill>
              <a:srgbClr val="12406A"/>
            </a:solidFill>
            <a:prstDash val="solid"/>
          </a:ln>
        </p:spPr>
      </p:sp>
      <p:sp>
        <p:nvSpPr>
          <p:cNvPr id="9" name="Text 6"/>
          <p:cNvSpPr txBox="1"/>
          <p:nvPr/>
        </p:nvSpPr>
        <p:spPr>
          <a:xfrm>
            <a:off x="777240" y="21031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0" name="Text 7"/>
          <p:cNvSpPr txBox="1"/>
          <p:nvPr/>
        </p:nvSpPr>
        <p:spPr>
          <a:xfrm>
            <a:off x="1645920" y="1920240"/>
            <a:ext cx="5394960" cy="320040"/>
          </a:xfrm>
          <a:prstGeom prst="rect">
            <a:avLst/>
          </a:prstGeom>
          <a:noFill/>
          <a:ln/>
        </p:spPr>
        <p:txBody>
          <a:bodyPr wrap="square" lIns="0" tIns="0" rIns="0" bIns="0" rtlCol="0" anchor="ctr"/>
          <a:lstStyle/>
          <a:p>
            <a:pPr indent="0" marL="0">
              <a:buNone/>
            </a:pPr>
            <a:r>
              <a:rPr lang="en-US" sz="1600" b="1" dirty="0">
                <a:solidFill>
                  <a:srgbClr val="12406A"/>
                </a:solidFill>
                <a:latin typeface="Arial" pitchFamily="34" charset="0"/>
                <a:ea typeface="Arial" pitchFamily="34" charset="-122"/>
                <a:cs typeface="Arial" pitchFamily="34" charset="-120"/>
              </a:rPr>
              <a:t>Fitur jarang</a:t>
            </a:r>
            <a:endParaRPr lang="en-US" sz="1600" dirty="0"/>
          </a:p>
        </p:txBody>
      </p:sp>
      <p:sp>
        <p:nvSpPr>
          <p:cNvPr id="11" name="Text 8"/>
          <p:cNvSpPr txBox="1"/>
          <p:nvPr/>
        </p:nvSpPr>
        <p:spPr>
          <a:xfrm>
            <a:off x="1645920" y="2286000"/>
            <a:ext cx="5394960" cy="731520"/>
          </a:xfrm>
          <a:prstGeom prst="rect">
            <a:avLst/>
          </a:prstGeom>
          <a:noFill/>
          <a:ln/>
        </p:spPr>
        <p:txBody>
          <a:bodyPr wrap="square" lIns="0" tIns="0" rIns="0" bIns="0" rtlCol="0" anchor="t"/>
          <a:lstStyle/>
          <a:p>
            <a:pPr indent="0" marL="0">
              <a:buNone/>
            </a:pPr>
            <a:r>
              <a:rPr lang="en-US" sz="1300" dirty="0">
                <a:solidFill>
                  <a:srgbClr val="1F2937"/>
                </a:solidFill>
                <a:latin typeface="Arial" pitchFamily="34" charset="0"/>
                <a:ea typeface="Arial" pitchFamily="34" charset="-122"/>
                <a:cs typeface="Arial" pitchFamily="34" charset="-120"/>
              </a:rPr>
              <a:t>Fitur yang sama dengan CRF lewat DictVectorizer, dipangkas ke fitur yang muncul minimal 3 kali: 28.436 fitur.</a:t>
            </a:r>
            <a:endParaRPr lang="en-US" sz="1300" dirty="0"/>
          </a:p>
        </p:txBody>
      </p:sp>
      <p:sp>
        <p:nvSpPr>
          <p:cNvPr id="12" name="Shape 9"/>
          <p:cNvSpPr/>
          <p:nvPr/>
        </p:nvSpPr>
        <p:spPr>
          <a:xfrm>
            <a:off x="548640" y="3246120"/>
            <a:ext cx="6675120" cy="1280160"/>
          </a:xfrm>
          <a:prstGeom prst="rect">
            <a:avLst/>
          </a:prstGeom>
          <a:solidFill>
            <a:srgbClr val="F4F5F7"/>
          </a:solidFill>
          <a:ln w="6350">
            <a:solidFill>
              <a:srgbClr val="F4F5F7"/>
            </a:solidFill>
            <a:prstDash val="solid"/>
          </a:ln>
        </p:spPr>
      </p:sp>
      <p:sp>
        <p:nvSpPr>
          <p:cNvPr id="13" name="Shape 10"/>
          <p:cNvSpPr/>
          <p:nvPr/>
        </p:nvSpPr>
        <p:spPr>
          <a:xfrm>
            <a:off x="777240" y="3566160"/>
            <a:ext cx="640080" cy="640080"/>
          </a:xfrm>
          <a:prstGeom prst="ellipse">
            <a:avLst/>
          </a:prstGeom>
          <a:solidFill>
            <a:srgbClr val="12406A"/>
          </a:solidFill>
          <a:ln w="12700">
            <a:solidFill>
              <a:srgbClr val="12406A"/>
            </a:solidFill>
            <a:prstDash val="solid"/>
          </a:ln>
        </p:spPr>
      </p:sp>
      <p:sp>
        <p:nvSpPr>
          <p:cNvPr id="14" name="Text 11"/>
          <p:cNvSpPr txBox="1"/>
          <p:nvPr/>
        </p:nvSpPr>
        <p:spPr>
          <a:xfrm>
            <a:off x="777240" y="356616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5" name="Text 12"/>
          <p:cNvSpPr txBox="1"/>
          <p:nvPr/>
        </p:nvSpPr>
        <p:spPr>
          <a:xfrm>
            <a:off x="1645920" y="3383280"/>
            <a:ext cx="5394960" cy="320040"/>
          </a:xfrm>
          <a:prstGeom prst="rect">
            <a:avLst/>
          </a:prstGeom>
          <a:noFill/>
          <a:ln/>
        </p:spPr>
        <p:txBody>
          <a:bodyPr wrap="square" lIns="0" tIns="0" rIns="0" bIns="0" rtlCol="0" anchor="ctr"/>
          <a:lstStyle/>
          <a:p>
            <a:pPr indent="0" marL="0">
              <a:buNone/>
            </a:pPr>
            <a:r>
              <a:rPr lang="en-US" sz="1600" b="1" dirty="0">
                <a:solidFill>
                  <a:srgbClr val="12406A"/>
                </a:solidFill>
                <a:latin typeface="Arial" pitchFamily="34" charset="0"/>
                <a:ea typeface="Arial" pitchFamily="34" charset="-122"/>
                <a:cs typeface="Arial" pitchFamily="34" charset="-120"/>
              </a:rPr>
              <a:t>Vektor GloVe</a:t>
            </a:r>
            <a:endParaRPr lang="en-US" sz="1600" dirty="0"/>
          </a:p>
        </p:txBody>
      </p:sp>
      <p:sp>
        <p:nvSpPr>
          <p:cNvPr id="16" name="Text 13"/>
          <p:cNvSpPr txBox="1"/>
          <p:nvPr/>
        </p:nvSpPr>
        <p:spPr>
          <a:xfrm>
            <a:off x="1645920" y="3749040"/>
            <a:ext cx="5394960" cy="731520"/>
          </a:xfrm>
          <a:prstGeom prst="rect">
            <a:avLst/>
          </a:prstGeom>
          <a:noFill/>
          <a:ln/>
        </p:spPr>
        <p:txBody>
          <a:bodyPr wrap="square" lIns="0" tIns="0" rIns="0" bIns="0" rtlCol="0" anchor="t"/>
          <a:lstStyle/>
          <a:p>
            <a:pPr indent="0" marL="0">
              <a:buNone/>
            </a:pPr>
            <a:r>
              <a:rPr lang="en-US" sz="1300" dirty="0">
                <a:solidFill>
                  <a:srgbClr val="1F2937"/>
                </a:solidFill>
                <a:latin typeface="Arial" pitchFamily="34" charset="0"/>
                <a:ea typeface="Arial" pitchFamily="34" charset="-122"/>
                <a:cs typeface="Arial" pitchFamily="34" charset="-120"/>
              </a:rPr>
              <a:t>Vektor GloVe Twitter 200d untuk tiap token, diskalakan 0,3, digabung dengan fitur jarang.</a:t>
            </a:r>
            <a:endParaRPr lang="en-US" sz="1300" dirty="0"/>
          </a:p>
        </p:txBody>
      </p:sp>
      <p:sp>
        <p:nvSpPr>
          <p:cNvPr id="17" name="Shape 14"/>
          <p:cNvSpPr/>
          <p:nvPr/>
        </p:nvSpPr>
        <p:spPr>
          <a:xfrm>
            <a:off x="548640" y="4709160"/>
            <a:ext cx="6675120" cy="1280160"/>
          </a:xfrm>
          <a:prstGeom prst="rect">
            <a:avLst/>
          </a:prstGeom>
          <a:solidFill>
            <a:srgbClr val="F4F5F7"/>
          </a:solidFill>
          <a:ln w="6350">
            <a:solidFill>
              <a:srgbClr val="F4F5F7"/>
            </a:solidFill>
            <a:prstDash val="solid"/>
          </a:ln>
        </p:spPr>
      </p:sp>
      <p:sp>
        <p:nvSpPr>
          <p:cNvPr id="18" name="Shape 15"/>
          <p:cNvSpPr/>
          <p:nvPr/>
        </p:nvSpPr>
        <p:spPr>
          <a:xfrm>
            <a:off x="777240" y="5029200"/>
            <a:ext cx="640080" cy="640080"/>
          </a:xfrm>
          <a:prstGeom prst="ellipse">
            <a:avLst/>
          </a:prstGeom>
          <a:solidFill>
            <a:srgbClr val="12406A"/>
          </a:solidFill>
          <a:ln w="12700">
            <a:solidFill>
              <a:srgbClr val="12406A"/>
            </a:solidFill>
            <a:prstDash val="solid"/>
          </a:ln>
        </p:spPr>
      </p:sp>
      <p:sp>
        <p:nvSpPr>
          <p:cNvPr id="19" name="Text 16"/>
          <p:cNvSpPr txBox="1"/>
          <p:nvPr/>
        </p:nvSpPr>
        <p:spPr>
          <a:xfrm>
            <a:off x="777240" y="50292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0" name="Text 17"/>
          <p:cNvSpPr txBox="1"/>
          <p:nvPr/>
        </p:nvSpPr>
        <p:spPr>
          <a:xfrm>
            <a:off x="1645920" y="4846320"/>
            <a:ext cx="5394960" cy="320040"/>
          </a:xfrm>
          <a:prstGeom prst="rect">
            <a:avLst/>
          </a:prstGeom>
          <a:noFill/>
          <a:ln/>
        </p:spPr>
        <p:txBody>
          <a:bodyPr wrap="square" lIns="0" tIns="0" rIns="0" bIns="0" rtlCol="0" anchor="ctr"/>
          <a:lstStyle/>
          <a:p>
            <a:pPr indent="0" marL="0">
              <a:buNone/>
            </a:pPr>
            <a:r>
              <a:rPr lang="en-US" sz="1600" b="1" dirty="0">
                <a:solidFill>
                  <a:srgbClr val="12406A"/>
                </a:solidFill>
                <a:latin typeface="Arial" pitchFamily="34" charset="0"/>
                <a:ea typeface="Arial" pitchFamily="34" charset="-122"/>
                <a:cs typeface="Arial" pitchFamily="34" charset="-120"/>
              </a:rPr>
              <a:t>LinearSVC</a:t>
            </a:r>
            <a:endParaRPr lang="en-US" sz="1600" dirty="0"/>
          </a:p>
        </p:txBody>
      </p:sp>
      <p:sp>
        <p:nvSpPr>
          <p:cNvPr id="21" name="Text 18"/>
          <p:cNvSpPr txBox="1"/>
          <p:nvPr/>
        </p:nvSpPr>
        <p:spPr>
          <a:xfrm>
            <a:off x="1645920" y="5212080"/>
            <a:ext cx="5394960" cy="731520"/>
          </a:xfrm>
          <a:prstGeom prst="rect">
            <a:avLst/>
          </a:prstGeom>
          <a:noFill/>
          <a:ln/>
        </p:spPr>
        <p:txBody>
          <a:bodyPr wrap="square" lIns="0" tIns="0" rIns="0" bIns="0" rtlCol="0" anchor="t"/>
          <a:lstStyle/>
          <a:p>
            <a:pPr indent="0" marL="0">
              <a:buNone/>
            </a:pPr>
            <a:r>
              <a:rPr lang="en-US" sz="1300" dirty="0">
                <a:solidFill>
                  <a:srgbClr val="1F2937"/>
                </a:solidFill>
                <a:latin typeface="Arial" pitchFamily="34" charset="0"/>
                <a:ea typeface="Arial" pitchFamily="34" charset="-122"/>
                <a:cs typeface="Arial" pitchFamily="34" charset="-120"/>
              </a:rPr>
              <a:t>class_weight balanced, C = 0,03 (dicari di dev: 0,01 · 0,03 · 0,1 · 0,3). Tanpa BIO repair.</a:t>
            </a:r>
            <a:endParaRPr lang="en-US" sz="1300" dirty="0"/>
          </a:p>
        </p:txBody>
      </p:sp>
      <p:sp>
        <p:nvSpPr>
          <p:cNvPr id="22" name="Shape 19"/>
          <p:cNvSpPr/>
          <p:nvPr/>
        </p:nvSpPr>
        <p:spPr>
          <a:xfrm>
            <a:off x="7498080" y="1783080"/>
            <a:ext cx="4142232" cy="2103120"/>
          </a:xfrm>
          <a:prstGeom prst="rect">
            <a:avLst/>
          </a:prstGeom>
          <a:solidFill>
            <a:srgbClr val="F4F5F7"/>
          </a:solidFill>
          <a:ln w="6350">
            <a:solidFill>
              <a:srgbClr val="F4F5F7"/>
            </a:solidFill>
            <a:prstDash val="solid"/>
          </a:ln>
        </p:spPr>
      </p:sp>
      <p:sp>
        <p:nvSpPr>
          <p:cNvPr id="23" name="Text 20"/>
          <p:cNvSpPr txBox="1"/>
          <p:nvPr/>
        </p:nvSpPr>
        <p:spPr>
          <a:xfrm>
            <a:off x="7680960" y="1920240"/>
            <a:ext cx="3776472" cy="1051560"/>
          </a:xfrm>
          <a:prstGeom prst="rect">
            <a:avLst/>
          </a:prstGeom>
          <a:noFill/>
          <a:ln/>
        </p:spPr>
        <p:txBody>
          <a:bodyPr wrap="square" lIns="0" tIns="0" rIns="0" bIns="0" rtlCol="0" anchor="ctr"/>
          <a:lstStyle/>
          <a:p>
            <a:pPr indent="0" marL="0">
              <a:buNone/>
            </a:pPr>
            <a:r>
              <a:rPr lang="en-US" sz="4400" b="1" dirty="0">
                <a:solidFill>
                  <a:srgbClr val="12406A"/>
                </a:solidFill>
                <a:latin typeface="Arial" pitchFamily="34" charset="0"/>
                <a:ea typeface="Arial" pitchFamily="34" charset="-122"/>
                <a:cs typeface="Arial" pitchFamily="34" charset="-120"/>
              </a:rPr>
              <a:t>+13,9</a:t>
            </a:r>
            <a:endParaRPr lang="en-US" sz="4400" dirty="0"/>
          </a:p>
        </p:txBody>
      </p:sp>
      <p:sp>
        <p:nvSpPr>
          <p:cNvPr id="24" name="Text 21"/>
          <p:cNvSpPr txBox="1"/>
          <p:nvPr/>
        </p:nvSpPr>
        <p:spPr>
          <a:xfrm>
            <a:off x="7680960" y="2926080"/>
            <a:ext cx="3776472" cy="822960"/>
          </a:xfrm>
          <a:prstGeom prst="rect">
            <a:avLst/>
          </a:prstGeom>
          <a:noFill/>
          <a:ln/>
        </p:spPr>
        <p:txBody>
          <a:bodyPr wrap="square" lIns="0" tIns="0" rIns="0" bIns="0" rtlCol="0" anchor="t"/>
          <a:lstStyle/>
          <a:p>
            <a:pPr indent="0" marL="0">
              <a:buNone/>
            </a:pPr>
            <a:r>
              <a:rPr lang="en-US" sz="1300" dirty="0">
                <a:solidFill>
                  <a:srgbClr val="1F2937"/>
                </a:solidFill>
                <a:latin typeface="Arial" pitchFamily="34" charset="0"/>
                <a:ea typeface="Arial" pitchFamily="34" charset="-122"/>
                <a:cs typeface="Arial" pitchFamily="34" charset="-120"/>
              </a:rPr>
              <a:t>poin F1 dev dari vektor GloVe (27,5 menjadi 41,4)</a:t>
            </a:r>
            <a:endParaRPr lang="en-US" sz="1300" dirty="0"/>
          </a:p>
        </p:txBody>
      </p:sp>
      <p:sp>
        <p:nvSpPr>
          <p:cNvPr id="25" name="Shape 22"/>
          <p:cNvSpPr/>
          <p:nvPr/>
        </p:nvSpPr>
        <p:spPr>
          <a:xfrm>
            <a:off x="7498080" y="4114800"/>
            <a:ext cx="4142232" cy="1920240"/>
          </a:xfrm>
          <a:prstGeom prst="rect">
            <a:avLst/>
          </a:prstGeom>
          <a:solidFill>
            <a:srgbClr val="E6EEF6"/>
          </a:solidFill>
          <a:ln w="6350">
            <a:solidFill>
              <a:srgbClr val="E6EEF6"/>
            </a:solidFill>
            <a:prstDash val="solid"/>
          </a:ln>
        </p:spPr>
      </p:sp>
      <p:sp>
        <p:nvSpPr>
          <p:cNvPr id="26" name="Text 23"/>
          <p:cNvSpPr txBox="1"/>
          <p:nvPr/>
        </p:nvSpPr>
        <p:spPr>
          <a:xfrm>
            <a:off x="7680960" y="4251960"/>
            <a:ext cx="3776472" cy="960120"/>
          </a:xfrm>
          <a:prstGeom prst="rect">
            <a:avLst/>
          </a:prstGeom>
          <a:noFill/>
          <a:ln/>
        </p:spPr>
        <p:txBody>
          <a:bodyPr wrap="square" lIns="0" tIns="0" rIns="0" bIns="0" rtlCol="0" anchor="ctr"/>
          <a:lstStyle/>
          <a:p>
            <a:pPr indent="0" marL="0">
              <a:buNone/>
            </a:pPr>
            <a:r>
              <a:rPr lang="en-US" sz="4400" b="1" dirty="0">
                <a:solidFill>
                  <a:srgbClr val="12406A"/>
                </a:solidFill>
                <a:latin typeface="Arial" pitchFamily="34" charset="0"/>
                <a:ea typeface="Arial" pitchFamily="34" charset="-122"/>
                <a:cs typeface="Arial" pitchFamily="34" charset="-120"/>
              </a:rPr>
              <a:t>458</a:t>
            </a:r>
            <a:endParaRPr lang="en-US" sz="4400" dirty="0"/>
          </a:p>
        </p:txBody>
      </p:sp>
      <p:sp>
        <p:nvSpPr>
          <p:cNvPr id="27" name="Text 24"/>
          <p:cNvSpPr txBox="1"/>
          <p:nvPr/>
        </p:nvSpPr>
        <p:spPr>
          <a:xfrm>
            <a:off x="7680960" y="5166360"/>
            <a:ext cx="3776472" cy="731520"/>
          </a:xfrm>
          <a:prstGeom prst="rect">
            <a:avLst/>
          </a:prstGeom>
          <a:noFill/>
          <a:ln/>
        </p:spPr>
        <p:txBody>
          <a:bodyPr wrap="square" lIns="0" tIns="0" rIns="0" bIns="0" rtlCol="0" anchor="t"/>
          <a:lstStyle/>
          <a:p>
            <a:pPr indent="0" marL="0">
              <a:buNone/>
            </a:pPr>
            <a:r>
              <a:rPr lang="en-US" sz="1300" dirty="0">
                <a:solidFill>
                  <a:srgbClr val="1F2937"/>
                </a:solidFill>
                <a:latin typeface="Arial" pitchFamily="34" charset="0"/>
                <a:ea typeface="Arial" pitchFamily="34" charset="-122"/>
                <a:cs typeface="Arial" pitchFamily="34" charset="-120"/>
              </a:rPr>
              <a:t>token berlabel I- tanpa B- di test: output SVM tidak menjamin urutan BIO valid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B8960C"/>
                </a:solidFill>
                <a:latin typeface="Arial" pitchFamily="34" charset="0"/>
                <a:ea typeface="Arial" pitchFamily="34" charset="-122"/>
                <a:cs typeface="Arial" pitchFamily="34" charset="-120"/>
              </a:rPr>
              <a:t>MODEL 3</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12406A"/>
                </a:solidFill>
                <a:latin typeface="Arial" pitchFamily="34" charset="0"/>
                <a:ea typeface="Arial" pitchFamily="34" charset="-122"/>
                <a:cs typeface="Arial" pitchFamily="34" charset="-120"/>
              </a:rPr>
              <a:t>Bi-LSTM CRF: konteks dua arah dan bentuk kata</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C"/>
                </a:solidFill>
                <a:latin typeface="Arial" pitchFamily="34" charset="0"/>
                <a:ea typeface="Arial" pitchFamily="34" charset="-122"/>
                <a:cs typeface="Arial" pitchFamily="34" charset="-120"/>
              </a:rPr>
              <a:t>Kelompok 1 · Pemrosesan Bahasa Alami Lanjut · UGM</a:t>
            </a:r>
            <a:endParaRPr lang="en-US" sz="1000" dirty="0"/>
          </a:p>
        </p:txBody>
      </p:sp>
      <p:sp>
        <p:nvSpPr>
          <p:cNvPr id="5" name="Text 3"/>
          <p:cNvSpPr txBox="1"/>
          <p:nvPr/>
        </p:nvSpPr>
        <p:spPr>
          <a:xfrm>
            <a:off x="10728655" y="6446520"/>
            <a:ext cx="914400" cy="228600"/>
          </a:xfrm>
          <a:prstGeom prst="rect">
            <a:avLst/>
          </a:prstGeom>
          <a:noFill/>
          <a:ln/>
        </p:spPr>
        <p:txBody>
          <a:bodyPr wrap="square" lIns="0" tIns="0" rIns="0" bIns="0" rtlCol="0" anchor="ctr"/>
          <a:lstStyle/>
          <a:p>
            <a:pPr algn="r" indent="0" marL="0">
              <a:buNone/>
            </a:pPr>
            <a:r>
              <a:rPr lang="en-US" sz="1000" dirty="0">
                <a:solidFill>
                  <a:srgbClr val="5B6B7C"/>
                </a:solidFill>
                <a:latin typeface="Arial" pitchFamily="34" charset="0"/>
                <a:ea typeface="Arial" pitchFamily="34" charset="-122"/>
                <a:cs typeface="Arial" pitchFamily="34" charset="-120"/>
              </a:rPr>
              <a:t>7</a:t>
            </a:r>
            <a:endParaRPr lang="en-US" sz="1000" dirty="0"/>
          </a:p>
        </p:txBody>
      </p:sp>
      <p:sp>
        <p:nvSpPr>
          <p:cNvPr id="7" name="Shape 4"/>
          <p:cNvSpPr/>
          <p:nvPr/>
        </p:nvSpPr>
        <p:spPr>
          <a:xfrm>
            <a:off x="548640" y="1783080"/>
            <a:ext cx="2743200" cy="822960"/>
          </a:xfrm>
          <a:prstGeom prst="rect">
            <a:avLst/>
          </a:prstGeom>
          <a:solidFill>
            <a:srgbClr val="F4F5F7"/>
          </a:solidFill>
          <a:ln w="6350">
            <a:solidFill>
              <a:srgbClr val="F4F5F7"/>
            </a:solidFill>
            <a:prstDash val="solid"/>
          </a:ln>
        </p:spPr>
      </p:sp>
      <p:sp>
        <p:nvSpPr>
          <p:cNvPr id="8" name="Text 5"/>
          <p:cNvSpPr txBox="1"/>
          <p:nvPr/>
        </p:nvSpPr>
        <p:spPr>
          <a:xfrm>
            <a:off x="685800" y="1783080"/>
            <a:ext cx="2468880" cy="822960"/>
          </a:xfrm>
          <a:prstGeom prst="rect">
            <a:avLst/>
          </a:prstGeom>
          <a:noFill/>
          <a:ln/>
        </p:spPr>
        <p:txBody>
          <a:bodyPr wrap="square" lIns="0" tIns="0" rIns="0" bIns="0" rtlCol="0" anchor="ctr"/>
          <a:lstStyle/>
          <a:p>
            <a:pPr indent="0" marL="0">
              <a:buNone/>
            </a:pPr>
            <a:r>
              <a:rPr lang="en-US" sz="1300" b="1" dirty="0">
                <a:solidFill>
                  <a:srgbClr val="12406A"/>
                </a:solidFill>
                <a:latin typeface="Arial" pitchFamily="34" charset="0"/>
                <a:ea typeface="Arial" pitchFamily="34" charset="-122"/>
                <a:cs typeface="Arial" pitchFamily="34" charset="-120"/>
              </a:rPr>
              <a:t>Kata</a:t>
            </a:r>
            <a:endParaRPr lang="en-US" sz="1300" dirty="0"/>
          </a:p>
          <a:p>
            <a:pPr indent="0" marL="0">
              <a:buNone/>
            </a:pPr>
            <a:r>
              <a:rPr lang="en-US" sz="1200" dirty="0">
                <a:solidFill>
                  <a:srgbClr val="1F2937"/>
                </a:solidFill>
                <a:latin typeface="Arial" pitchFamily="34" charset="0"/>
                <a:ea typeface="Arial" pitchFamily="34" charset="-122"/>
                <a:cs typeface="Arial" pitchFamily="34" charset="-120"/>
              </a:rPr>
              <a:t>GloVe Twitter 200d, dibekukan</a:t>
            </a:r>
            <a:endParaRPr lang="en-US" sz="1300" dirty="0"/>
          </a:p>
        </p:txBody>
      </p:sp>
      <p:sp>
        <p:nvSpPr>
          <p:cNvPr id="9" name="Shape 6"/>
          <p:cNvSpPr/>
          <p:nvPr/>
        </p:nvSpPr>
        <p:spPr>
          <a:xfrm>
            <a:off x="3337560" y="2194560"/>
            <a:ext cx="365760" cy="0"/>
          </a:xfrm>
          <a:prstGeom prst="line">
            <a:avLst/>
          </a:prstGeom>
          <a:noFill/>
          <a:ln w="25400">
            <a:solidFill>
              <a:srgbClr val="12406A"/>
            </a:solidFill>
            <a:prstDash val="solid"/>
            <a:tailEnd type="triangle"/>
          </a:ln>
        </p:spPr>
      </p:sp>
      <p:sp>
        <p:nvSpPr>
          <p:cNvPr id="10" name="Shape 7"/>
          <p:cNvSpPr/>
          <p:nvPr/>
        </p:nvSpPr>
        <p:spPr>
          <a:xfrm>
            <a:off x="548640" y="2743200"/>
            <a:ext cx="2743200" cy="822960"/>
          </a:xfrm>
          <a:prstGeom prst="rect">
            <a:avLst/>
          </a:prstGeom>
          <a:solidFill>
            <a:srgbClr val="F4F5F7"/>
          </a:solidFill>
          <a:ln w="6350">
            <a:solidFill>
              <a:srgbClr val="F4F5F7"/>
            </a:solidFill>
            <a:prstDash val="solid"/>
          </a:ln>
        </p:spPr>
      </p:sp>
      <p:sp>
        <p:nvSpPr>
          <p:cNvPr id="11" name="Text 8"/>
          <p:cNvSpPr txBox="1"/>
          <p:nvPr/>
        </p:nvSpPr>
        <p:spPr>
          <a:xfrm>
            <a:off x="685800" y="2743200"/>
            <a:ext cx="2468880" cy="822960"/>
          </a:xfrm>
          <a:prstGeom prst="rect">
            <a:avLst/>
          </a:prstGeom>
          <a:noFill/>
          <a:ln/>
        </p:spPr>
        <p:txBody>
          <a:bodyPr wrap="square" lIns="0" tIns="0" rIns="0" bIns="0" rtlCol="0" anchor="ctr"/>
          <a:lstStyle/>
          <a:p>
            <a:pPr indent="0" marL="0">
              <a:buNone/>
            </a:pPr>
            <a:r>
              <a:rPr lang="en-US" sz="1300" b="1" dirty="0">
                <a:solidFill>
                  <a:srgbClr val="12406A"/>
                </a:solidFill>
                <a:latin typeface="Arial" pitchFamily="34" charset="0"/>
                <a:ea typeface="Arial" pitchFamily="34" charset="-122"/>
                <a:cs typeface="Arial" pitchFamily="34" charset="-120"/>
              </a:rPr>
              <a:t>Karakter</a:t>
            </a:r>
            <a:endParaRPr lang="en-US" sz="1300" dirty="0"/>
          </a:p>
          <a:p>
            <a:pPr indent="0" marL="0">
              <a:buNone/>
            </a:pPr>
            <a:r>
              <a:rPr lang="en-US" sz="1200" dirty="0">
                <a:solidFill>
                  <a:srgbClr val="1F2937"/>
                </a:solidFill>
                <a:latin typeface="Arial" pitchFamily="34" charset="0"/>
                <a:ea typeface="Arial" pitchFamily="34" charset="-122"/>
                <a:cs typeface="Arial" pitchFamily="34" charset="-120"/>
              </a:rPr>
              <a:t>char-CNN, 50 filter</a:t>
            </a:r>
            <a:endParaRPr lang="en-US" sz="1300" dirty="0"/>
          </a:p>
        </p:txBody>
      </p:sp>
      <p:sp>
        <p:nvSpPr>
          <p:cNvPr id="12" name="Shape 9"/>
          <p:cNvSpPr/>
          <p:nvPr/>
        </p:nvSpPr>
        <p:spPr>
          <a:xfrm>
            <a:off x="3337560" y="3154680"/>
            <a:ext cx="365760" cy="0"/>
          </a:xfrm>
          <a:prstGeom prst="line">
            <a:avLst/>
          </a:prstGeom>
          <a:noFill/>
          <a:ln w="25400">
            <a:solidFill>
              <a:srgbClr val="12406A"/>
            </a:solidFill>
            <a:prstDash val="solid"/>
            <a:tailEnd type="triangle"/>
          </a:ln>
        </p:spPr>
      </p:sp>
      <p:sp>
        <p:nvSpPr>
          <p:cNvPr id="13" name="Shape 10"/>
          <p:cNvSpPr/>
          <p:nvPr/>
        </p:nvSpPr>
        <p:spPr>
          <a:xfrm>
            <a:off x="548640" y="3703320"/>
            <a:ext cx="2743200" cy="822960"/>
          </a:xfrm>
          <a:prstGeom prst="rect">
            <a:avLst/>
          </a:prstGeom>
          <a:solidFill>
            <a:srgbClr val="F4F5F7"/>
          </a:solidFill>
          <a:ln w="6350">
            <a:solidFill>
              <a:srgbClr val="F4F5F7"/>
            </a:solidFill>
            <a:prstDash val="solid"/>
          </a:ln>
        </p:spPr>
      </p:sp>
      <p:sp>
        <p:nvSpPr>
          <p:cNvPr id="14" name="Text 11"/>
          <p:cNvSpPr txBox="1"/>
          <p:nvPr/>
        </p:nvSpPr>
        <p:spPr>
          <a:xfrm>
            <a:off x="685800" y="3703320"/>
            <a:ext cx="2468880" cy="822960"/>
          </a:xfrm>
          <a:prstGeom prst="rect">
            <a:avLst/>
          </a:prstGeom>
          <a:noFill/>
          <a:ln/>
        </p:spPr>
        <p:txBody>
          <a:bodyPr wrap="square" lIns="0" tIns="0" rIns="0" bIns="0" rtlCol="0" anchor="ctr"/>
          <a:lstStyle/>
          <a:p>
            <a:pPr indent="0" marL="0">
              <a:buNone/>
            </a:pPr>
            <a:r>
              <a:rPr lang="en-US" sz="1300" b="1" dirty="0">
                <a:solidFill>
                  <a:srgbClr val="12406A"/>
                </a:solidFill>
                <a:latin typeface="Arial" pitchFamily="34" charset="0"/>
                <a:ea typeface="Arial" pitchFamily="34" charset="-122"/>
                <a:cs typeface="Arial" pitchFamily="34" charset="-120"/>
              </a:rPr>
              <a:t>Kapitalisasi</a:t>
            </a:r>
            <a:endParaRPr lang="en-US" sz="1300" dirty="0"/>
          </a:p>
          <a:p>
            <a:pPr indent="0" marL="0">
              <a:buNone/>
            </a:pPr>
            <a:r>
              <a:rPr lang="en-US" sz="1200" dirty="0">
                <a:solidFill>
                  <a:srgbClr val="1F2937"/>
                </a:solidFill>
                <a:latin typeface="Arial" pitchFamily="34" charset="0"/>
                <a:ea typeface="Arial" pitchFamily="34" charset="-122"/>
                <a:cs typeface="Arial" pitchFamily="34" charset="-120"/>
              </a:rPr>
              <a:t>embedding 8d, 10 kelas bentuk</a:t>
            </a:r>
            <a:endParaRPr lang="en-US" sz="1300" dirty="0"/>
          </a:p>
        </p:txBody>
      </p:sp>
      <p:sp>
        <p:nvSpPr>
          <p:cNvPr id="15" name="Shape 12"/>
          <p:cNvSpPr/>
          <p:nvPr/>
        </p:nvSpPr>
        <p:spPr>
          <a:xfrm>
            <a:off x="3337560" y="4114800"/>
            <a:ext cx="365760" cy="0"/>
          </a:xfrm>
          <a:prstGeom prst="line">
            <a:avLst/>
          </a:prstGeom>
          <a:noFill/>
          <a:ln w="25400">
            <a:solidFill>
              <a:srgbClr val="12406A"/>
            </a:solidFill>
            <a:prstDash val="solid"/>
            <a:tailEnd type="triangle"/>
          </a:ln>
        </p:spPr>
      </p:sp>
      <p:sp>
        <p:nvSpPr>
          <p:cNvPr id="16" name="Shape 13"/>
          <p:cNvSpPr/>
          <p:nvPr/>
        </p:nvSpPr>
        <p:spPr>
          <a:xfrm>
            <a:off x="3749040" y="1783080"/>
            <a:ext cx="1600200" cy="2606040"/>
          </a:xfrm>
          <a:prstGeom prst="rect">
            <a:avLst/>
          </a:prstGeom>
          <a:solidFill>
            <a:srgbClr val="E6EEF6"/>
          </a:solidFill>
          <a:ln w="6350">
            <a:solidFill>
              <a:srgbClr val="E6EEF6"/>
            </a:solidFill>
            <a:prstDash val="solid"/>
          </a:ln>
        </p:spPr>
      </p:sp>
      <p:sp>
        <p:nvSpPr>
          <p:cNvPr id="17" name="Text 14"/>
          <p:cNvSpPr txBox="1"/>
          <p:nvPr/>
        </p:nvSpPr>
        <p:spPr>
          <a:xfrm>
            <a:off x="3858768" y="1783080"/>
            <a:ext cx="1380744" cy="2606040"/>
          </a:xfrm>
          <a:prstGeom prst="rect">
            <a:avLst/>
          </a:prstGeom>
          <a:noFill/>
          <a:ln/>
        </p:spPr>
        <p:txBody>
          <a:bodyPr wrap="square" lIns="0" tIns="0" rIns="0" bIns="0" rtlCol="0" anchor="ctr"/>
          <a:lstStyle/>
          <a:p>
            <a:pPr algn="ctr" indent="0" marL="0">
              <a:spcAft>
                <a:spcPts val="600"/>
              </a:spcAft>
              <a:buNone/>
            </a:pPr>
            <a:r>
              <a:rPr lang="en-US" sz="1500" b="1" dirty="0">
                <a:solidFill>
                  <a:srgbClr val="1F2937"/>
                </a:solidFill>
                <a:latin typeface="Arial" pitchFamily="34" charset="0"/>
                <a:ea typeface="Arial" pitchFamily="34" charset="-122"/>
                <a:cs typeface="Arial" pitchFamily="34" charset="-120"/>
              </a:rPr>
              <a:t>Gabung</a:t>
            </a:r>
            <a:endParaRPr lang="en-US" sz="1300" dirty="0"/>
          </a:p>
          <a:p>
            <a:pPr algn="ctr" indent="0" marL="0">
              <a:buNone/>
            </a:pPr>
            <a:r>
              <a:rPr lang="en-US" sz="1200" dirty="0">
                <a:solidFill>
                  <a:srgbClr val="1F2937"/>
                </a:solidFill>
                <a:latin typeface="Arial" pitchFamily="34" charset="0"/>
                <a:ea typeface="Arial" pitchFamily="34" charset="-122"/>
                <a:cs typeface="Arial" pitchFamily="34" charset="-120"/>
              </a:rPr>
              <a:t>258 dimensi + dropout 0,5</a:t>
            </a:r>
            <a:endParaRPr lang="en-US" sz="1300" dirty="0"/>
          </a:p>
        </p:txBody>
      </p:sp>
      <p:sp>
        <p:nvSpPr>
          <p:cNvPr id="18" name="Shape 15"/>
          <p:cNvSpPr/>
          <p:nvPr/>
        </p:nvSpPr>
        <p:spPr>
          <a:xfrm>
            <a:off x="5394960" y="3086100"/>
            <a:ext cx="457200" cy="0"/>
          </a:xfrm>
          <a:prstGeom prst="line">
            <a:avLst/>
          </a:prstGeom>
          <a:noFill/>
          <a:ln w="25400">
            <a:solidFill>
              <a:srgbClr val="12406A"/>
            </a:solidFill>
            <a:prstDash val="solid"/>
            <a:tailEnd type="triangle"/>
          </a:ln>
        </p:spPr>
      </p:sp>
      <p:sp>
        <p:nvSpPr>
          <p:cNvPr id="19" name="Shape 16"/>
          <p:cNvSpPr/>
          <p:nvPr/>
        </p:nvSpPr>
        <p:spPr>
          <a:xfrm>
            <a:off x="5897880" y="1783080"/>
            <a:ext cx="1828800" cy="2606040"/>
          </a:xfrm>
          <a:prstGeom prst="rect">
            <a:avLst/>
          </a:prstGeom>
          <a:solidFill>
            <a:srgbClr val="12406A"/>
          </a:solidFill>
          <a:ln w="6350">
            <a:solidFill>
              <a:srgbClr val="12406A"/>
            </a:solidFill>
            <a:prstDash val="solid"/>
          </a:ln>
        </p:spPr>
      </p:sp>
      <p:sp>
        <p:nvSpPr>
          <p:cNvPr id="20" name="Text 17"/>
          <p:cNvSpPr txBox="1"/>
          <p:nvPr/>
        </p:nvSpPr>
        <p:spPr>
          <a:xfrm>
            <a:off x="6007608" y="1783080"/>
            <a:ext cx="1609344" cy="2606040"/>
          </a:xfrm>
          <a:prstGeom prst="rect">
            <a:avLst/>
          </a:prstGeom>
          <a:noFill/>
          <a:ln/>
        </p:spPr>
        <p:txBody>
          <a:bodyPr wrap="square" lIns="0" tIns="0" rIns="0" bIns="0" rtlCol="0" anchor="ctr"/>
          <a:lstStyle/>
          <a:p>
            <a:pPr algn="ctr" indent="0" marL="0">
              <a:spcAft>
                <a:spcPts val="600"/>
              </a:spcAft>
              <a:buNone/>
            </a:pPr>
            <a:r>
              <a:rPr lang="en-US" sz="1500" b="1" dirty="0">
                <a:solidFill>
                  <a:srgbClr val="FFFFFF"/>
                </a:solidFill>
                <a:latin typeface="Arial" pitchFamily="34" charset="0"/>
                <a:ea typeface="Arial" pitchFamily="34" charset="-122"/>
                <a:cs typeface="Arial" pitchFamily="34" charset="-120"/>
              </a:rPr>
              <a:t>Bi-LSTM</a:t>
            </a:r>
            <a:endParaRPr lang="en-US" sz="1300" dirty="0"/>
          </a:p>
          <a:p>
            <a:pPr algn="ctr" indent="0" marL="0">
              <a:buNone/>
            </a:pPr>
            <a:r>
              <a:rPr lang="en-US" sz="1200" dirty="0">
                <a:solidFill>
                  <a:srgbClr val="FFFFFF"/>
                </a:solidFill>
                <a:latin typeface="Arial" pitchFamily="34" charset="0"/>
                <a:ea typeface="Arial" pitchFamily="34" charset="-122"/>
                <a:cs typeface="Arial" pitchFamily="34" charset="-120"/>
              </a:rPr>
              <a:t>128 unit per arah</a:t>
            </a:r>
            <a:endParaRPr lang="en-US" sz="1300" dirty="0"/>
          </a:p>
        </p:txBody>
      </p:sp>
      <p:sp>
        <p:nvSpPr>
          <p:cNvPr id="21" name="Shape 18"/>
          <p:cNvSpPr/>
          <p:nvPr/>
        </p:nvSpPr>
        <p:spPr>
          <a:xfrm>
            <a:off x="7772400" y="3086100"/>
            <a:ext cx="457200" cy="0"/>
          </a:xfrm>
          <a:prstGeom prst="line">
            <a:avLst/>
          </a:prstGeom>
          <a:noFill/>
          <a:ln w="25400">
            <a:solidFill>
              <a:srgbClr val="12406A"/>
            </a:solidFill>
            <a:prstDash val="solid"/>
            <a:tailEnd type="triangle"/>
          </a:ln>
        </p:spPr>
      </p:sp>
      <p:sp>
        <p:nvSpPr>
          <p:cNvPr id="22" name="Shape 19"/>
          <p:cNvSpPr/>
          <p:nvPr/>
        </p:nvSpPr>
        <p:spPr>
          <a:xfrm>
            <a:off x="8275320" y="1783080"/>
            <a:ext cx="1828800" cy="2606040"/>
          </a:xfrm>
          <a:prstGeom prst="rect">
            <a:avLst/>
          </a:prstGeom>
          <a:solidFill>
            <a:srgbClr val="12406A"/>
          </a:solidFill>
          <a:ln w="6350">
            <a:solidFill>
              <a:srgbClr val="12406A"/>
            </a:solidFill>
            <a:prstDash val="solid"/>
          </a:ln>
        </p:spPr>
      </p:sp>
      <p:sp>
        <p:nvSpPr>
          <p:cNvPr id="23" name="Text 20"/>
          <p:cNvSpPr txBox="1"/>
          <p:nvPr/>
        </p:nvSpPr>
        <p:spPr>
          <a:xfrm>
            <a:off x="8385048" y="1783080"/>
            <a:ext cx="1609344" cy="2606040"/>
          </a:xfrm>
          <a:prstGeom prst="rect">
            <a:avLst/>
          </a:prstGeom>
          <a:noFill/>
          <a:ln/>
        </p:spPr>
        <p:txBody>
          <a:bodyPr wrap="square" lIns="0" tIns="0" rIns="0" bIns="0" rtlCol="0" anchor="ctr"/>
          <a:lstStyle/>
          <a:p>
            <a:pPr algn="ctr" indent="0" marL="0">
              <a:spcAft>
                <a:spcPts val="600"/>
              </a:spcAft>
              <a:buNone/>
            </a:pPr>
            <a:r>
              <a:rPr lang="en-US" sz="1500" b="1" dirty="0">
                <a:solidFill>
                  <a:srgbClr val="FFFFFF"/>
                </a:solidFill>
                <a:latin typeface="Arial" pitchFamily="34" charset="0"/>
                <a:ea typeface="Arial" pitchFamily="34" charset="-122"/>
                <a:cs typeface="Arial" pitchFamily="34" charset="-120"/>
              </a:rPr>
              <a:t>Linear + CRF</a:t>
            </a:r>
            <a:endParaRPr lang="en-US" sz="1300" dirty="0"/>
          </a:p>
          <a:p>
            <a:pPr algn="ctr" indent="0" marL="0">
              <a:buNone/>
            </a:pPr>
            <a:r>
              <a:rPr lang="en-US" sz="1200" dirty="0">
                <a:solidFill>
                  <a:srgbClr val="FFFFFF"/>
                </a:solidFill>
                <a:latin typeface="Arial" pitchFamily="34" charset="0"/>
                <a:ea typeface="Arial" pitchFamily="34" charset="-122"/>
                <a:cs typeface="Arial" pitchFamily="34" charset="-120"/>
              </a:rPr>
              <a:t>13 label, dekode Viterbi</a:t>
            </a:r>
            <a:endParaRPr lang="en-US" sz="1300" dirty="0"/>
          </a:p>
        </p:txBody>
      </p:sp>
      <p:sp>
        <p:nvSpPr>
          <p:cNvPr id="24" name="Shape 21"/>
          <p:cNvSpPr/>
          <p:nvPr/>
        </p:nvSpPr>
        <p:spPr>
          <a:xfrm>
            <a:off x="10149840" y="3086100"/>
            <a:ext cx="365760" cy="0"/>
          </a:xfrm>
          <a:prstGeom prst="line">
            <a:avLst/>
          </a:prstGeom>
          <a:noFill/>
          <a:ln w="25400">
            <a:solidFill>
              <a:srgbClr val="12406A"/>
            </a:solidFill>
            <a:prstDash val="solid"/>
            <a:tailEnd type="triangle"/>
          </a:ln>
        </p:spPr>
      </p:sp>
      <p:sp>
        <p:nvSpPr>
          <p:cNvPr id="25" name="Shape 22"/>
          <p:cNvSpPr/>
          <p:nvPr/>
        </p:nvSpPr>
        <p:spPr>
          <a:xfrm>
            <a:off x="10561320" y="1783080"/>
            <a:ext cx="1078992" cy="2606040"/>
          </a:xfrm>
          <a:prstGeom prst="rect">
            <a:avLst/>
          </a:prstGeom>
          <a:solidFill>
            <a:srgbClr val="FAD400"/>
          </a:solidFill>
          <a:ln w="6350">
            <a:solidFill>
              <a:srgbClr val="FAD400"/>
            </a:solidFill>
            <a:prstDash val="solid"/>
          </a:ln>
        </p:spPr>
      </p:sp>
      <p:sp>
        <p:nvSpPr>
          <p:cNvPr id="26" name="Text 23"/>
          <p:cNvSpPr txBox="1"/>
          <p:nvPr/>
        </p:nvSpPr>
        <p:spPr>
          <a:xfrm>
            <a:off x="10671048" y="1783080"/>
            <a:ext cx="859536" cy="2606040"/>
          </a:xfrm>
          <a:prstGeom prst="rect">
            <a:avLst/>
          </a:prstGeom>
          <a:noFill/>
          <a:ln/>
        </p:spPr>
        <p:txBody>
          <a:bodyPr wrap="square" lIns="0" tIns="0" rIns="0" bIns="0" rtlCol="0" anchor="ctr"/>
          <a:lstStyle/>
          <a:p>
            <a:pPr algn="ctr" indent="0" marL="0">
              <a:spcAft>
                <a:spcPts val="600"/>
              </a:spcAft>
              <a:buNone/>
            </a:pPr>
            <a:r>
              <a:rPr lang="en-US" sz="1500" b="1" dirty="0">
                <a:solidFill>
                  <a:srgbClr val="0B2A48"/>
                </a:solidFill>
                <a:latin typeface="Arial" pitchFamily="34" charset="0"/>
                <a:ea typeface="Arial" pitchFamily="34" charset="-122"/>
                <a:cs typeface="Arial" pitchFamily="34" charset="-120"/>
              </a:rPr>
              <a:t>Label</a:t>
            </a:r>
            <a:endParaRPr lang="en-US" sz="1300" dirty="0"/>
          </a:p>
          <a:p>
            <a:pPr algn="ctr" indent="0" marL="0">
              <a:buNone/>
            </a:pPr>
            <a:r>
              <a:rPr lang="en-US" sz="1200" dirty="0">
                <a:solidFill>
                  <a:srgbClr val="0B2A48"/>
                </a:solidFill>
                <a:latin typeface="Arial" pitchFamily="34" charset="0"/>
                <a:ea typeface="Arial" pitchFamily="34" charset="-122"/>
                <a:cs typeface="Arial" pitchFamily="34" charset="-120"/>
              </a:rPr>
              <a:t>BIO per token</a:t>
            </a:r>
            <a:endParaRPr lang="en-US" sz="1300" dirty="0"/>
          </a:p>
        </p:txBody>
      </p:sp>
      <p:sp>
        <p:nvSpPr>
          <p:cNvPr id="27" name="Shape 24"/>
          <p:cNvSpPr/>
          <p:nvPr/>
        </p:nvSpPr>
        <p:spPr>
          <a:xfrm>
            <a:off x="548640" y="4663440"/>
            <a:ext cx="3474720" cy="1280160"/>
          </a:xfrm>
          <a:prstGeom prst="rect">
            <a:avLst/>
          </a:prstGeom>
          <a:solidFill>
            <a:srgbClr val="F4F5F7"/>
          </a:solidFill>
          <a:ln w="6350">
            <a:solidFill>
              <a:srgbClr val="F4F5F7"/>
            </a:solidFill>
            <a:prstDash val="solid"/>
          </a:ln>
        </p:spPr>
      </p:sp>
      <p:sp>
        <p:nvSpPr>
          <p:cNvPr id="28" name="Text 25"/>
          <p:cNvSpPr txBox="1"/>
          <p:nvPr/>
        </p:nvSpPr>
        <p:spPr>
          <a:xfrm>
            <a:off x="777240" y="4846320"/>
            <a:ext cx="3017520" cy="914400"/>
          </a:xfrm>
          <a:prstGeom prst="rect">
            <a:avLst/>
          </a:prstGeom>
          <a:noFill/>
          <a:ln/>
        </p:spPr>
        <p:txBody>
          <a:bodyPr wrap="square" lIns="0" tIns="0" rIns="0" bIns="0" rtlCol="0" anchor="t"/>
          <a:lstStyle/>
          <a:p>
            <a:pPr indent="0" marL="0">
              <a:spcAft>
                <a:spcPts val="800"/>
              </a:spcAft>
              <a:buNone/>
            </a:pPr>
            <a:r>
              <a:rPr lang="en-US" sz="1500" b="1" dirty="0">
                <a:solidFill>
                  <a:srgbClr val="12406A"/>
                </a:solidFill>
                <a:latin typeface="Arial" pitchFamily="34" charset="0"/>
                <a:ea typeface="Arial" pitchFamily="34" charset="-122"/>
                <a:cs typeface="Arial" pitchFamily="34" charset="-120"/>
              </a:rPr>
              <a:t>Optimasi</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Adam, lr 0,001, batch 32, dropout 0,5, clip gradien 5</a:t>
            </a:r>
            <a:endParaRPr lang="en-US" sz="1300" dirty="0"/>
          </a:p>
        </p:txBody>
      </p:sp>
      <p:sp>
        <p:nvSpPr>
          <p:cNvPr id="29" name="Shape 26"/>
          <p:cNvSpPr/>
          <p:nvPr/>
        </p:nvSpPr>
        <p:spPr>
          <a:xfrm>
            <a:off x="4352544" y="4663440"/>
            <a:ext cx="3474720" cy="1280160"/>
          </a:xfrm>
          <a:prstGeom prst="rect">
            <a:avLst/>
          </a:prstGeom>
          <a:solidFill>
            <a:srgbClr val="F4F5F7"/>
          </a:solidFill>
          <a:ln w="6350">
            <a:solidFill>
              <a:srgbClr val="F4F5F7"/>
            </a:solidFill>
            <a:prstDash val="solid"/>
          </a:ln>
        </p:spPr>
      </p:sp>
      <p:sp>
        <p:nvSpPr>
          <p:cNvPr id="30" name="Text 27"/>
          <p:cNvSpPr txBox="1"/>
          <p:nvPr/>
        </p:nvSpPr>
        <p:spPr>
          <a:xfrm>
            <a:off x="4581144" y="4846320"/>
            <a:ext cx="3017520" cy="914400"/>
          </a:xfrm>
          <a:prstGeom prst="rect">
            <a:avLst/>
          </a:prstGeom>
          <a:noFill/>
          <a:ln/>
        </p:spPr>
        <p:txBody>
          <a:bodyPr wrap="square" lIns="0" tIns="0" rIns="0" bIns="0" rtlCol="0" anchor="t"/>
          <a:lstStyle/>
          <a:p>
            <a:pPr indent="0" marL="0">
              <a:spcAft>
                <a:spcPts val="800"/>
              </a:spcAft>
              <a:buNone/>
            </a:pPr>
            <a:r>
              <a:rPr lang="en-US" sz="1500" b="1" dirty="0">
                <a:solidFill>
                  <a:srgbClr val="12406A"/>
                </a:solidFill>
                <a:latin typeface="Arial" pitchFamily="34" charset="0"/>
                <a:ea typeface="Arial" pitchFamily="34" charset="-122"/>
                <a:cs typeface="Arial" pitchFamily="34" charset="-120"/>
              </a:rPr>
              <a:t>Epoch dipilih di dev</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Early stopping (sabar 8), epoch terbaik 18. Dev F1 51,3</a:t>
            </a:r>
            <a:endParaRPr lang="en-US" sz="1300" dirty="0"/>
          </a:p>
        </p:txBody>
      </p:sp>
      <p:sp>
        <p:nvSpPr>
          <p:cNvPr id="31" name="Shape 28"/>
          <p:cNvSpPr/>
          <p:nvPr/>
        </p:nvSpPr>
        <p:spPr>
          <a:xfrm>
            <a:off x="8156448" y="4663440"/>
            <a:ext cx="3474720" cy="1280160"/>
          </a:xfrm>
          <a:prstGeom prst="rect">
            <a:avLst/>
          </a:prstGeom>
          <a:solidFill>
            <a:srgbClr val="F4F5F7"/>
          </a:solidFill>
          <a:ln w="6350">
            <a:solidFill>
              <a:srgbClr val="F4F5F7"/>
            </a:solidFill>
            <a:prstDash val="solid"/>
          </a:ln>
        </p:spPr>
      </p:sp>
      <p:sp>
        <p:nvSpPr>
          <p:cNvPr id="32" name="Text 29"/>
          <p:cNvSpPr txBox="1"/>
          <p:nvPr/>
        </p:nvSpPr>
        <p:spPr>
          <a:xfrm>
            <a:off x="8385048" y="4846320"/>
            <a:ext cx="3017520" cy="914400"/>
          </a:xfrm>
          <a:prstGeom prst="rect">
            <a:avLst/>
          </a:prstGeom>
          <a:noFill/>
          <a:ln/>
        </p:spPr>
        <p:txBody>
          <a:bodyPr wrap="square" lIns="0" tIns="0" rIns="0" bIns="0" rtlCol="0" anchor="t"/>
          <a:lstStyle/>
          <a:p>
            <a:pPr indent="0" marL="0">
              <a:spcAft>
                <a:spcPts val="800"/>
              </a:spcAft>
              <a:buNone/>
            </a:pPr>
            <a:r>
              <a:rPr lang="en-US" sz="1500" b="1" dirty="0">
                <a:solidFill>
                  <a:srgbClr val="12406A"/>
                </a:solidFill>
                <a:latin typeface="Arial" pitchFamily="34" charset="0"/>
                <a:ea typeface="Arial" pitchFamily="34" charset="-122"/>
                <a:cs typeface="Arial" pitchFamily="34" charset="-120"/>
              </a:rPr>
              <a:t>Model final</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Latih ulang train + dev 18 epoch, seed 42, 43, 44</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B8960C"/>
                </a:solidFill>
                <a:latin typeface="Arial" pitchFamily="34" charset="0"/>
                <a:ea typeface="Arial" pitchFamily="34" charset="-122"/>
                <a:cs typeface="Arial" pitchFamily="34" charset="-120"/>
              </a:rPr>
              <a:t>HASIL</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12406A"/>
                </a:solidFill>
                <a:latin typeface="Arial" pitchFamily="34" charset="0"/>
                <a:ea typeface="Arial" pitchFamily="34" charset="-122"/>
                <a:cs typeface="Arial" pitchFamily="34" charset="-120"/>
              </a:rPr>
              <a:t>Hasil test: Bi-LSTM CRF sekelas peserta terbaik shared task</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C"/>
                </a:solidFill>
                <a:latin typeface="Arial" pitchFamily="34" charset="0"/>
                <a:ea typeface="Arial" pitchFamily="34" charset="-122"/>
                <a:cs typeface="Arial" pitchFamily="34" charset="-120"/>
              </a:rPr>
              <a:t>Kelompok 1 · Pemrosesan Bahasa Alami Lanjut · UGM</a:t>
            </a:r>
            <a:endParaRPr lang="en-US" sz="1000" dirty="0"/>
          </a:p>
        </p:txBody>
      </p:sp>
      <p:sp>
        <p:nvSpPr>
          <p:cNvPr id="5" name="Text 3"/>
          <p:cNvSpPr txBox="1"/>
          <p:nvPr/>
        </p:nvSpPr>
        <p:spPr>
          <a:xfrm>
            <a:off x="10728655" y="6446520"/>
            <a:ext cx="914400" cy="228600"/>
          </a:xfrm>
          <a:prstGeom prst="rect">
            <a:avLst/>
          </a:prstGeom>
          <a:noFill/>
          <a:ln/>
        </p:spPr>
        <p:txBody>
          <a:bodyPr wrap="square" lIns="0" tIns="0" rIns="0" bIns="0" rtlCol="0" anchor="ctr"/>
          <a:lstStyle/>
          <a:p>
            <a:pPr algn="r" indent="0" marL="0">
              <a:buNone/>
            </a:pPr>
            <a:r>
              <a:rPr lang="en-US" sz="1000" dirty="0">
                <a:solidFill>
                  <a:srgbClr val="5B6B7C"/>
                </a:solidFill>
                <a:latin typeface="Arial" pitchFamily="34" charset="0"/>
                <a:ea typeface="Arial" pitchFamily="34" charset="-122"/>
                <a:cs typeface="Arial" pitchFamily="34" charset="-120"/>
              </a:rPr>
              <a:t>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903720" cy="914400"/>
        </p:xfrm>
        <a:graphic>
          <a:graphicData uri="http://schemas.openxmlformats.org/drawingml/2006/table">
            <a:tbl>
              <a:tblPr/>
              <a:tblGrid>
                <a:gridCol w="1965960"/>
                <a:gridCol w="914400"/>
                <a:gridCol w="914400"/>
                <a:gridCol w="1051560"/>
                <a:gridCol w="1051560"/>
                <a:gridCol w="1005840"/>
              </a:tblGrid>
              <a:tr h="566928">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Model</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2406A"/>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P</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2406A"/>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R</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2406A"/>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F1 entity</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2406A"/>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F1 surface</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2406A"/>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Akurasi token</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2406A"/>
                    </a:solidFill>
                  </a:tcPr>
                </a:tc>
              </a:tr>
              <a:tr h="566928">
                <a:tc>
                  <a:txBody>
                    <a:bodyPr/>
                    <a:lstStyle/>
                    <a:p>
                      <a:pPr algn="l" indent="0" marL="0">
                        <a:buNone/>
                      </a:pPr>
                      <a:r>
                        <a:rPr lang="en-US" sz="1300" b="1" dirty="0">
                          <a:solidFill>
                            <a:srgbClr val="1F2937"/>
                          </a:solidFill>
                          <a:latin typeface="Arial" pitchFamily="34" charset="0"/>
                          <a:ea typeface="Arial" pitchFamily="34" charset="-122"/>
                          <a:cs typeface="Arial" pitchFamily="34" charset="-120"/>
                        </a:rPr>
                        <a:t>CRF</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42,4</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20,7</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300" b="1" dirty="0">
                          <a:solidFill>
                            <a:srgbClr val="1F2937"/>
                          </a:solidFill>
                          <a:latin typeface="Arial" pitchFamily="34" charset="0"/>
                          <a:ea typeface="Arial" pitchFamily="34" charset="-122"/>
                          <a:cs typeface="Arial" pitchFamily="34" charset="-120"/>
                        </a:rPr>
                        <a:t>27,8</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25,6</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92,8</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566928">
                <a:tc>
                  <a:txBody>
                    <a:bodyPr/>
                    <a:lstStyle/>
                    <a:p>
                      <a:pPr algn="l" indent="0" marL="0">
                        <a:buNone/>
                      </a:pPr>
                      <a:r>
                        <a:rPr lang="en-US" sz="1300" b="1" dirty="0">
                          <a:solidFill>
                            <a:srgbClr val="1F2937"/>
                          </a:solidFill>
                          <a:latin typeface="Arial" pitchFamily="34" charset="0"/>
                          <a:ea typeface="Arial" pitchFamily="34" charset="-122"/>
                          <a:cs typeface="Arial" pitchFamily="34" charset="-120"/>
                        </a:rPr>
                        <a:t>SVM</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30,9</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31,8</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300" b="1" dirty="0">
                          <a:solidFill>
                            <a:srgbClr val="1F2937"/>
                          </a:solidFill>
                          <a:latin typeface="Arial" pitchFamily="34" charset="0"/>
                          <a:ea typeface="Arial" pitchFamily="34" charset="-122"/>
                          <a:cs typeface="Arial" pitchFamily="34" charset="-120"/>
                        </a:rPr>
                        <a:t>31,3</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26,7</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92,2</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566928">
                <a:tc>
                  <a:txBody>
                    <a:bodyPr/>
                    <a:lstStyle/>
                    <a:p>
                      <a:pPr algn="l" indent="0" marL="0">
                        <a:buNone/>
                      </a:pPr>
                      <a:r>
                        <a:rPr lang="en-US" sz="1300" b="1" dirty="0">
                          <a:solidFill>
                            <a:srgbClr val="1F2937"/>
                          </a:solidFill>
                          <a:latin typeface="Arial" pitchFamily="34" charset="0"/>
                          <a:ea typeface="Arial" pitchFamily="34" charset="-122"/>
                          <a:cs typeface="Arial" pitchFamily="34" charset="-120"/>
                        </a:rPr>
                        <a:t>Bi-LSTM CRF</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E6EEF6"/>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56,3</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E6EEF6"/>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33,5</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E6EEF6"/>
                    </a:solidFill>
                  </a:tcPr>
                </a:tc>
                <a:tc>
                  <a:txBody>
                    <a:bodyPr/>
                    <a:lstStyle/>
                    <a:p>
                      <a:pPr algn="ctr" indent="0" marL="0">
                        <a:buNone/>
                      </a:pPr>
                      <a:r>
                        <a:rPr lang="en-US" sz="1300" b="1" dirty="0">
                          <a:solidFill>
                            <a:srgbClr val="1F2937"/>
                          </a:solidFill>
                          <a:latin typeface="Arial" pitchFamily="34" charset="0"/>
                          <a:ea typeface="Arial" pitchFamily="34" charset="-122"/>
                          <a:cs typeface="Arial" pitchFamily="34" charset="-120"/>
                        </a:rPr>
                        <a:t>41,9</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E6EEF6"/>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40,7</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E6EEF6"/>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94,3</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E6EEF6"/>
                    </a:solidFill>
                  </a:tcPr>
                </a:tc>
              </a:tr>
              <a:tr h="566928">
                <a:tc>
                  <a:txBody>
                    <a:bodyPr/>
                    <a:lstStyle/>
                    <a:p>
                      <a:pPr algn="l" indent="0" marL="0">
                        <a:buNone/>
                      </a:pPr>
                      <a:r>
                        <a:rPr lang="en-US" sz="1200" i="1" dirty="0">
                          <a:solidFill>
                            <a:srgbClr val="5B6B7C"/>
                          </a:solidFill>
                          <a:latin typeface="Arial" pitchFamily="34" charset="0"/>
                          <a:ea typeface="Arial" pitchFamily="34" charset="-122"/>
                          <a:cs typeface="Arial" pitchFamily="34" charset="-120"/>
                        </a:rPr>
                        <a:t>UH-RiTUAL (shared task)</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300" dirty="0">
                          <a:solidFill>
                            <a:srgbClr val="5B6B7C"/>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300" dirty="0">
                          <a:solidFill>
                            <a:srgbClr val="5B6B7C"/>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300" i="1" dirty="0">
                          <a:solidFill>
                            <a:srgbClr val="5B6B7C"/>
                          </a:solidFill>
                          <a:latin typeface="Arial" pitchFamily="34" charset="0"/>
                          <a:ea typeface="Arial" pitchFamily="34" charset="-122"/>
                          <a:cs typeface="Arial" pitchFamily="34" charset="-120"/>
                        </a:rPr>
                        <a:t>41,86</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300" i="1" dirty="0">
                          <a:solidFill>
                            <a:srgbClr val="5B6B7C"/>
                          </a:solidFill>
                          <a:latin typeface="Arial" pitchFamily="34" charset="0"/>
                          <a:ea typeface="Arial" pitchFamily="34" charset="-122"/>
                          <a:cs typeface="Arial" pitchFamily="34" charset="-120"/>
                        </a:rPr>
                        <a:t>40,24</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300" dirty="0">
                          <a:solidFill>
                            <a:srgbClr val="5B6B7C"/>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bl>
          </a:graphicData>
        </a:graphic>
      </p:graphicFrame>
      <p:sp>
        <p:nvSpPr>
          <p:cNvPr id="8" name="Text 4"/>
          <p:cNvSpPr txBox="1"/>
          <p:nvPr/>
        </p:nvSpPr>
        <p:spPr>
          <a:xfrm>
            <a:off x="548640" y="4846320"/>
            <a:ext cx="6949440" cy="1097280"/>
          </a:xfrm>
          <a:prstGeom prst="rect">
            <a:avLst/>
          </a:prstGeom>
          <a:noFill/>
          <a:ln/>
        </p:spPr>
        <p:txBody>
          <a:bodyPr wrap="square" lIns="0" tIns="0" rIns="0" bIns="0" rtlCol="0" anchor="t"/>
          <a:lstStyle/>
          <a:p>
            <a:pPr indent="0" marL="0">
              <a:spcAft>
                <a:spcPts val="400"/>
              </a:spcAft>
              <a:buNone/>
            </a:pPr>
            <a:r>
              <a:rPr lang="en-US" sz="1200" dirty="0">
                <a:solidFill>
                  <a:srgbClr val="5B6B7C"/>
                </a:solidFill>
                <a:latin typeface="Arial" pitchFamily="34" charset="0"/>
                <a:ea typeface="Arial" pitchFamily="34" charset="-122"/>
                <a:cs typeface="Arial" pitchFamily="34" charset="-120"/>
              </a:rPr>
              <a:t>Bi-LSTM CRF: rata-rata 3 seed (42,9 · 42,0 · 40,8).</a:t>
            </a:r>
            <a:endParaRPr lang="en-US" sz="1200" dirty="0"/>
          </a:p>
          <a:p>
            <a:pPr indent="0" marL="0">
              <a:spcAft>
                <a:spcPts val="400"/>
              </a:spcAft>
              <a:buNone/>
            </a:pPr>
            <a:r>
              <a:rPr lang="en-US" sz="1200" dirty="0">
                <a:solidFill>
                  <a:srgbClr val="5B6B7C"/>
                </a:solidFill>
                <a:latin typeface="Arial" pitchFamily="34" charset="0"/>
                <a:ea typeface="Arial" pitchFamily="34" charset="-122"/>
                <a:cs typeface="Arial" pitchFamily="34" charset="-120"/>
              </a:rPr>
              <a:t>CRF dan SVM: satu run. Semua model dilatih di train + dev.</a:t>
            </a:r>
            <a:endParaRPr lang="en-US" sz="1200" dirty="0"/>
          </a:p>
          <a:p>
            <a:pPr indent="0" marL="0">
              <a:buNone/>
            </a:pPr>
            <a:r>
              <a:rPr lang="en-US" sz="1200" dirty="0">
                <a:solidFill>
                  <a:srgbClr val="5B6B7C"/>
                </a:solidFill>
                <a:latin typeface="Arial" pitchFamily="34" charset="0"/>
                <a:ea typeface="Arial" pitchFamily="34" charset="-122"/>
                <a:cs typeface="Arial" pitchFamily="34" charset="-120"/>
              </a:rPr>
              <a:t>Validasi silang 5-fold: CRF 39,5 (±3,9), SVM 38,8 (±3,3).</a:t>
            </a:r>
            <a:endParaRPr lang="en-US" sz="1200" dirty="0"/>
          </a:p>
        </p:txBody>
      </p:sp>
      <p:graphicFrame>
        <p:nvGraphicFramePr>
          <p:cNvPr id="9" name="Chart 0" descr=""/>
          <p:cNvGraphicFramePr/>
          <p:nvPr/>
        </p:nvGraphicFramePr>
        <p:xfrm>
          <a:off x="7772400" y="1691640"/>
          <a:ext cx="3867912" cy="42976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B8960C"/>
                </a:solidFill>
                <a:latin typeface="Arial" pitchFamily="34" charset="0"/>
                <a:ea typeface="Arial" pitchFamily="34" charset="-122"/>
                <a:cs typeface="Arial" pitchFamily="34" charset="-120"/>
              </a:rPr>
              <a:t>HASIL PER TIPE</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12406A"/>
                </a:solidFill>
                <a:latin typeface="Arial" pitchFamily="34" charset="0"/>
                <a:ea typeface="Arial" pitchFamily="34" charset="-122"/>
                <a:cs typeface="Arial" pitchFamily="34" charset="-120"/>
              </a:rPr>
              <a:t>Person dan location jauh di atas empat tipe lainnya</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C"/>
                </a:solidFill>
                <a:latin typeface="Arial" pitchFamily="34" charset="0"/>
                <a:ea typeface="Arial" pitchFamily="34" charset="-122"/>
                <a:cs typeface="Arial" pitchFamily="34" charset="-120"/>
              </a:rPr>
              <a:t>Kelompok 1 · Pemrosesan Bahasa Alami Lanjut · UGM</a:t>
            </a:r>
            <a:endParaRPr lang="en-US" sz="1000" dirty="0"/>
          </a:p>
        </p:txBody>
      </p:sp>
      <p:sp>
        <p:nvSpPr>
          <p:cNvPr id="5" name="Text 3"/>
          <p:cNvSpPr txBox="1"/>
          <p:nvPr/>
        </p:nvSpPr>
        <p:spPr>
          <a:xfrm>
            <a:off x="10728655" y="6446520"/>
            <a:ext cx="914400" cy="228600"/>
          </a:xfrm>
          <a:prstGeom prst="rect">
            <a:avLst/>
          </a:prstGeom>
          <a:noFill/>
          <a:ln/>
        </p:spPr>
        <p:txBody>
          <a:bodyPr wrap="square" lIns="0" tIns="0" rIns="0" bIns="0" rtlCol="0" anchor="ctr"/>
          <a:lstStyle/>
          <a:p>
            <a:pPr algn="r" indent="0" marL="0">
              <a:buNone/>
            </a:pPr>
            <a:r>
              <a:rPr lang="en-US" sz="1000" dirty="0">
                <a:solidFill>
                  <a:srgbClr val="5B6B7C"/>
                </a:solidFill>
                <a:latin typeface="Arial" pitchFamily="34" charset="0"/>
                <a:ea typeface="Arial" pitchFamily="34" charset="-122"/>
                <a:cs typeface="Arial" pitchFamily="34" charset="-120"/>
              </a:rPr>
              <a:t>9</a:t>
            </a:r>
            <a:endParaRPr lang="en-US" sz="1000" dirty="0"/>
          </a:p>
        </p:txBody>
      </p:sp>
      <p:graphicFrame>
        <p:nvGraphicFramePr>
          <p:cNvPr id="7" name="Chart 0" descr=""/>
          <p:cNvGraphicFramePr/>
          <p:nvPr/>
        </p:nvGraphicFramePr>
        <p:xfrm>
          <a:off x="548640" y="1691640"/>
          <a:ext cx="7680960" cy="434340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503920" y="1783080"/>
            <a:ext cx="3136392" cy="4251960"/>
          </a:xfrm>
          <a:prstGeom prst="rect">
            <a:avLst/>
          </a:prstGeom>
          <a:solidFill>
            <a:srgbClr val="F4F5F7"/>
          </a:solidFill>
          <a:ln w="6350">
            <a:solidFill>
              <a:srgbClr val="F4F5F7"/>
            </a:solidFill>
            <a:prstDash val="solid"/>
          </a:ln>
        </p:spPr>
      </p:sp>
      <p:sp>
        <p:nvSpPr>
          <p:cNvPr id="9" name="Text 5"/>
          <p:cNvSpPr txBox="1"/>
          <p:nvPr/>
        </p:nvSpPr>
        <p:spPr>
          <a:xfrm>
            <a:off x="8732520" y="1965960"/>
            <a:ext cx="2679192" cy="3886200"/>
          </a:xfrm>
          <a:prstGeom prst="rect">
            <a:avLst/>
          </a:prstGeom>
          <a:noFill/>
          <a:ln/>
        </p:spPr>
        <p:txBody>
          <a:bodyPr wrap="square" lIns="0" tIns="0" rIns="0" bIns="0" rtlCol="0" anchor="t"/>
          <a:lstStyle/>
          <a:p>
            <a:pPr indent="0" marL="0">
              <a:spcAft>
                <a:spcPts val="800"/>
              </a:spcAft>
              <a:buNone/>
            </a:pPr>
            <a:r>
              <a:rPr lang="en-US" sz="1500" b="1" dirty="0">
                <a:solidFill>
                  <a:srgbClr val="12406A"/>
                </a:solidFill>
                <a:latin typeface="Arial" pitchFamily="34" charset="0"/>
                <a:ea typeface="Arial" pitchFamily="34" charset="-122"/>
                <a:cs typeface="Arial" pitchFamily="34" charset="-120"/>
              </a:rPr>
              <a:t>Bacaan</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Person: 58 pada Bi-LSTM CRF, 51 pada SVM.</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Corporation, product, creative-work, group: semua di bawah 23.</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Batas antar-tipe kabur (corporation, group, product) dan judul karya panjang (creative-work), sesuai catatan Stage 1.</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B8960C"/>
                </a:solidFill>
                <a:latin typeface="Arial" pitchFamily="34" charset="0"/>
                <a:ea typeface="Arial" pitchFamily="34" charset="-122"/>
                <a:cs typeface="Arial" pitchFamily="34" charset="-120"/>
              </a:rPr>
              <a:t>ANALISIS KESALAHAN</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12406A"/>
                </a:solidFill>
                <a:latin typeface="Arial" pitchFamily="34" charset="0"/>
                <a:ea typeface="Arial" pitchFamily="34" charset="-122"/>
                <a:cs typeface="Arial" pitchFamily="34" charset="-120"/>
              </a:rPr>
              <a:t>SVM banyak salah tebak, Bi-LSTM CRF terlalu berhati-hati</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C"/>
                </a:solidFill>
                <a:latin typeface="Arial" pitchFamily="34" charset="0"/>
                <a:ea typeface="Arial" pitchFamily="34" charset="-122"/>
                <a:cs typeface="Arial" pitchFamily="34" charset="-120"/>
              </a:rPr>
              <a:t>Kelompok 1 · Pemrosesan Bahasa Alami Lanjut · UGM</a:t>
            </a:r>
            <a:endParaRPr lang="en-US" sz="1000" dirty="0"/>
          </a:p>
        </p:txBody>
      </p:sp>
      <p:sp>
        <p:nvSpPr>
          <p:cNvPr id="5" name="Text 3"/>
          <p:cNvSpPr txBox="1"/>
          <p:nvPr/>
        </p:nvSpPr>
        <p:spPr>
          <a:xfrm>
            <a:off x="10728655" y="6446520"/>
            <a:ext cx="914400" cy="228600"/>
          </a:xfrm>
          <a:prstGeom prst="rect">
            <a:avLst/>
          </a:prstGeom>
          <a:noFill/>
          <a:ln/>
        </p:spPr>
        <p:txBody>
          <a:bodyPr wrap="square" lIns="0" tIns="0" rIns="0" bIns="0" rtlCol="0" anchor="ctr"/>
          <a:lstStyle/>
          <a:p>
            <a:pPr algn="r" indent="0" marL="0">
              <a:buNone/>
            </a:pPr>
            <a:r>
              <a:rPr lang="en-US" sz="1000" dirty="0">
                <a:solidFill>
                  <a:srgbClr val="5B6B7C"/>
                </a:solidFill>
                <a:latin typeface="Arial" pitchFamily="34" charset="0"/>
                <a:ea typeface="Arial" pitchFamily="34" charset="-122"/>
                <a:cs typeface="Arial" pitchFamily="34" charset="-120"/>
              </a:rPr>
              <a:t>10</a:t>
            </a:r>
            <a:endParaRPr lang="en-US" sz="1000" dirty="0"/>
          </a:p>
        </p:txBody>
      </p:sp>
      <p:graphicFrame>
        <p:nvGraphicFramePr>
          <p:cNvPr id="7" name="Chart 0" descr=""/>
          <p:cNvGraphicFramePr/>
          <p:nvPr/>
        </p:nvGraphicFramePr>
        <p:xfrm>
          <a:off x="548640" y="1691640"/>
          <a:ext cx="7498080" cy="434340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321040" y="1783080"/>
            <a:ext cx="3319272" cy="4251960"/>
          </a:xfrm>
          <a:prstGeom prst="rect">
            <a:avLst/>
          </a:prstGeom>
          <a:solidFill>
            <a:srgbClr val="F4F5F7"/>
          </a:solidFill>
          <a:ln w="6350">
            <a:solidFill>
              <a:srgbClr val="F4F5F7"/>
            </a:solidFill>
            <a:prstDash val="solid"/>
          </a:ln>
        </p:spPr>
      </p:sp>
      <p:sp>
        <p:nvSpPr>
          <p:cNvPr id="9" name="Text 5"/>
          <p:cNvSpPr txBox="1"/>
          <p:nvPr/>
        </p:nvSpPr>
        <p:spPr>
          <a:xfrm>
            <a:off x="8549640" y="1965960"/>
            <a:ext cx="2862072" cy="3886200"/>
          </a:xfrm>
          <a:prstGeom prst="rect">
            <a:avLst/>
          </a:prstGeom>
          <a:noFill/>
          <a:ln/>
        </p:spPr>
        <p:txBody>
          <a:bodyPr wrap="square" lIns="0" tIns="0" rIns="0" bIns="0" rtlCol="0" anchor="t"/>
          <a:lstStyle/>
          <a:p>
            <a:pPr indent="0" marL="0">
              <a:spcAft>
                <a:spcPts val="800"/>
              </a:spcAft>
              <a:buNone/>
            </a:pPr>
            <a:r>
              <a:rPr lang="en-US" sz="1500" b="1" dirty="0">
                <a:solidFill>
                  <a:srgbClr val="12406A"/>
                </a:solidFill>
                <a:latin typeface="Arial" pitchFamily="34" charset="0"/>
                <a:ea typeface="Arial" pitchFamily="34" charset="-122"/>
                <a:cs typeface="Arial" pitchFamily="34" charset="-120"/>
              </a:rPr>
              <a:t>Dari 1.079 entitas gold</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CRF melewatkan 673 (62%).</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SVM menemukan paling banyak (363 benar) tetapi menambah 606 prediksi palsu.</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Bi-LSTM CRF hanya 58 prediksi palsu, tetapi 556 terlewat (52%).</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B8960C"/>
                </a:solidFill>
                <a:latin typeface="Arial" pitchFamily="34" charset="0"/>
                <a:ea typeface="Arial" pitchFamily="34" charset="-122"/>
                <a:cs typeface="Arial" pitchFamily="34" charset="-120"/>
              </a:rPr>
              <a:t>TOKEN VS ENTITY</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12406A"/>
                </a:solidFill>
                <a:latin typeface="Arial" pitchFamily="34" charset="0"/>
                <a:ea typeface="Arial" pitchFamily="34" charset="-122"/>
                <a:cs typeface="Arial" pitchFamily="34" charset="-120"/>
              </a:rPr>
              <a:t>Akurasi token tampak tinggi, F1 entity jauh lebih rendah</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C"/>
                </a:solidFill>
                <a:latin typeface="Arial" pitchFamily="34" charset="0"/>
                <a:ea typeface="Arial" pitchFamily="34" charset="-122"/>
                <a:cs typeface="Arial" pitchFamily="34" charset="-120"/>
              </a:rPr>
              <a:t>Kelompok 1 · Pemrosesan Bahasa Alami Lanjut · UGM</a:t>
            </a:r>
            <a:endParaRPr lang="en-US" sz="1000" dirty="0"/>
          </a:p>
        </p:txBody>
      </p:sp>
      <p:sp>
        <p:nvSpPr>
          <p:cNvPr id="5" name="Text 3"/>
          <p:cNvSpPr txBox="1"/>
          <p:nvPr/>
        </p:nvSpPr>
        <p:spPr>
          <a:xfrm>
            <a:off x="10728655" y="6446520"/>
            <a:ext cx="914400" cy="228600"/>
          </a:xfrm>
          <a:prstGeom prst="rect">
            <a:avLst/>
          </a:prstGeom>
          <a:noFill/>
          <a:ln/>
        </p:spPr>
        <p:txBody>
          <a:bodyPr wrap="square" lIns="0" tIns="0" rIns="0" bIns="0" rtlCol="0" anchor="ctr"/>
          <a:lstStyle/>
          <a:p>
            <a:pPr algn="r" indent="0" marL="0">
              <a:buNone/>
            </a:pPr>
            <a:r>
              <a:rPr lang="en-US" sz="1000" dirty="0">
                <a:solidFill>
                  <a:srgbClr val="5B6B7C"/>
                </a:solidFill>
                <a:latin typeface="Arial" pitchFamily="34" charset="0"/>
                <a:ea typeface="Arial" pitchFamily="34" charset="-122"/>
                <a:cs typeface="Arial" pitchFamily="34" charset="-120"/>
              </a:rPr>
              <a:t>11</a:t>
            </a:r>
            <a:endParaRPr lang="en-US" sz="1000" dirty="0"/>
          </a:p>
        </p:txBody>
      </p:sp>
      <p:graphicFrame>
        <p:nvGraphicFramePr>
          <p:cNvPr id="7" name="Chart 0" descr=""/>
          <p:cNvGraphicFramePr/>
          <p:nvPr/>
        </p:nvGraphicFramePr>
        <p:xfrm>
          <a:off x="548640" y="1691640"/>
          <a:ext cx="6949440" cy="434340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7772400" y="1783080"/>
            <a:ext cx="3867912" cy="4251960"/>
          </a:xfrm>
          <a:prstGeom prst="rect">
            <a:avLst/>
          </a:prstGeom>
          <a:solidFill>
            <a:srgbClr val="F4F5F7"/>
          </a:solidFill>
          <a:ln w="6350">
            <a:solidFill>
              <a:srgbClr val="F4F5F7"/>
            </a:solidFill>
            <a:prstDash val="solid"/>
          </a:ln>
        </p:spPr>
      </p:sp>
      <p:sp>
        <p:nvSpPr>
          <p:cNvPr id="9" name="Text 5"/>
          <p:cNvSpPr txBox="1"/>
          <p:nvPr/>
        </p:nvSpPr>
        <p:spPr>
          <a:xfrm>
            <a:off x="8001000" y="1965960"/>
            <a:ext cx="3410712" cy="3886200"/>
          </a:xfrm>
          <a:prstGeom prst="rect">
            <a:avLst/>
          </a:prstGeom>
          <a:noFill/>
          <a:ln/>
        </p:spPr>
        <p:txBody>
          <a:bodyPr wrap="square" lIns="0" tIns="0" rIns="0" bIns="0" rtlCol="0" anchor="t"/>
          <a:lstStyle/>
          <a:p>
            <a:pPr indent="0" marL="0">
              <a:spcAft>
                <a:spcPts val="800"/>
              </a:spcAft>
              <a:buNone/>
            </a:pPr>
            <a:r>
              <a:rPr lang="en-US" sz="1500" b="1" dirty="0">
                <a:solidFill>
                  <a:srgbClr val="12406A"/>
                </a:solidFill>
                <a:latin typeface="Arial" pitchFamily="34" charset="0"/>
                <a:ea typeface="Arial" pitchFamily="34" charset="-122"/>
                <a:cs typeface="Arial" pitchFamily="34" charset="-120"/>
              </a:rPr>
              <a:t>Pembanding: semua-O</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Memprediksi O untuk setiap token sudah memberi akurasi 92,6% di test.</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CRF (92,8) hampir sama, SVM (92,2) bahkan di bawahnya.</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F1 entity yang membedakan model. Entitas hanya 7,4% token.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B8960C"/>
                </a:solidFill>
                <a:latin typeface="Arial" pitchFamily="34" charset="0"/>
                <a:ea typeface="Arial" pitchFamily="34" charset="-122"/>
                <a:cs typeface="Arial" pitchFamily="34" charset="-120"/>
              </a:rPr>
              <a:t>ABLASI</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12406A"/>
                </a:solidFill>
                <a:latin typeface="Arial" pitchFamily="34" charset="0"/>
                <a:ea typeface="Arial" pitchFamily="34" charset="-122"/>
                <a:cs typeface="Arial" pitchFamily="34" charset="-120"/>
              </a:rPr>
              <a:t>Ablasi fitur CRF: konteks dan bentuk kata yang bekerja</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C"/>
                </a:solidFill>
                <a:latin typeface="Arial" pitchFamily="34" charset="0"/>
                <a:ea typeface="Arial" pitchFamily="34" charset="-122"/>
                <a:cs typeface="Arial" pitchFamily="34" charset="-120"/>
              </a:rPr>
              <a:t>Kelompok 1 · Pemrosesan Bahasa Alami Lanjut · UGM</a:t>
            </a:r>
            <a:endParaRPr lang="en-US" sz="1000" dirty="0"/>
          </a:p>
        </p:txBody>
      </p:sp>
      <p:sp>
        <p:nvSpPr>
          <p:cNvPr id="5" name="Text 3"/>
          <p:cNvSpPr txBox="1"/>
          <p:nvPr/>
        </p:nvSpPr>
        <p:spPr>
          <a:xfrm>
            <a:off x="10728655" y="6446520"/>
            <a:ext cx="914400" cy="228600"/>
          </a:xfrm>
          <a:prstGeom prst="rect">
            <a:avLst/>
          </a:prstGeom>
          <a:noFill/>
          <a:ln/>
        </p:spPr>
        <p:txBody>
          <a:bodyPr wrap="square" lIns="0" tIns="0" rIns="0" bIns="0" rtlCol="0" anchor="ctr"/>
          <a:lstStyle/>
          <a:p>
            <a:pPr algn="r" indent="0" marL="0">
              <a:buNone/>
            </a:pPr>
            <a:r>
              <a:rPr lang="en-US" sz="1000" dirty="0">
                <a:solidFill>
                  <a:srgbClr val="5B6B7C"/>
                </a:solidFill>
                <a:latin typeface="Arial" pitchFamily="34" charset="0"/>
                <a:ea typeface="Arial" pitchFamily="34" charset="-122"/>
                <a:cs typeface="Arial" pitchFamily="34" charset="-120"/>
              </a:rPr>
              <a:t>12</a:t>
            </a:r>
            <a:endParaRPr lang="en-US" sz="1000" dirty="0"/>
          </a:p>
        </p:txBody>
      </p:sp>
      <p:graphicFrame>
        <p:nvGraphicFramePr>
          <p:cNvPr id="7" name="Chart 0" descr=""/>
          <p:cNvGraphicFramePr/>
          <p:nvPr/>
        </p:nvGraphicFramePr>
        <p:xfrm>
          <a:off x="548640" y="1691640"/>
          <a:ext cx="7132320" cy="434340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7955280" y="1783080"/>
            <a:ext cx="3685032" cy="4251960"/>
          </a:xfrm>
          <a:prstGeom prst="rect">
            <a:avLst/>
          </a:prstGeom>
          <a:solidFill>
            <a:srgbClr val="F4F5F7"/>
          </a:solidFill>
          <a:ln w="6350">
            <a:solidFill>
              <a:srgbClr val="F4F5F7"/>
            </a:solidFill>
            <a:prstDash val="solid"/>
          </a:ln>
        </p:spPr>
      </p:sp>
      <p:sp>
        <p:nvSpPr>
          <p:cNvPr id="9" name="Text 5"/>
          <p:cNvSpPr txBox="1"/>
          <p:nvPr/>
        </p:nvSpPr>
        <p:spPr>
          <a:xfrm>
            <a:off x="8183880" y="1965960"/>
            <a:ext cx="3227832" cy="3886200"/>
          </a:xfrm>
          <a:prstGeom prst="rect">
            <a:avLst/>
          </a:prstGeom>
          <a:noFill/>
          <a:ln/>
        </p:spPr>
        <p:txBody>
          <a:bodyPr wrap="square" lIns="0" tIns="0" rIns="0" bIns="0" rtlCol="0" anchor="t"/>
          <a:lstStyle/>
          <a:p>
            <a:pPr indent="0" marL="0">
              <a:spcAft>
                <a:spcPts val="800"/>
              </a:spcAft>
              <a:buNone/>
            </a:pPr>
            <a:r>
              <a:rPr lang="en-US" sz="1500" b="1" dirty="0">
                <a:solidFill>
                  <a:srgbClr val="12406A"/>
                </a:solidFill>
                <a:latin typeface="Arial" pitchFamily="34" charset="0"/>
                <a:ea typeface="Arial" pitchFamily="34" charset="-122"/>
                <a:cs typeface="Arial" pitchFamily="34" charset="-120"/>
              </a:rPr>
              <a:t>Tambahan F1 dev</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Kata saja: 5,6. Menghafal tidak berguna untuk entitas baru.</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Bentuk, afiks, media sosial: +7,9. Konteks dan bigram: +8,0.</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POS tag: +3,2.</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Cluster: +0,6 di konfigurasi akhir, tetapi -1,1 pada c2 = 0,03. Efeknya kecil dan tidak stabil.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B8960C"/>
                </a:solidFill>
                <a:latin typeface="Arial" pitchFamily="34" charset="0"/>
                <a:ea typeface="Arial" pitchFamily="34" charset="-122"/>
                <a:cs typeface="Arial" pitchFamily="34" charset="-120"/>
              </a:rPr>
              <a:t>KEPUTUSAN DESAIN</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12406A"/>
                </a:solidFill>
                <a:latin typeface="Arial" pitchFamily="34" charset="0"/>
                <a:ea typeface="Arial" pitchFamily="34" charset="-122"/>
                <a:cs typeface="Arial" pitchFamily="34" charset="-120"/>
              </a:rPr>
              <a:t>Tiga keputusan desain yang diuji di dev</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C"/>
                </a:solidFill>
                <a:latin typeface="Arial" pitchFamily="34" charset="0"/>
                <a:ea typeface="Arial" pitchFamily="34" charset="-122"/>
                <a:cs typeface="Arial" pitchFamily="34" charset="-120"/>
              </a:rPr>
              <a:t>Kelompok 1 · Pemrosesan Bahasa Alami Lanjut · UGM</a:t>
            </a:r>
            <a:endParaRPr lang="en-US" sz="1000" dirty="0"/>
          </a:p>
        </p:txBody>
      </p:sp>
      <p:sp>
        <p:nvSpPr>
          <p:cNvPr id="5" name="Text 3"/>
          <p:cNvSpPr txBox="1"/>
          <p:nvPr/>
        </p:nvSpPr>
        <p:spPr>
          <a:xfrm>
            <a:off x="10728655" y="6446520"/>
            <a:ext cx="914400" cy="228600"/>
          </a:xfrm>
          <a:prstGeom prst="rect">
            <a:avLst/>
          </a:prstGeom>
          <a:noFill/>
          <a:ln/>
        </p:spPr>
        <p:txBody>
          <a:bodyPr wrap="square" lIns="0" tIns="0" rIns="0" bIns="0" rtlCol="0" anchor="ctr"/>
          <a:lstStyle/>
          <a:p>
            <a:pPr algn="r" indent="0" marL="0">
              <a:buNone/>
            </a:pPr>
            <a:r>
              <a:rPr lang="en-US" sz="1000" dirty="0">
                <a:solidFill>
                  <a:srgbClr val="5B6B7C"/>
                </a:solidFill>
                <a:latin typeface="Arial" pitchFamily="34" charset="0"/>
                <a:ea typeface="Arial" pitchFamily="34" charset="-122"/>
                <a:cs typeface="Arial" pitchFamily="34" charset="-120"/>
              </a:rPr>
              <a:t>13</a:t>
            </a:r>
            <a:endParaRPr lang="en-US" sz="1000" dirty="0"/>
          </a:p>
        </p:txBody>
      </p:sp>
      <p:sp>
        <p:nvSpPr>
          <p:cNvPr id="7" name="Shape 4"/>
          <p:cNvSpPr/>
          <p:nvPr/>
        </p:nvSpPr>
        <p:spPr>
          <a:xfrm>
            <a:off x="548640" y="1783080"/>
            <a:ext cx="3474720" cy="3657600"/>
          </a:xfrm>
          <a:prstGeom prst="rect">
            <a:avLst/>
          </a:prstGeom>
          <a:solidFill>
            <a:srgbClr val="F4F5F7"/>
          </a:solidFill>
          <a:ln w="6350">
            <a:solidFill>
              <a:srgbClr val="F4F5F7"/>
            </a:solidFill>
            <a:prstDash val="solid"/>
          </a:ln>
        </p:spPr>
      </p:sp>
      <p:sp>
        <p:nvSpPr>
          <p:cNvPr id="8" name="Text 5"/>
          <p:cNvSpPr txBox="1"/>
          <p:nvPr/>
        </p:nvSpPr>
        <p:spPr>
          <a:xfrm>
            <a:off x="777240" y="1965960"/>
            <a:ext cx="3017520" cy="548640"/>
          </a:xfrm>
          <a:prstGeom prst="rect">
            <a:avLst/>
          </a:prstGeom>
          <a:noFill/>
          <a:ln/>
        </p:spPr>
        <p:txBody>
          <a:bodyPr wrap="square" lIns="0" tIns="0" rIns="0" bIns="0" rtlCol="0" anchor="t"/>
          <a:lstStyle/>
          <a:p>
            <a:pPr indent="0" marL="0">
              <a:buNone/>
            </a:pPr>
            <a:r>
              <a:rPr lang="en-US" sz="1500" b="1" dirty="0">
                <a:solidFill>
                  <a:srgbClr val="12406A"/>
                </a:solidFill>
                <a:latin typeface="Arial" pitchFamily="34" charset="0"/>
                <a:ea typeface="Arial" pitchFamily="34" charset="-122"/>
                <a:cs typeface="Arial" pitchFamily="34" charset="-120"/>
              </a:rPr>
              <a:t>BIO repair pada SVM</a:t>
            </a:r>
            <a:endParaRPr lang="en-US" sz="1500" dirty="0"/>
          </a:p>
        </p:txBody>
      </p:sp>
      <p:sp>
        <p:nvSpPr>
          <p:cNvPr id="9" name="Text 6"/>
          <p:cNvSpPr txBox="1"/>
          <p:nvPr/>
        </p:nvSpPr>
        <p:spPr>
          <a:xfrm>
            <a:off x="777240" y="2560320"/>
            <a:ext cx="3017520" cy="731520"/>
          </a:xfrm>
          <a:prstGeom prst="rect">
            <a:avLst/>
          </a:prstGeom>
          <a:noFill/>
          <a:ln/>
        </p:spPr>
        <p:txBody>
          <a:bodyPr wrap="square" lIns="0" tIns="0" rIns="0" bIns="0" rtlCol="0" anchor="ctr"/>
          <a:lstStyle/>
          <a:p>
            <a:pPr indent="0" marL="0">
              <a:buNone/>
            </a:pPr>
            <a:r>
              <a:rPr lang="en-US" sz="3400" b="1" dirty="0">
                <a:solidFill>
                  <a:srgbClr val="12406A"/>
                </a:solidFill>
                <a:latin typeface="Arial" pitchFamily="34" charset="0"/>
                <a:ea typeface="Arial" pitchFamily="34" charset="-122"/>
                <a:cs typeface="Arial" pitchFamily="34" charset="-120"/>
              </a:rPr>
              <a:t>41,4 → 44,8</a:t>
            </a:r>
            <a:endParaRPr lang="en-US" sz="3400" dirty="0"/>
          </a:p>
        </p:txBody>
      </p:sp>
      <p:sp>
        <p:nvSpPr>
          <p:cNvPr id="10" name="Text 7"/>
          <p:cNvSpPr txBox="1"/>
          <p:nvPr/>
        </p:nvSpPr>
        <p:spPr>
          <a:xfrm>
            <a:off x="777240" y="3337560"/>
            <a:ext cx="3017520" cy="457200"/>
          </a:xfrm>
          <a:prstGeom prst="rect">
            <a:avLst/>
          </a:prstGeom>
          <a:noFill/>
          <a:ln/>
        </p:spPr>
        <p:txBody>
          <a:bodyPr wrap="square" lIns="0" tIns="0" rIns="0" bIns="0" rtlCol="0" anchor="t"/>
          <a:lstStyle/>
          <a:p>
            <a:pPr indent="0" marL="0">
              <a:buNone/>
            </a:pPr>
            <a:r>
              <a:rPr lang="en-US" sz="1200" dirty="0">
                <a:solidFill>
                  <a:srgbClr val="5B6B7C"/>
                </a:solidFill>
                <a:latin typeface="Arial" pitchFamily="34" charset="0"/>
                <a:ea typeface="Arial" pitchFamily="34" charset="-122"/>
                <a:cs typeface="Arial" pitchFamily="34" charset="-120"/>
              </a:rPr>
              <a:t>F1 dev tanpa repair lebih tinggi</a:t>
            </a:r>
            <a:endParaRPr lang="en-US" sz="1200" dirty="0"/>
          </a:p>
        </p:txBody>
      </p:sp>
      <p:sp>
        <p:nvSpPr>
          <p:cNvPr id="11" name="Text 8"/>
          <p:cNvSpPr txBox="1"/>
          <p:nvPr/>
        </p:nvSpPr>
        <p:spPr>
          <a:xfrm>
            <a:off x="777240" y="3886200"/>
            <a:ext cx="3017520" cy="2011680"/>
          </a:xfrm>
          <a:prstGeom prst="rect">
            <a:avLst/>
          </a:prstGeom>
          <a:noFill/>
          <a:ln/>
        </p:spPr>
        <p:txBody>
          <a:bodyPr wrap="square" lIns="0" tIns="0" rIns="0" bIns="0" rtlCol="0" anchor="t"/>
          <a:lstStyle/>
          <a:p>
            <a:pPr indent="0" marL="0">
              <a:spcAft>
                <a:spcPts val="600"/>
              </a:spcAft>
              <a:buNone/>
            </a:pPr>
            <a:r>
              <a:rPr lang="en-US" sz="1200" dirty="0">
                <a:solidFill>
                  <a:srgbClr val="1F2937"/>
                </a:solidFill>
                <a:latin typeface="Arial" pitchFamily="34" charset="0"/>
                <a:ea typeface="Arial" pitchFamily="34" charset="-122"/>
                <a:cs typeface="Arial" pitchFamily="34" charset="-120"/>
              </a:rPr>
              <a:t>Test: 27,4 dengan repair, 31,3 tanpa.</a:t>
            </a:r>
            <a:endParaRPr lang="en-US" sz="1200" dirty="0"/>
          </a:p>
          <a:p>
            <a:pPr indent="0" marL="0">
              <a:spcAft>
                <a:spcPts val="600"/>
              </a:spcAft>
              <a:buNone/>
            </a:pPr>
            <a:r>
              <a:rPr lang="en-US" sz="1200" dirty="0">
                <a:solidFill>
                  <a:srgbClr val="1F2937"/>
                </a:solidFill>
                <a:latin typeface="Arial" pitchFamily="34" charset="0"/>
                <a:ea typeface="Arial" pitchFamily="34" charset="-122"/>
                <a:cs typeface="Arial" pitchFamily="34" charset="-120"/>
              </a:rPr>
              <a:t>Repair mengubah I- yatim menjadi B- dan menambah entitas palsu.</a:t>
            </a:r>
            <a:endParaRPr lang="en-US" sz="1200" dirty="0"/>
          </a:p>
          <a:p>
            <a:pPr indent="0" marL="0">
              <a:spcAft>
                <a:spcPts val="600"/>
              </a:spcAft>
              <a:buNone/>
            </a:pPr>
            <a:r>
              <a:rPr lang="en-US" sz="1200" dirty="0">
                <a:solidFill>
                  <a:srgbClr val="1F2937"/>
                </a:solidFill>
                <a:latin typeface="Arial" pitchFamily="34" charset="0"/>
                <a:ea typeface="Arial" pitchFamily="34" charset="-122"/>
                <a:cs typeface="Arial" pitchFamily="34" charset="-120"/>
              </a:rPr>
              <a:t>Dibuang, keputusan diambil dari dev.</a:t>
            </a:r>
            <a:endParaRPr lang="en-US" sz="1200" dirty="0"/>
          </a:p>
        </p:txBody>
      </p:sp>
      <p:sp>
        <p:nvSpPr>
          <p:cNvPr id="12" name="Shape 9"/>
          <p:cNvSpPr/>
          <p:nvPr/>
        </p:nvSpPr>
        <p:spPr>
          <a:xfrm>
            <a:off x="4352544" y="1783080"/>
            <a:ext cx="3474720" cy="3657600"/>
          </a:xfrm>
          <a:prstGeom prst="rect">
            <a:avLst/>
          </a:prstGeom>
          <a:solidFill>
            <a:srgbClr val="F4F5F7"/>
          </a:solidFill>
          <a:ln w="6350">
            <a:solidFill>
              <a:srgbClr val="F4F5F7"/>
            </a:solidFill>
            <a:prstDash val="solid"/>
          </a:ln>
        </p:spPr>
      </p:sp>
      <p:sp>
        <p:nvSpPr>
          <p:cNvPr id="13" name="Text 10"/>
          <p:cNvSpPr txBox="1"/>
          <p:nvPr/>
        </p:nvSpPr>
        <p:spPr>
          <a:xfrm>
            <a:off x="4581144" y="1965960"/>
            <a:ext cx="3017520" cy="548640"/>
          </a:xfrm>
          <a:prstGeom prst="rect">
            <a:avLst/>
          </a:prstGeom>
          <a:noFill/>
          <a:ln/>
        </p:spPr>
        <p:txBody>
          <a:bodyPr wrap="square" lIns="0" tIns="0" rIns="0" bIns="0" rtlCol="0" anchor="t"/>
          <a:lstStyle/>
          <a:p>
            <a:pPr indent="0" marL="0">
              <a:buNone/>
            </a:pPr>
            <a:r>
              <a:rPr lang="en-US" sz="1500" b="1" dirty="0">
                <a:solidFill>
                  <a:srgbClr val="12406A"/>
                </a:solidFill>
                <a:latin typeface="Arial" pitchFamily="34" charset="0"/>
                <a:ea typeface="Arial" pitchFamily="34" charset="-122"/>
                <a:cs typeface="Arial" pitchFamily="34" charset="-120"/>
              </a:rPr>
              <a:t>Pembobotan kelas pada SVM</a:t>
            </a:r>
            <a:endParaRPr lang="en-US" sz="1500" dirty="0"/>
          </a:p>
        </p:txBody>
      </p:sp>
      <p:sp>
        <p:nvSpPr>
          <p:cNvPr id="14" name="Text 11"/>
          <p:cNvSpPr txBox="1"/>
          <p:nvPr/>
        </p:nvSpPr>
        <p:spPr>
          <a:xfrm>
            <a:off x="4581144" y="2560320"/>
            <a:ext cx="3017520" cy="731520"/>
          </a:xfrm>
          <a:prstGeom prst="rect">
            <a:avLst/>
          </a:prstGeom>
          <a:noFill/>
          <a:ln/>
        </p:spPr>
        <p:txBody>
          <a:bodyPr wrap="square" lIns="0" tIns="0" rIns="0" bIns="0" rtlCol="0" anchor="ctr"/>
          <a:lstStyle/>
          <a:p>
            <a:pPr indent="0" marL="0">
              <a:buNone/>
            </a:pPr>
            <a:r>
              <a:rPr lang="en-US" sz="3400" b="1" dirty="0">
                <a:solidFill>
                  <a:srgbClr val="12406A"/>
                </a:solidFill>
                <a:latin typeface="Arial" pitchFamily="34" charset="0"/>
                <a:ea typeface="Arial" pitchFamily="34" charset="-122"/>
                <a:cs typeface="Arial" pitchFamily="34" charset="-120"/>
              </a:rPr>
              <a:t>18,3 → 43,5</a:t>
            </a:r>
            <a:endParaRPr lang="en-US" sz="3400" dirty="0"/>
          </a:p>
        </p:txBody>
      </p:sp>
      <p:sp>
        <p:nvSpPr>
          <p:cNvPr id="15" name="Text 12"/>
          <p:cNvSpPr txBox="1"/>
          <p:nvPr/>
        </p:nvSpPr>
        <p:spPr>
          <a:xfrm>
            <a:off x="4581144" y="3337560"/>
            <a:ext cx="3017520" cy="457200"/>
          </a:xfrm>
          <a:prstGeom prst="rect">
            <a:avLst/>
          </a:prstGeom>
          <a:noFill/>
          <a:ln/>
        </p:spPr>
        <p:txBody>
          <a:bodyPr wrap="square" lIns="0" tIns="0" rIns="0" bIns="0" rtlCol="0" anchor="t"/>
          <a:lstStyle/>
          <a:p>
            <a:pPr indent="0" marL="0">
              <a:buNone/>
            </a:pPr>
            <a:r>
              <a:rPr lang="en-US" sz="1200" dirty="0">
                <a:solidFill>
                  <a:srgbClr val="5B6B7C"/>
                </a:solidFill>
                <a:latin typeface="Arial" pitchFamily="34" charset="0"/>
                <a:ea typeface="Arial" pitchFamily="34" charset="-122"/>
                <a:cs typeface="Arial" pitchFamily="34" charset="-120"/>
              </a:rPr>
              <a:t>recall dev naik dengan class_weight balanced</a:t>
            </a:r>
            <a:endParaRPr lang="en-US" sz="1200" dirty="0"/>
          </a:p>
        </p:txBody>
      </p:sp>
      <p:sp>
        <p:nvSpPr>
          <p:cNvPr id="16" name="Text 13"/>
          <p:cNvSpPr txBox="1"/>
          <p:nvPr/>
        </p:nvSpPr>
        <p:spPr>
          <a:xfrm>
            <a:off x="4581144" y="3886200"/>
            <a:ext cx="3017520" cy="2011680"/>
          </a:xfrm>
          <a:prstGeom prst="rect">
            <a:avLst/>
          </a:prstGeom>
          <a:noFill/>
          <a:ln/>
        </p:spPr>
        <p:txBody>
          <a:bodyPr wrap="square" lIns="0" tIns="0" rIns="0" bIns="0" rtlCol="0" anchor="t"/>
          <a:lstStyle/>
          <a:p>
            <a:pPr indent="0" marL="0">
              <a:spcAft>
                <a:spcPts val="600"/>
              </a:spcAft>
              <a:buNone/>
            </a:pPr>
            <a:r>
              <a:rPr lang="en-US" sz="1200" dirty="0">
                <a:solidFill>
                  <a:srgbClr val="1F2937"/>
                </a:solidFill>
                <a:latin typeface="Arial" pitchFamily="34" charset="0"/>
                <a:ea typeface="Arial" pitchFamily="34" charset="-122"/>
                <a:cs typeface="Arial" pitchFamily="34" charset="-120"/>
              </a:rPr>
              <a:t>F1 dev 29,2 menjadi 41,4.</a:t>
            </a:r>
            <a:endParaRPr lang="en-US" sz="1200" dirty="0"/>
          </a:p>
          <a:p>
            <a:pPr indent="0" marL="0">
              <a:spcAft>
                <a:spcPts val="600"/>
              </a:spcAft>
              <a:buNone/>
            </a:pPr>
            <a:r>
              <a:rPr lang="en-US" sz="1200" dirty="0">
                <a:solidFill>
                  <a:srgbClr val="1F2937"/>
                </a:solidFill>
                <a:latin typeface="Arial" pitchFamily="34" charset="0"/>
                <a:ea typeface="Arial" pitchFamily="34" charset="-122"/>
                <a:cs typeface="Arial" pitchFamily="34" charset="-120"/>
              </a:rPr>
              <a:t>Presisi turun dari 72,2 ke 39,5.</a:t>
            </a:r>
            <a:endParaRPr lang="en-US" sz="1200" dirty="0"/>
          </a:p>
          <a:p>
            <a:pPr indent="0" marL="0">
              <a:spcAft>
                <a:spcPts val="600"/>
              </a:spcAft>
              <a:buNone/>
            </a:pPr>
            <a:r>
              <a:rPr lang="en-US" sz="1200" dirty="0">
                <a:solidFill>
                  <a:srgbClr val="1F2937"/>
                </a:solidFill>
                <a:latin typeface="Arial" pitchFamily="34" charset="0"/>
                <a:ea typeface="Arial" pitchFamily="34" charset="-122"/>
                <a:cs typeface="Arial" pitchFamily="34" charset="-120"/>
              </a:rPr>
              <a:t>Klasifikasi per token cenderung memilih O bila kelas tidak dibobot.</a:t>
            </a:r>
            <a:endParaRPr lang="en-US" sz="1200" dirty="0"/>
          </a:p>
        </p:txBody>
      </p:sp>
      <p:sp>
        <p:nvSpPr>
          <p:cNvPr id="17" name="Shape 14"/>
          <p:cNvSpPr/>
          <p:nvPr/>
        </p:nvSpPr>
        <p:spPr>
          <a:xfrm>
            <a:off x="8156448" y="1783080"/>
            <a:ext cx="3474720" cy="3657600"/>
          </a:xfrm>
          <a:prstGeom prst="rect">
            <a:avLst/>
          </a:prstGeom>
          <a:solidFill>
            <a:srgbClr val="F4F5F7"/>
          </a:solidFill>
          <a:ln w="6350">
            <a:solidFill>
              <a:srgbClr val="F4F5F7"/>
            </a:solidFill>
            <a:prstDash val="solid"/>
          </a:ln>
        </p:spPr>
      </p:sp>
      <p:sp>
        <p:nvSpPr>
          <p:cNvPr id="18" name="Text 15"/>
          <p:cNvSpPr txBox="1"/>
          <p:nvPr/>
        </p:nvSpPr>
        <p:spPr>
          <a:xfrm>
            <a:off x="8385048" y="1965960"/>
            <a:ext cx="3017520" cy="548640"/>
          </a:xfrm>
          <a:prstGeom prst="rect">
            <a:avLst/>
          </a:prstGeom>
          <a:noFill/>
          <a:ln/>
        </p:spPr>
        <p:txBody>
          <a:bodyPr wrap="square" lIns="0" tIns="0" rIns="0" bIns="0" rtlCol="0" anchor="t"/>
          <a:lstStyle/>
          <a:p>
            <a:pPr indent="0" marL="0">
              <a:buNone/>
            </a:pPr>
            <a:r>
              <a:rPr lang="en-US" sz="1500" b="1" dirty="0">
                <a:solidFill>
                  <a:srgbClr val="12406A"/>
                </a:solidFill>
                <a:latin typeface="Arial" pitchFamily="34" charset="0"/>
                <a:ea typeface="Arial" pitchFamily="34" charset="-122"/>
                <a:cs typeface="Arial" pitchFamily="34" charset="-120"/>
              </a:rPr>
              <a:t>BIOES vs BIO pada Bi-LSTM CRF</a:t>
            </a:r>
            <a:endParaRPr lang="en-US" sz="1500" dirty="0"/>
          </a:p>
        </p:txBody>
      </p:sp>
      <p:sp>
        <p:nvSpPr>
          <p:cNvPr id="19" name="Text 16"/>
          <p:cNvSpPr txBox="1"/>
          <p:nvPr/>
        </p:nvSpPr>
        <p:spPr>
          <a:xfrm>
            <a:off x="8385048" y="2560320"/>
            <a:ext cx="3017520" cy="731520"/>
          </a:xfrm>
          <a:prstGeom prst="rect">
            <a:avLst/>
          </a:prstGeom>
          <a:noFill/>
          <a:ln/>
        </p:spPr>
        <p:txBody>
          <a:bodyPr wrap="square" lIns="0" tIns="0" rIns="0" bIns="0" rtlCol="0" anchor="ctr"/>
          <a:lstStyle/>
          <a:p>
            <a:pPr indent="0" marL="0">
              <a:buNone/>
            </a:pPr>
            <a:r>
              <a:rPr lang="en-US" sz="3400" b="1" dirty="0">
                <a:solidFill>
                  <a:srgbClr val="12406A"/>
                </a:solidFill>
                <a:latin typeface="Arial" pitchFamily="34" charset="0"/>
                <a:ea typeface="Arial" pitchFamily="34" charset="-122"/>
                <a:cs typeface="Arial" pitchFamily="34" charset="-120"/>
              </a:rPr>
              <a:t>38,5 vs 40,1</a:t>
            </a:r>
            <a:endParaRPr lang="en-US" sz="3400" dirty="0"/>
          </a:p>
        </p:txBody>
      </p:sp>
      <p:sp>
        <p:nvSpPr>
          <p:cNvPr id="20" name="Text 17"/>
          <p:cNvSpPr txBox="1"/>
          <p:nvPr/>
        </p:nvSpPr>
        <p:spPr>
          <a:xfrm>
            <a:off x="8385048" y="3337560"/>
            <a:ext cx="3017520" cy="457200"/>
          </a:xfrm>
          <a:prstGeom prst="rect">
            <a:avLst/>
          </a:prstGeom>
          <a:noFill/>
          <a:ln/>
        </p:spPr>
        <p:txBody>
          <a:bodyPr wrap="square" lIns="0" tIns="0" rIns="0" bIns="0" rtlCol="0" anchor="t"/>
          <a:lstStyle/>
          <a:p>
            <a:pPr indent="0" marL="0">
              <a:buNone/>
            </a:pPr>
            <a:r>
              <a:rPr lang="en-US" sz="1200" dirty="0">
                <a:solidFill>
                  <a:srgbClr val="5B6B7C"/>
                </a:solidFill>
                <a:latin typeface="Arial" pitchFamily="34" charset="0"/>
                <a:ea typeface="Arial" pitchFamily="34" charset="-122"/>
                <a:cs typeface="Arial" pitchFamily="34" charset="-120"/>
              </a:rPr>
              <a:t>F1 test, dilatih di train saja</a:t>
            </a:r>
            <a:endParaRPr lang="en-US" sz="1200" dirty="0"/>
          </a:p>
        </p:txBody>
      </p:sp>
      <p:sp>
        <p:nvSpPr>
          <p:cNvPr id="21" name="Text 18"/>
          <p:cNvSpPr txBox="1"/>
          <p:nvPr/>
        </p:nvSpPr>
        <p:spPr>
          <a:xfrm>
            <a:off x="8385048" y="3886200"/>
            <a:ext cx="3017520" cy="2011680"/>
          </a:xfrm>
          <a:prstGeom prst="rect">
            <a:avLst/>
          </a:prstGeom>
          <a:noFill/>
          <a:ln/>
        </p:spPr>
        <p:txBody>
          <a:bodyPr wrap="square" lIns="0" tIns="0" rIns="0" bIns="0" rtlCol="0" anchor="t"/>
          <a:lstStyle/>
          <a:p>
            <a:pPr indent="0" marL="0">
              <a:spcAft>
                <a:spcPts val="600"/>
              </a:spcAft>
              <a:buNone/>
            </a:pPr>
            <a:r>
              <a:rPr lang="en-US" sz="1200" dirty="0">
                <a:solidFill>
                  <a:srgbClr val="1F2937"/>
                </a:solidFill>
                <a:latin typeface="Arial" pitchFamily="34" charset="0"/>
                <a:ea typeface="Arial" pitchFamily="34" charset="-122"/>
                <a:cs typeface="Arial" pitchFamily="34" charset="-120"/>
              </a:rPr>
              <a:t>F1 dev: BIO 51,3, BIOES 50,6.</a:t>
            </a:r>
            <a:endParaRPr lang="en-US" sz="1200" dirty="0"/>
          </a:p>
          <a:p>
            <a:pPr indent="0" marL="0">
              <a:spcAft>
                <a:spcPts val="600"/>
              </a:spcAft>
              <a:buNone/>
            </a:pPr>
            <a:r>
              <a:rPr lang="en-US" sz="1200" dirty="0">
                <a:solidFill>
                  <a:srgbClr val="1F2937"/>
                </a:solidFill>
                <a:latin typeface="Arial" pitchFamily="34" charset="0"/>
                <a:ea typeface="Arial" pitchFamily="34" charset="-122"/>
                <a:cs typeface="Arial" pitchFamily="34" charset="-120"/>
              </a:rPr>
              <a:t>Selisih 1,6 poin masih di dalam rentang antar-seed (sekitar 2 poin).</a:t>
            </a:r>
            <a:endParaRPr lang="en-US" sz="1200" dirty="0"/>
          </a:p>
          <a:p>
            <a:pPr indent="0" marL="0">
              <a:spcAft>
                <a:spcPts val="600"/>
              </a:spcAft>
              <a:buNone/>
            </a:pPr>
            <a:r>
              <a:rPr lang="en-US" sz="1200" dirty="0">
                <a:solidFill>
                  <a:srgbClr val="1F2937"/>
                </a:solidFill>
                <a:latin typeface="Arial" pitchFamily="34" charset="0"/>
                <a:ea typeface="Arial" pitchFamily="34" charset="-122"/>
                <a:cs typeface="Arial" pitchFamily="34" charset="-120"/>
              </a:rPr>
              <a:t>Tetap BIO. Belum ada bukti BIOES lebih baik.</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B8960C"/>
                </a:solidFill>
                <a:latin typeface="Arial" pitchFamily="34" charset="0"/>
                <a:ea typeface="Arial" pitchFamily="34" charset="-122"/>
                <a:cs typeface="Arial" pitchFamily="34" charset="-120"/>
              </a:rPr>
              <a:t>PELATIHAN</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12406A"/>
                </a:solidFill>
                <a:latin typeface="Arial" pitchFamily="34" charset="0"/>
                <a:ea typeface="Arial" pitchFamily="34" charset="-122"/>
                <a:cs typeface="Arial" pitchFamily="34" charset="-120"/>
              </a:rPr>
              <a:t>Kurva pelatihan Bi-LSTM CRF: naik cepat, lalu datar</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C"/>
                </a:solidFill>
                <a:latin typeface="Arial" pitchFamily="34" charset="0"/>
                <a:ea typeface="Arial" pitchFamily="34" charset="-122"/>
                <a:cs typeface="Arial" pitchFamily="34" charset="-120"/>
              </a:rPr>
              <a:t>Kelompok 1 · Pemrosesan Bahasa Alami Lanjut · UGM</a:t>
            </a:r>
            <a:endParaRPr lang="en-US" sz="1000" dirty="0"/>
          </a:p>
        </p:txBody>
      </p:sp>
      <p:sp>
        <p:nvSpPr>
          <p:cNvPr id="5" name="Text 3"/>
          <p:cNvSpPr txBox="1"/>
          <p:nvPr/>
        </p:nvSpPr>
        <p:spPr>
          <a:xfrm>
            <a:off x="10728655" y="6446520"/>
            <a:ext cx="914400" cy="228600"/>
          </a:xfrm>
          <a:prstGeom prst="rect">
            <a:avLst/>
          </a:prstGeom>
          <a:noFill/>
          <a:ln/>
        </p:spPr>
        <p:txBody>
          <a:bodyPr wrap="square" lIns="0" tIns="0" rIns="0" bIns="0" rtlCol="0" anchor="ctr"/>
          <a:lstStyle/>
          <a:p>
            <a:pPr algn="r" indent="0" marL="0">
              <a:buNone/>
            </a:pPr>
            <a:r>
              <a:rPr lang="en-US" sz="1000" dirty="0">
                <a:solidFill>
                  <a:srgbClr val="5B6B7C"/>
                </a:solidFill>
                <a:latin typeface="Arial" pitchFamily="34" charset="0"/>
                <a:ea typeface="Arial" pitchFamily="34" charset="-122"/>
                <a:cs typeface="Arial" pitchFamily="34" charset="-120"/>
              </a:rPr>
              <a:t>14</a:t>
            </a:r>
            <a:endParaRPr lang="en-US" sz="1000" dirty="0"/>
          </a:p>
        </p:txBody>
      </p:sp>
      <p:graphicFrame>
        <p:nvGraphicFramePr>
          <p:cNvPr id="7" name="Chart 0" descr=""/>
          <p:cNvGraphicFramePr/>
          <p:nvPr/>
        </p:nvGraphicFramePr>
        <p:xfrm>
          <a:off x="548640" y="1691640"/>
          <a:ext cx="7589520" cy="434340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412480" y="1783080"/>
            <a:ext cx="3227832" cy="4251960"/>
          </a:xfrm>
          <a:prstGeom prst="rect">
            <a:avLst/>
          </a:prstGeom>
          <a:solidFill>
            <a:srgbClr val="F4F5F7"/>
          </a:solidFill>
          <a:ln w="6350">
            <a:solidFill>
              <a:srgbClr val="F4F5F7"/>
            </a:solidFill>
            <a:prstDash val="solid"/>
          </a:ln>
        </p:spPr>
      </p:sp>
      <p:sp>
        <p:nvSpPr>
          <p:cNvPr id="9" name="Text 5"/>
          <p:cNvSpPr txBox="1"/>
          <p:nvPr/>
        </p:nvSpPr>
        <p:spPr>
          <a:xfrm>
            <a:off x="8641080" y="1965960"/>
            <a:ext cx="2770632" cy="3886200"/>
          </a:xfrm>
          <a:prstGeom prst="rect">
            <a:avLst/>
          </a:prstGeom>
          <a:noFill/>
          <a:ln/>
        </p:spPr>
        <p:txBody>
          <a:bodyPr wrap="square" lIns="0" tIns="0" rIns="0" bIns="0" rtlCol="0" anchor="t"/>
          <a:lstStyle/>
          <a:p>
            <a:pPr indent="0" marL="0">
              <a:spcAft>
                <a:spcPts val="800"/>
              </a:spcAft>
              <a:buNone/>
            </a:pPr>
            <a:r>
              <a:rPr lang="en-US" sz="1500" b="1" dirty="0">
                <a:solidFill>
                  <a:srgbClr val="12406A"/>
                </a:solidFill>
                <a:latin typeface="Arial" pitchFamily="34" charset="0"/>
                <a:ea typeface="Arial" pitchFamily="34" charset="-122"/>
                <a:cs typeface="Arial" pitchFamily="34" charset="-120"/>
              </a:rPr>
              <a:t>Bacaan</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BIO: F1 dev tertinggi 51,3 pada epoch 18.</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BIOES: 50,6 pada epoch 14.</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Ayunan antar-epoch sekitar 2 poin. Epoch dipilih dari dev, lalu model final dilatih ulang selama epoch itu.</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B8960C"/>
                </a:solidFill>
                <a:latin typeface="Arial" pitchFamily="34" charset="0"/>
                <a:ea typeface="Arial" pitchFamily="34" charset="-122"/>
                <a:cs typeface="Arial" pitchFamily="34" charset="-120"/>
              </a:rPr>
              <a:t>ANALISIS</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12406A"/>
                </a:solidFill>
                <a:latin typeface="Arial" pitchFamily="34" charset="0"/>
                <a:ea typeface="Arial" pitchFamily="34" charset="-122"/>
                <a:cs typeface="Arial" pitchFamily="34" charset="-120"/>
              </a:rPr>
              <a:t>Entitas baru adalah sumber utama kegagalan</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C"/>
                </a:solidFill>
                <a:latin typeface="Arial" pitchFamily="34" charset="0"/>
                <a:ea typeface="Arial" pitchFamily="34" charset="-122"/>
                <a:cs typeface="Arial" pitchFamily="34" charset="-120"/>
              </a:rPr>
              <a:t>Kelompok 1 · Pemrosesan Bahasa Alami Lanjut · UGM</a:t>
            </a:r>
            <a:endParaRPr lang="en-US" sz="1000" dirty="0"/>
          </a:p>
        </p:txBody>
      </p:sp>
      <p:sp>
        <p:nvSpPr>
          <p:cNvPr id="5" name="Text 3"/>
          <p:cNvSpPr txBox="1"/>
          <p:nvPr/>
        </p:nvSpPr>
        <p:spPr>
          <a:xfrm>
            <a:off x="10728655" y="6446520"/>
            <a:ext cx="914400" cy="228600"/>
          </a:xfrm>
          <a:prstGeom prst="rect">
            <a:avLst/>
          </a:prstGeom>
          <a:noFill/>
          <a:ln/>
        </p:spPr>
        <p:txBody>
          <a:bodyPr wrap="square" lIns="0" tIns="0" rIns="0" bIns="0" rtlCol="0" anchor="ctr"/>
          <a:lstStyle/>
          <a:p>
            <a:pPr algn="r" indent="0" marL="0">
              <a:buNone/>
            </a:pPr>
            <a:r>
              <a:rPr lang="en-US" sz="1000" dirty="0">
                <a:solidFill>
                  <a:srgbClr val="5B6B7C"/>
                </a:solidFill>
                <a:latin typeface="Arial" pitchFamily="34" charset="0"/>
                <a:ea typeface="Arial" pitchFamily="34" charset="-122"/>
                <a:cs typeface="Arial" pitchFamily="34" charset="-120"/>
              </a:rPr>
              <a:t>15</a:t>
            </a:r>
            <a:endParaRPr lang="en-US" sz="1000" dirty="0"/>
          </a:p>
        </p:txBody>
      </p:sp>
      <p:graphicFrame>
        <p:nvGraphicFramePr>
          <p:cNvPr id="7" name="Chart 0" descr=""/>
          <p:cNvGraphicFramePr/>
          <p:nvPr/>
        </p:nvGraphicFramePr>
        <p:xfrm>
          <a:off x="548640" y="1691640"/>
          <a:ext cx="7498080" cy="434340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321040" y="1783080"/>
            <a:ext cx="3319272" cy="4251960"/>
          </a:xfrm>
          <a:prstGeom prst="rect">
            <a:avLst/>
          </a:prstGeom>
          <a:solidFill>
            <a:srgbClr val="F4F5F7"/>
          </a:solidFill>
          <a:ln w="6350">
            <a:solidFill>
              <a:srgbClr val="F4F5F7"/>
            </a:solidFill>
            <a:prstDash val="solid"/>
          </a:ln>
        </p:spPr>
      </p:sp>
      <p:sp>
        <p:nvSpPr>
          <p:cNvPr id="9" name="Text 5"/>
          <p:cNvSpPr txBox="1"/>
          <p:nvPr/>
        </p:nvSpPr>
        <p:spPr>
          <a:xfrm>
            <a:off x="8549640" y="1965960"/>
            <a:ext cx="2862072" cy="3886200"/>
          </a:xfrm>
          <a:prstGeom prst="rect">
            <a:avLst/>
          </a:prstGeom>
          <a:noFill/>
          <a:ln/>
        </p:spPr>
        <p:txBody>
          <a:bodyPr wrap="square" lIns="0" tIns="0" rIns="0" bIns="0" rtlCol="0" anchor="t"/>
          <a:lstStyle/>
          <a:p>
            <a:pPr indent="0" marL="0">
              <a:spcAft>
                <a:spcPts val="800"/>
              </a:spcAft>
              <a:buNone/>
            </a:pPr>
            <a:r>
              <a:rPr lang="en-US" sz="1500" b="1" dirty="0">
                <a:solidFill>
                  <a:srgbClr val="12406A"/>
                </a:solidFill>
                <a:latin typeface="Arial" pitchFamily="34" charset="0"/>
                <a:ea typeface="Arial" pitchFamily="34" charset="-122"/>
                <a:cs typeface="Arial" pitchFamily="34" charset="-120"/>
              </a:rPr>
              <a:t>Recall entitas</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Entitas baru: 16 sampai 28.</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Entitas yang pernah dilihat: 60 sampai 84.</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Terhadap train + dev, 90% mention entitas test masih baru (98% bila hanya train). Skor total mengikuti angka yang rendah itu.</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B8960C"/>
                </a:solidFill>
                <a:latin typeface="Arial" pitchFamily="34" charset="0"/>
                <a:ea typeface="Arial" pitchFamily="34" charset="-122"/>
                <a:cs typeface="Arial" pitchFamily="34" charset="-120"/>
              </a:rPr>
              <a:t>ANALISIS</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12406A"/>
                </a:solidFill>
                <a:latin typeface="Arial" pitchFamily="34" charset="0"/>
                <a:ea typeface="Arial" pitchFamily="34" charset="-122"/>
                <a:cs typeface="Arial" pitchFamily="34" charset="-120"/>
              </a:rPr>
              <a:t>Huruf kecil sangat sulit, Bi-LSTM CRF unggul pada entitas panjang</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C"/>
                </a:solidFill>
                <a:latin typeface="Arial" pitchFamily="34" charset="0"/>
                <a:ea typeface="Arial" pitchFamily="34" charset="-122"/>
                <a:cs typeface="Arial" pitchFamily="34" charset="-120"/>
              </a:rPr>
              <a:t>Kelompok 1 · Pemrosesan Bahasa Alami Lanjut · UGM</a:t>
            </a:r>
            <a:endParaRPr lang="en-US" sz="1000" dirty="0"/>
          </a:p>
        </p:txBody>
      </p:sp>
      <p:sp>
        <p:nvSpPr>
          <p:cNvPr id="5" name="Text 3"/>
          <p:cNvSpPr txBox="1"/>
          <p:nvPr/>
        </p:nvSpPr>
        <p:spPr>
          <a:xfrm>
            <a:off x="10728655" y="6446520"/>
            <a:ext cx="914400" cy="228600"/>
          </a:xfrm>
          <a:prstGeom prst="rect">
            <a:avLst/>
          </a:prstGeom>
          <a:noFill/>
          <a:ln/>
        </p:spPr>
        <p:txBody>
          <a:bodyPr wrap="square" lIns="0" tIns="0" rIns="0" bIns="0" rtlCol="0" anchor="ctr"/>
          <a:lstStyle/>
          <a:p>
            <a:pPr algn="r" indent="0" marL="0">
              <a:buNone/>
            </a:pPr>
            <a:r>
              <a:rPr lang="en-US" sz="1000" dirty="0">
                <a:solidFill>
                  <a:srgbClr val="5B6B7C"/>
                </a:solidFill>
                <a:latin typeface="Arial" pitchFamily="34" charset="0"/>
                <a:ea typeface="Arial" pitchFamily="34" charset="-122"/>
                <a:cs typeface="Arial" pitchFamily="34" charset="-120"/>
              </a:rPr>
              <a:t>16</a:t>
            </a:r>
            <a:endParaRPr lang="en-US" sz="1000" dirty="0"/>
          </a:p>
        </p:txBody>
      </p:sp>
      <p:graphicFrame>
        <p:nvGraphicFramePr>
          <p:cNvPr id="7" name="Chart 0" descr=""/>
          <p:cNvGraphicFramePr/>
          <p:nvPr/>
        </p:nvGraphicFramePr>
        <p:xfrm>
          <a:off x="548640" y="1691640"/>
          <a:ext cx="7863840" cy="434340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686800" y="1783080"/>
            <a:ext cx="2953512" cy="4251960"/>
          </a:xfrm>
          <a:prstGeom prst="rect">
            <a:avLst/>
          </a:prstGeom>
          <a:solidFill>
            <a:srgbClr val="F4F5F7"/>
          </a:solidFill>
          <a:ln w="6350">
            <a:solidFill>
              <a:srgbClr val="F4F5F7"/>
            </a:solidFill>
            <a:prstDash val="solid"/>
          </a:ln>
        </p:spPr>
      </p:sp>
      <p:sp>
        <p:nvSpPr>
          <p:cNvPr id="9" name="Text 5"/>
          <p:cNvSpPr txBox="1"/>
          <p:nvPr/>
        </p:nvSpPr>
        <p:spPr>
          <a:xfrm>
            <a:off x="8915400" y="1965960"/>
            <a:ext cx="2496312" cy="3886200"/>
          </a:xfrm>
          <a:prstGeom prst="rect">
            <a:avLst/>
          </a:prstGeom>
          <a:noFill/>
          <a:ln/>
        </p:spPr>
        <p:txBody>
          <a:bodyPr wrap="square" lIns="0" tIns="0" rIns="0" bIns="0" rtlCol="0" anchor="t"/>
          <a:lstStyle/>
          <a:p>
            <a:pPr indent="0" marL="0">
              <a:spcAft>
                <a:spcPts val="800"/>
              </a:spcAft>
              <a:buNone/>
            </a:pPr>
            <a:r>
              <a:rPr lang="en-US" sz="1500" b="1" dirty="0">
                <a:solidFill>
                  <a:srgbClr val="12406A"/>
                </a:solidFill>
                <a:latin typeface="Arial" pitchFamily="34" charset="0"/>
                <a:ea typeface="Arial" pitchFamily="34" charset="-122"/>
                <a:cs typeface="Arial" pitchFamily="34" charset="-120"/>
              </a:rPr>
              <a:t>Recall entitas</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Huruf kecil: 10 atau kurang.</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2 token atau lebih: Bi-LSTM CRF 35, CRF dan SVM sekitar 19.</a:t>
            </a:r>
            <a:endParaRPr lang="en-US" sz="1300" dirty="0"/>
          </a:p>
          <a:p>
            <a:pPr indent="0" marL="0">
              <a:spcAft>
                <a:spcPts val="800"/>
              </a:spcAft>
              <a:buNone/>
            </a:pPr>
            <a:r>
              <a:rPr lang="en-US" sz="1300" dirty="0">
                <a:solidFill>
                  <a:srgbClr val="1F2937"/>
                </a:solidFill>
                <a:latin typeface="Arial" pitchFamily="34" charset="0"/>
                <a:ea typeface="Arial" pitchFamily="34" charset="-122"/>
                <a:cs typeface="Arial" pitchFamily="34" charset="-120"/>
              </a:rPr>
              <a:t>Kapital: setiap token entitas diawali huruf besar. Kelompok saling tumpang tindih.</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B8960C"/>
                </a:solidFill>
                <a:latin typeface="Arial" pitchFamily="34" charset="0"/>
                <a:ea typeface="Arial" pitchFamily="34" charset="-122"/>
                <a:cs typeface="Arial" pitchFamily="34" charset="-120"/>
              </a:rPr>
              <a:t>CONTOH PREDIKSI</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12406A"/>
                </a:solidFill>
                <a:latin typeface="Arial" pitchFamily="34" charset="0"/>
                <a:ea typeface="Arial" pitchFamily="34" charset="-122"/>
                <a:cs typeface="Arial" pitchFamily="34" charset="-120"/>
              </a:rPr>
              <a:t>Empat kalimat test dan tebakan tiap model</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C"/>
                </a:solidFill>
                <a:latin typeface="Arial" pitchFamily="34" charset="0"/>
                <a:ea typeface="Arial" pitchFamily="34" charset="-122"/>
                <a:cs typeface="Arial" pitchFamily="34" charset="-120"/>
              </a:rPr>
              <a:t>Kelompok 1 · Pemrosesan Bahasa Alami Lanjut · UGM</a:t>
            </a:r>
            <a:endParaRPr lang="en-US" sz="1000" dirty="0"/>
          </a:p>
        </p:txBody>
      </p:sp>
      <p:sp>
        <p:nvSpPr>
          <p:cNvPr id="5" name="Text 3"/>
          <p:cNvSpPr txBox="1"/>
          <p:nvPr/>
        </p:nvSpPr>
        <p:spPr>
          <a:xfrm>
            <a:off x="10728655" y="6446520"/>
            <a:ext cx="914400" cy="228600"/>
          </a:xfrm>
          <a:prstGeom prst="rect">
            <a:avLst/>
          </a:prstGeom>
          <a:noFill/>
          <a:ln/>
        </p:spPr>
        <p:txBody>
          <a:bodyPr wrap="square" lIns="0" tIns="0" rIns="0" bIns="0" rtlCol="0" anchor="ctr"/>
          <a:lstStyle/>
          <a:p>
            <a:pPr algn="r" indent="0" marL="0">
              <a:buNone/>
            </a:pPr>
            <a:r>
              <a:rPr lang="en-US" sz="1000" dirty="0">
                <a:solidFill>
                  <a:srgbClr val="5B6B7C"/>
                </a:solidFill>
                <a:latin typeface="Arial" pitchFamily="34" charset="0"/>
                <a:ea typeface="Arial" pitchFamily="34" charset="-122"/>
                <a:cs typeface="Arial"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383280"/>
                <a:gridCol w="1965960"/>
                <a:gridCol w="1828800"/>
                <a:gridCol w="1965960"/>
                <a:gridCol w="1947672"/>
              </a:tblGrid>
              <a:tr h="457200">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Kalimat</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2406A"/>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Gold</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2406A"/>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CRF</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2406A"/>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SVM</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2406A"/>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Bi-LSTM CRF</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2406A"/>
                    </a:solidFill>
                  </a:tcPr>
                </a:tc>
              </a:tr>
              <a:tr h="777240">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&amp;gt; Umm , where are all these alleged criticisms ?</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F2937"/>
                          </a:solidFill>
                          <a:latin typeface="Arial" pitchFamily="34" charset="0"/>
                          <a:ea typeface="Arial" pitchFamily="34" charset="-122"/>
                          <a:cs typeface="Arial" pitchFamily="34" charset="-120"/>
                        </a:rPr>
                        <a:t>tanpa entitas</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Umm = location</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8E4E0"/>
                    </a:solidFill>
                  </a:tcPr>
                </a:tc>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tanpa entitas</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E3F1EA"/>
                    </a:solidFill>
                  </a:tcPr>
                </a:tc>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tanpa entitas</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E3F1EA"/>
                    </a:solidFill>
                  </a:tcPr>
                </a:tc>
              </a:tr>
              <a:tr h="777240">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Visuals of the avalanche site in Gurez sector .</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F2937"/>
                          </a:solidFill>
                          <a:latin typeface="Arial" pitchFamily="34" charset="0"/>
                          <a:ea typeface="Arial" pitchFamily="34" charset="-122"/>
                          <a:cs typeface="Arial" pitchFamily="34" charset="-120"/>
                        </a:rPr>
                        <a:t>Gurez sector = location</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Gurez = location</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8E4E0"/>
                    </a:solidFill>
                  </a:tcPr>
                </a:tc>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Gurez = product</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8E4E0"/>
                    </a:solidFill>
                  </a:tcPr>
                </a:tc>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Gurez sector = location</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E3F1EA"/>
                    </a:solidFill>
                  </a:tcPr>
                </a:tc>
              </a:tr>
              <a:tr h="777240">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 what you said at Glenn Greenwald in the last thread .</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F2937"/>
                          </a:solidFill>
                          <a:latin typeface="Arial" pitchFamily="34" charset="0"/>
                          <a:ea typeface="Arial" pitchFamily="34" charset="-122"/>
                          <a:cs typeface="Arial" pitchFamily="34" charset="-120"/>
                        </a:rPr>
                        <a:t>Glenn Greenwald = person</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Glenn Greenwald = location</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8E4E0"/>
                    </a:solidFill>
                  </a:tcPr>
                </a:tc>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Glenn = person; Greenwald = location</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8E4E0"/>
                    </a:solidFill>
                  </a:tcPr>
                </a:tc>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Glenn Greenwald = person</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E3F1EA"/>
                    </a:solidFill>
                  </a:tcPr>
                </a:tc>
              </a:tr>
              <a:tr h="777240">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 Source : ANI )</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F2937"/>
                          </a:solidFill>
                          <a:latin typeface="Arial" pitchFamily="34" charset="0"/>
                          <a:ea typeface="Arial" pitchFamily="34" charset="-122"/>
                          <a:cs typeface="Arial" pitchFamily="34" charset="-120"/>
                        </a:rPr>
                        <a:t>ANI = group</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tanpa entitas</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8E4E0"/>
                    </a:solidFill>
                  </a:tcPr>
                </a:tc>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ANI = person</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8E4E0"/>
                    </a:solidFill>
                  </a:tcPr>
                </a:tc>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tanpa entitas</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8E4E0"/>
                    </a:solidFill>
                  </a:tcPr>
                </a:tc>
              </a:tr>
            </a:tbl>
          </a:graphicData>
        </a:graphic>
      </p:graphicFrame>
      <p:sp>
        <p:nvSpPr>
          <p:cNvPr id="8" name="Text 4"/>
          <p:cNvSpPr txBox="1"/>
          <p:nvPr/>
        </p:nvSpPr>
        <p:spPr>
          <a:xfrm>
            <a:off x="548640" y="5623560"/>
            <a:ext cx="11094415" cy="274320"/>
          </a:xfrm>
          <a:prstGeom prst="rect">
            <a:avLst/>
          </a:prstGeom>
          <a:noFill/>
          <a:ln/>
        </p:spPr>
        <p:txBody>
          <a:bodyPr wrap="square" lIns="0" tIns="0" rIns="0" bIns="0" rtlCol="0" anchor="ctr"/>
          <a:lstStyle/>
          <a:p>
            <a:pPr indent="0" marL="0">
              <a:buNone/>
            </a:pPr>
            <a:r>
              <a:rPr lang="en-US" sz="1200" dirty="0">
                <a:solidFill>
                  <a:srgbClr val="5B6B7C"/>
                </a:solidFill>
                <a:latin typeface="Arial" pitchFamily="34" charset="0"/>
                <a:ea typeface="Arial" pitchFamily="34" charset="-122"/>
                <a:cs typeface="Arial" pitchFamily="34" charset="-120"/>
              </a:rPr>
              <a:t>Hijau: sama persis dengan gold. Merah: salah (batas, tipe, atau terlewat). Baris 1 adalah contoh Reddit dari Stage 1.</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B8960C"/>
                </a:solidFill>
                <a:latin typeface="Arial" pitchFamily="34" charset="0"/>
                <a:ea typeface="Arial" pitchFamily="34" charset="-122"/>
                <a:cs typeface="Arial" pitchFamily="34" charset="-120"/>
              </a:rPr>
              <a:t>DISKUSI</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12406A"/>
                </a:solidFill>
                <a:latin typeface="Arial" pitchFamily="34" charset="0"/>
                <a:ea typeface="Arial" pitchFamily="34" charset="-122"/>
                <a:cs typeface="Arial" pitchFamily="34" charset="-120"/>
              </a:rPr>
              <a:t>Keterbatasan hasil</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C"/>
                </a:solidFill>
                <a:latin typeface="Arial" pitchFamily="34" charset="0"/>
                <a:ea typeface="Arial" pitchFamily="34" charset="-122"/>
                <a:cs typeface="Arial" pitchFamily="34" charset="-120"/>
              </a:rPr>
              <a:t>Kelompok 1 · Pemrosesan Bahasa Alami Lanjut · UGM</a:t>
            </a:r>
            <a:endParaRPr lang="en-US" sz="1000" dirty="0"/>
          </a:p>
        </p:txBody>
      </p:sp>
      <p:sp>
        <p:nvSpPr>
          <p:cNvPr id="5" name="Text 3"/>
          <p:cNvSpPr txBox="1"/>
          <p:nvPr/>
        </p:nvSpPr>
        <p:spPr>
          <a:xfrm>
            <a:off x="10728655" y="6446520"/>
            <a:ext cx="914400" cy="228600"/>
          </a:xfrm>
          <a:prstGeom prst="rect">
            <a:avLst/>
          </a:prstGeom>
          <a:noFill/>
          <a:ln/>
        </p:spPr>
        <p:txBody>
          <a:bodyPr wrap="square" lIns="0" tIns="0" rIns="0" bIns="0" rtlCol="0" anchor="ctr"/>
          <a:lstStyle/>
          <a:p>
            <a:pPr algn="r" indent="0" marL="0">
              <a:buNone/>
            </a:pPr>
            <a:r>
              <a:rPr lang="en-US" sz="1000" dirty="0">
                <a:solidFill>
                  <a:srgbClr val="5B6B7C"/>
                </a:solidFill>
                <a:latin typeface="Arial" pitchFamily="34" charset="0"/>
                <a:ea typeface="Arial" pitchFamily="34" charset="-122"/>
                <a:cs typeface="Arial" pitchFamily="34" charset="-120"/>
              </a:rPr>
              <a:t>18</a:t>
            </a:r>
            <a:endParaRPr lang="en-US" sz="1000" dirty="0"/>
          </a:p>
        </p:txBody>
      </p:sp>
      <p:sp>
        <p:nvSpPr>
          <p:cNvPr id="7" name="Shape 4"/>
          <p:cNvSpPr/>
          <p:nvPr/>
        </p:nvSpPr>
        <p:spPr>
          <a:xfrm>
            <a:off x="548640" y="1783080"/>
            <a:ext cx="5376672" cy="2011680"/>
          </a:xfrm>
          <a:prstGeom prst="rect">
            <a:avLst/>
          </a:prstGeom>
          <a:solidFill>
            <a:srgbClr val="F4F5F7"/>
          </a:solidFill>
          <a:ln w="6350">
            <a:solidFill>
              <a:srgbClr val="F4F5F7"/>
            </a:solidFill>
            <a:prstDash val="solid"/>
          </a:ln>
        </p:spPr>
      </p:sp>
      <p:sp>
        <p:nvSpPr>
          <p:cNvPr id="8" name="Text 5"/>
          <p:cNvSpPr txBox="1"/>
          <p:nvPr/>
        </p:nvSpPr>
        <p:spPr>
          <a:xfrm>
            <a:off x="777240" y="1965960"/>
            <a:ext cx="4919472" cy="1645920"/>
          </a:xfrm>
          <a:prstGeom prst="rect">
            <a:avLst/>
          </a:prstGeom>
          <a:noFill/>
          <a:ln/>
        </p:spPr>
        <p:txBody>
          <a:bodyPr wrap="square" lIns="0" tIns="0" rIns="0" bIns="0" rtlCol="0" anchor="t"/>
          <a:lstStyle/>
          <a:p>
            <a:pPr indent="0" marL="0">
              <a:spcAft>
                <a:spcPts val="800"/>
              </a:spcAft>
              <a:buNone/>
            </a:pPr>
            <a:r>
              <a:rPr lang="en-US" sz="1500" b="1" dirty="0">
                <a:solidFill>
                  <a:srgbClr val="12406A"/>
                </a:solidFill>
                <a:latin typeface="Arial" pitchFamily="34" charset="0"/>
                <a:ea typeface="Arial" pitchFamily="34" charset="-122"/>
                <a:cs typeface="Arial" pitchFamily="34" charset="-120"/>
              </a:rPr>
              <a:t>Pembanding tidak setara</a:t>
            </a:r>
            <a:endParaRPr lang="en-US" sz="1300" dirty="0"/>
          </a:p>
          <a:p>
            <a:pPr indent="0" marL="0">
              <a:spcAft>
                <a:spcPts val="800"/>
              </a:spcAft>
              <a:buNone/>
            </a:pPr>
            <a:r>
              <a:rPr lang="en-US" sz="1400" dirty="0">
                <a:solidFill>
                  <a:srgbClr val="1F2937"/>
                </a:solidFill>
                <a:latin typeface="Arial" pitchFamily="34" charset="0"/>
                <a:ea typeface="Arial" pitchFamily="34" charset="-122"/>
                <a:cs typeface="Arial" pitchFamily="34" charset="-120"/>
              </a:rPr>
              <a:t>Anotasi test di repositori sudah dikoreksi (1.079 entitas, di paper 1.040). F1 surface kami memakai huruf kecil. Baca 41,9 vs 41,86 sebagai sekelas, bukan lebih baik.</a:t>
            </a:r>
            <a:endParaRPr lang="en-US" sz="1300" dirty="0"/>
          </a:p>
        </p:txBody>
      </p:sp>
      <p:sp>
        <p:nvSpPr>
          <p:cNvPr id="9" name="Shape 6"/>
          <p:cNvSpPr/>
          <p:nvPr/>
        </p:nvSpPr>
        <p:spPr>
          <a:xfrm>
            <a:off x="6254496" y="1783080"/>
            <a:ext cx="5376672" cy="2011680"/>
          </a:xfrm>
          <a:prstGeom prst="rect">
            <a:avLst/>
          </a:prstGeom>
          <a:solidFill>
            <a:srgbClr val="F4F5F7"/>
          </a:solidFill>
          <a:ln w="6350">
            <a:solidFill>
              <a:srgbClr val="F4F5F7"/>
            </a:solidFill>
            <a:prstDash val="solid"/>
          </a:ln>
        </p:spPr>
      </p:sp>
      <p:sp>
        <p:nvSpPr>
          <p:cNvPr id="10" name="Text 7"/>
          <p:cNvSpPr txBox="1"/>
          <p:nvPr/>
        </p:nvSpPr>
        <p:spPr>
          <a:xfrm>
            <a:off x="6483096" y="1965960"/>
            <a:ext cx="4919472" cy="1645920"/>
          </a:xfrm>
          <a:prstGeom prst="rect">
            <a:avLst/>
          </a:prstGeom>
          <a:noFill/>
          <a:ln/>
        </p:spPr>
        <p:txBody>
          <a:bodyPr wrap="square" lIns="0" tIns="0" rIns="0" bIns="0" rtlCol="0" anchor="t"/>
          <a:lstStyle/>
          <a:p>
            <a:pPr indent="0" marL="0">
              <a:spcAft>
                <a:spcPts val="800"/>
              </a:spcAft>
              <a:buNone/>
            </a:pPr>
            <a:r>
              <a:rPr lang="en-US" sz="1500" b="1" dirty="0">
                <a:solidFill>
                  <a:srgbClr val="12406A"/>
                </a:solidFill>
                <a:latin typeface="Arial" pitchFamily="34" charset="0"/>
                <a:ea typeface="Arial" pitchFamily="34" charset="-122"/>
                <a:cs typeface="Arial" pitchFamily="34" charset="-120"/>
              </a:rPr>
              <a:t>Dev tidak mewakili test</a:t>
            </a:r>
            <a:endParaRPr lang="en-US" sz="1300" dirty="0"/>
          </a:p>
          <a:p>
            <a:pPr indent="0" marL="0">
              <a:spcAft>
                <a:spcPts val="800"/>
              </a:spcAft>
              <a:buNone/>
            </a:pPr>
            <a:r>
              <a:rPr lang="en-US" sz="1400" dirty="0">
                <a:solidFill>
                  <a:srgbClr val="1F2937"/>
                </a:solidFill>
                <a:latin typeface="Arial" pitchFamily="34" charset="0"/>
                <a:ea typeface="Arial" pitchFamily="34" charset="-122"/>
                <a:cs typeface="Arial" pitchFamily="34" charset="-120"/>
              </a:rPr>
              <a:t>F1 dev (train saja) ke F1 test (train + dev): CRF 25,3 ke 27,8, SVM 41,4 ke 31,3, Bi-LSTM CRF 51,3 ke 41,9. Model test memakai data lebih banyak, jadi bukan murni pergeseran domain.</a:t>
            </a:r>
            <a:endParaRPr lang="en-US" sz="1300" dirty="0"/>
          </a:p>
        </p:txBody>
      </p:sp>
      <p:sp>
        <p:nvSpPr>
          <p:cNvPr id="11" name="Shape 8"/>
          <p:cNvSpPr/>
          <p:nvPr/>
        </p:nvSpPr>
        <p:spPr>
          <a:xfrm>
            <a:off x="548640" y="4023360"/>
            <a:ext cx="5376672" cy="2011680"/>
          </a:xfrm>
          <a:prstGeom prst="rect">
            <a:avLst/>
          </a:prstGeom>
          <a:solidFill>
            <a:srgbClr val="F4F5F7"/>
          </a:solidFill>
          <a:ln w="6350">
            <a:solidFill>
              <a:srgbClr val="F4F5F7"/>
            </a:solidFill>
            <a:prstDash val="solid"/>
          </a:ln>
        </p:spPr>
      </p:sp>
      <p:sp>
        <p:nvSpPr>
          <p:cNvPr id="12" name="Text 9"/>
          <p:cNvSpPr txBox="1"/>
          <p:nvPr/>
        </p:nvSpPr>
        <p:spPr>
          <a:xfrm>
            <a:off x="777240" y="4206240"/>
            <a:ext cx="4919472" cy="1645920"/>
          </a:xfrm>
          <a:prstGeom prst="rect">
            <a:avLst/>
          </a:prstGeom>
          <a:noFill/>
          <a:ln/>
        </p:spPr>
        <p:txBody>
          <a:bodyPr wrap="square" lIns="0" tIns="0" rIns="0" bIns="0" rtlCol="0" anchor="t"/>
          <a:lstStyle/>
          <a:p>
            <a:pPr indent="0" marL="0">
              <a:spcAft>
                <a:spcPts val="800"/>
              </a:spcAft>
              <a:buNone/>
            </a:pPr>
            <a:r>
              <a:rPr lang="en-US" sz="1500" b="1" dirty="0">
                <a:solidFill>
                  <a:srgbClr val="12406A"/>
                </a:solidFill>
                <a:latin typeface="Arial" pitchFamily="34" charset="0"/>
                <a:ea typeface="Arial" pitchFamily="34" charset="-122"/>
                <a:cs typeface="Arial" pitchFamily="34" charset="-120"/>
              </a:rPr>
              <a:t>Pengulangan terbatas</a:t>
            </a:r>
            <a:endParaRPr lang="en-US" sz="1300" dirty="0"/>
          </a:p>
          <a:p>
            <a:pPr indent="0" marL="0">
              <a:spcAft>
                <a:spcPts val="800"/>
              </a:spcAft>
              <a:buNone/>
            </a:pPr>
            <a:r>
              <a:rPr lang="en-US" sz="1400" dirty="0">
                <a:solidFill>
                  <a:srgbClr val="1F2937"/>
                </a:solidFill>
                <a:latin typeface="Arial" pitchFamily="34" charset="0"/>
                <a:ea typeface="Arial" pitchFamily="34" charset="-122"/>
                <a:cs typeface="Arial" pitchFamily="34" charset="-120"/>
              </a:rPr>
              <a:t>Bi-LSTM CRF 3 seed (40,8 sampai 42,9). CRF dan SVM satu run. CV 5-fold per dokumen: CRF 39,5 (konfigurasi grid awal), SVM 38,8. Cenderung optimistis karena fold satu domain.</a:t>
            </a:r>
            <a:endParaRPr lang="en-US" sz="1300" dirty="0"/>
          </a:p>
        </p:txBody>
      </p:sp>
      <p:sp>
        <p:nvSpPr>
          <p:cNvPr id="13" name="Shape 10"/>
          <p:cNvSpPr/>
          <p:nvPr/>
        </p:nvSpPr>
        <p:spPr>
          <a:xfrm>
            <a:off x="6254496" y="4023360"/>
            <a:ext cx="5376672" cy="2011680"/>
          </a:xfrm>
          <a:prstGeom prst="rect">
            <a:avLst/>
          </a:prstGeom>
          <a:solidFill>
            <a:srgbClr val="F4F5F7"/>
          </a:solidFill>
          <a:ln w="6350">
            <a:solidFill>
              <a:srgbClr val="F4F5F7"/>
            </a:solidFill>
            <a:prstDash val="solid"/>
          </a:ln>
        </p:spPr>
      </p:sp>
      <p:sp>
        <p:nvSpPr>
          <p:cNvPr id="14" name="Text 11"/>
          <p:cNvSpPr txBox="1"/>
          <p:nvPr/>
        </p:nvSpPr>
        <p:spPr>
          <a:xfrm>
            <a:off x="6483096" y="4206240"/>
            <a:ext cx="4919472" cy="1645920"/>
          </a:xfrm>
          <a:prstGeom prst="rect">
            <a:avLst/>
          </a:prstGeom>
          <a:noFill/>
          <a:ln/>
        </p:spPr>
        <p:txBody>
          <a:bodyPr wrap="square" lIns="0" tIns="0" rIns="0" bIns="0" rtlCol="0" anchor="t"/>
          <a:lstStyle/>
          <a:p>
            <a:pPr indent="0" marL="0">
              <a:spcAft>
                <a:spcPts val="800"/>
              </a:spcAft>
              <a:buNone/>
            </a:pPr>
            <a:r>
              <a:rPr lang="en-US" sz="1500" b="1" dirty="0">
                <a:solidFill>
                  <a:srgbClr val="12406A"/>
                </a:solidFill>
                <a:latin typeface="Arial" pitchFamily="34" charset="0"/>
                <a:ea typeface="Arial" pitchFamily="34" charset="-122"/>
                <a:cs typeface="Arial" pitchFamily="34" charset="-120"/>
              </a:rPr>
              <a:t>Beda dari rencana Stage 1</a:t>
            </a:r>
            <a:endParaRPr lang="en-US" sz="1300" dirty="0"/>
          </a:p>
          <a:p>
            <a:pPr indent="0" marL="0">
              <a:spcAft>
                <a:spcPts val="800"/>
              </a:spcAft>
              <a:buNone/>
            </a:pPr>
            <a:r>
              <a:rPr lang="en-US" sz="1400" dirty="0">
                <a:solidFill>
                  <a:srgbClr val="1F2937"/>
                </a:solidFill>
                <a:latin typeface="Arial" pitchFamily="34" charset="0"/>
                <a:ea typeface="Arial" pitchFamily="34" charset="-122"/>
                <a:cs typeface="Arial" pitchFamily="34" charset="-120"/>
              </a:rPr>
              <a:t>BIO repair dibuang (F1 lebih rendah di dev dan test). Fitur SVM dipangkas ke minimal 3 kemunculan. Bi-LSTM CRF ditulis di JAX. Embedding GloVe dibekukan, tanpa model transformer.</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2A48"/>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200" b="1" spc="200" kern="0" dirty="0">
                <a:solidFill>
                  <a:srgbClr val="FAD400"/>
                </a:solidFill>
                <a:latin typeface="Arial" pitchFamily="34" charset="0"/>
                <a:ea typeface="Arial" pitchFamily="34" charset="-122"/>
                <a:cs typeface="Arial" pitchFamily="34" charset="-120"/>
              </a:rPr>
              <a:t>KESIMPULAN</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Konteks dan representasi kata mengalahkan hafalan</a:t>
            </a:r>
            <a:endParaRPr lang="en-US" sz="3000" dirty="0"/>
          </a:p>
        </p:txBody>
      </p:sp>
      <p:sp>
        <p:nvSpPr>
          <p:cNvPr id="4" name="Shape 2"/>
          <p:cNvSpPr/>
          <p:nvPr/>
        </p:nvSpPr>
        <p:spPr>
          <a:xfrm>
            <a:off x="548640" y="1783080"/>
            <a:ext cx="5943600" cy="1051560"/>
          </a:xfrm>
          <a:prstGeom prst="rect">
            <a:avLst/>
          </a:prstGeom>
          <a:solidFill>
            <a:srgbClr val="123A5E"/>
          </a:solidFill>
          <a:ln w="6350">
            <a:solidFill>
              <a:srgbClr val="123A5E"/>
            </a:solidFill>
            <a:prstDash val="solid"/>
          </a:ln>
        </p:spPr>
      </p:sp>
      <p:sp>
        <p:nvSpPr>
          <p:cNvPr id="5" name="Text 3"/>
          <p:cNvSpPr txBox="1"/>
          <p:nvPr/>
        </p:nvSpPr>
        <p:spPr>
          <a:xfrm>
            <a:off x="731520" y="1783080"/>
            <a:ext cx="2377440" cy="1051560"/>
          </a:xfrm>
          <a:prstGeom prst="rect">
            <a:avLst/>
          </a:prstGeom>
          <a:noFill/>
          <a:ln/>
        </p:spPr>
        <p:txBody>
          <a:bodyPr wrap="square" lIns="0" tIns="0" rIns="0" bIns="0" rtlCol="0" anchor="ctr"/>
          <a:lstStyle/>
          <a:p>
            <a:pPr indent="0" marL="0">
              <a:buNone/>
            </a:pPr>
            <a:r>
              <a:rPr lang="en-US" sz="2600" b="1" dirty="0">
                <a:solidFill>
                  <a:srgbClr val="FAD400"/>
                </a:solidFill>
                <a:latin typeface="Arial" pitchFamily="34" charset="0"/>
                <a:ea typeface="Arial" pitchFamily="34" charset="-122"/>
                <a:cs typeface="Arial" pitchFamily="34" charset="-120"/>
              </a:rPr>
              <a:t>41,9</a:t>
            </a:r>
            <a:endParaRPr lang="en-US" sz="2600" dirty="0"/>
          </a:p>
        </p:txBody>
      </p:sp>
      <p:sp>
        <p:nvSpPr>
          <p:cNvPr id="6" name="Text 4"/>
          <p:cNvSpPr txBox="1"/>
          <p:nvPr/>
        </p:nvSpPr>
        <p:spPr>
          <a:xfrm>
            <a:off x="3200400" y="1783080"/>
            <a:ext cx="3108960" cy="1051560"/>
          </a:xfrm>
          <a:prstGeom prst="rect">
            <a:avLst/>
          </a:prstGeom>
          <a:noFill/>
          <a:ln/>
        </p:spPr>
        <p:txBody>
          <a:bodyPr wrap="square" lIns="0" tIns="0" rIns="0" bIns="0" rtlCol="0" anchor="ctr"/>
          <a:lstStyle/>
          <a:p>
            <a:pPr indent="0" marL="0">
              <a:buNone/>
            </a:pPr>
            <a:r>
              <a:rPr lang="en-US" sz="1300" dirty="0">
                <a:solidFill>
                  <a:srgbClr val="E5ECF5"/>
                </a:solidFill>
                <a:latin typeface="Arial" pitchFamily="34" charset="0"/>
                <a:ea typeface="Arial" pitchFamily="34" charset="-122"/>
                <a:cs typeface="Arial" pitchFamily="34" charset="-120"/>
              </a:rPr>
              <a:t>F1 Bi-LSTM CRF di test (±0,84), sekelas peserta terbaik shared task.</a:t>
            </a:r>
            <a:endParaRPr lang="en-US" sz="1300" dirty="0"/>
          </a:p>
        </p:txBody>
      </p:sp>
      <p:sp>
        <p:nvSpPr>
          <p:cNvPr id="7" name="Shape 5"/>
          <p:cNvSpPr/>
          <p:nvPr/>
        </p:nvSpPr>
        <p:spPr>
          <a:xfrm>
            <a:off x="548640" y="2971800"/>
            <a:ext cx="5943600" cy="1051560"/>
          </a:xfrm>
          <a:prstGeom prst="rect">
            <a:avLst/>
          </a:prstGeom>
          <a:solidFill>
            <a:srgbClr val="123A5E"/>
          </a:solidFill>
          <a:ln w="6350">
            <a:solidFill>
              <a:srgbClr val="123A5E"/>
            </a:solidFill>
            <a:prstDash val="solid"/>
          </a:ln>
        </p:spPr>
      </p:sp>
      <p:sp>
        <p:nvSpPr>
          <p:cNvPr id="8" name="Text 6"/>
          <p:cNvSpPr txBox="1"/>
          <p:nvPr/>
        </p:nvSpPr>
        <p:spPr>
          <a:xfrm>
            <a:off x="731520" y="2971800"/>
            <a:ext cx="2377440" cy="1051560"/>
          </a:xfrm>
          <a:prstGeom prst="rect">
            <a:avLst/>
          </a:prstGeom>
          <a:noFill/>
          <a:ln/>
        </p:spPr>
        <p:txBody>
          <a:bodyPr wrap="square" lIns="0" tIns="0" rIns="0" bIns="0" rtlCol="0" anchor="ctr"/>
          <a:lstStyle/>
          <a:p>
            <a:pPr indent="0" marL="0">
              <a:buNone/>
            </a:pPr>
            <a:r>
              <a:rPr lang="en-US" sz="2600" b="1" dirty="0">
                <a:solidFill>
                  <a:srgbClr val="FAD400"/>
                </a:solidFill>
                <a:latin typeface="Arial" pitchFamily="34" charset="0"/>
                <a:ea typeface="Arial" pitchFamily="34" charset="-122"/>
                <a:cs typeface="Arial" pitchFamily="34" charset="-120"/>
              </a:rPr>
              <a:t>31,3 dan 27,8</a:t>
            </a:r>
            <a:endParaRPr lang="en-US" sz="2600" dirty="0"/>
          </a:p>
        </p:txBody>
      </p:sp>
      <p:sp>
        <p:nvSpPr>
          <p:cNvPr id="9" name="Text 7"/>
          <p:cNvSpPr txBox="1"/>
          <p:nvPr/>
        </p:nvSpPr>
        <p:spPr>
          <a:xfrm>
            <a:off x="3200400" y="2971800"/>
            <a:ext cx="3108960" cy="1051560"/>
          </a:xfrm>
          <a:prstGeom prst="rect">
            <a:avLst/>
          </a:prstGeom>
          <a:noFill/>
          <a:ln/>
        </p:spPr>
        <p:txBody>
          <a:bodyPr wrap="square" lIns="0" tIns="0" rIns="0" bIns="0" rtlCol="0" anchor="ctr"/>
          <a:lstStyle/>
          <a:p>
            <a:pPr indent="0" marL="0">
              <a:buNone/>
            </a:pPr>
            <a:r>
              <a:rPr lang="en-US" sz="1300" dirty="0">
                <a:solidFill>
                  <a:srgbClr val="E5ECF5"/>
                </a:solidFill>
                <a:latin typeface="Arial" pitchFamily="34" charset="0"/>
                <a:ea typeface="Arial" pitchFamily="34" charset="-122"/>
                <a:cs typeface="Arial" pitchFamily="34" charset="-120"/>
              </a:rPr>
              <a:t>F1 SVM dan CRF. Pembobotan kelas mengangkat recall SVM, ongkosnya 606 prediksi palsu.</a:t>
            </a:r>
            <a:endParaRPr lang="en-US" sz="1300" dirty="0"/>
          </a:p>
        </p:txBody>
      </p:sp>
      <p:sp>
        <p:nvSpPr>
          <p:cNvPr id="10" name="Shape 8"/>
          <p:cNvSpPr/>
          <p:nvPr/>
        </p:nvSpPr>
        <p:spPr>
          <a:xfrm>
            <a:off x="548640" y="4160520"/>
            <a:ext cx="5943600" cy="1051560"/>
          </a:xfrm>
          <a:prstGeom prst="rect">
            <a:avLst/>
          </a:prstGeom>
          <a:solidFill>
            <a:srgbClr val="123A5E"/>
          </a:solidFill>
          <a:ln w="6350">
            <a:solidFill>
              <a:srgbClr val="123A5E"/>
            </a:solidFill>
            <a:prstDash val="solid"/>
          </a:ln>
        </p:spPr>
      </p:sp>
      <p:sp>
        <p:nvSpPr>
          <p:cNvPr id="11" name="Text 9"/>
          <p:cNvSpPr txBox="1"/>
          <p:nvPr/>
        </p:nvSpPr>
        <p:spPr>
          <a:xfrm>
            <a:off x="731520" y="4160520"/>
            <a:ext cx="2377440" cy="1051560"/>
          </a:xfrm>
          <a:prstGeom prst="rect">
            <a:avLst/>
          </a:prstGeom>
          <a:noFill/>
          <a:ln/>
        </p:spPr>
        <p:txBody>
          <a:bodyPr wrap="square" lIns="0" tIns="0" rIns="0" bIns="0" rtlCol="0" anchor="ctr"/>
          <a:lstStyle/>
          <a:p>
            <a:pPr indent="0" marL="0">
              <a:buNone/>
            </a:pPr>
            <a:r>
              <a:rPr lang="en-US" sz="2600" b="1" dirty="0">
                <a:solidFill>
                  <a:srgbClr val="FAD400"/>
                </a:solidFill>
                <a:latin typeface="Arial" pitchFamily="34" charset="0"/>
                <a:ea typeface="Arial" pitchFamily="34" charset="-122"/>
                <a:cs typeface="Arial" pitchFamily="34" charset="-120"/>
              </a:rPr>
              <a:t>&lt; 23</a:t>
            </a:r>
            <a:endParaRPr lang="en-US" sz="2600" dirty="0"/>
          </a:p>
        </p:txBody>
      </p:sp>
      <p:sp>
        <p:nvSpPr>
          <p:cNvPr id="12" name="Text 10"/>
          <p:cNvSpPr txBox="1"/>
          <p:nvPr/>
        </p:nvSpPr>
        <p:spPr>
          <a:xfrm>
            <a:off x="3200400" y="4160520"/>
            <a:ext cx="3108960" cy="1051560"/>
          </a:xfrm>
          <a:prstGeom prst="rect">
            <a:avLst/>
          </a:prstGeom>
          <a:noFill/>
          <a:ln/>
        </p:spPr>
        <p:txBody>
          <a:bodyPr wrap="square" lIns="0" tIns="0" rIns="0" bIns="0" rtlCol="0" anchor="ctr"/>
          <a:lstStyle/>
          <a:p>
            <a:pPr indent="0" marL="0">
              <a:buNone/>
            </a:pPr>
            <a:r>
              <a:rPr lang="en-US" sz="1300" dirty="0">
                <a:solidFill>
                  <a:srgbClr val="E5ECF5"/>
                </a:solidFill>
                <a:latin typeface="Arial" pitchFamily="34" charset="0"/>
                <a:ea typeface="Arial" pitchFamily="34" charset="-122"/>
                <a:cs typeface="Arial" pitchFamily="34" charset="-120"/>
              </a:rPr>
              <a:t>F1 untuk corporation, product, creative-work, dan group pada semua model.</a:t>
            </a:r>
            <a:endParaRPr lang="en-US" sz="1300" dirty="0"/>
          </a:p>
        </p:txBody>
      </p:sp>
      <p:sp>
        <p:nvSpPr>
          <p:cNvPr id="13" name="Shape 11"/>
          <p:cNvSpPr/>
          <p:nvPr/>
        </p:nvSpPr>
        <p:spPr>
          <a:xfrm>
            <a:off x="6858000" y="1783080"/>
            <a:ext cx="4782312" cy="3337560"/>
          </a:xfrm>
          <a:prstGeom prst="rect">
            <a:avLst/>
          </a:prstGeom>
          <a:solidFill>
            <a:srgbClr val="123A5E"/>
          </a:solidFill>
          <a:ln w="6350">
            <a:solidFill>
              <a:srgbClr val="123A5E"/>
            </a:solidFill>
            <a:prstDash val="solid"/>
          </a:ln>
        </p:spPr>
      </p:sp>
      <p:sp>
        <p:nvSpPr>
          <p:cNvPr id="14" name="Text 12"/>
          <p:cNvSpPr txBox="1"/>
          <p:nvPr/>
        </p:nvSpPr>
        <p:spPr>
          <a:xfrm>
            <a:off x="7132320" y="1965960"/>
            <a:ext cx="4297680" cy="3108960"/>
          </a:xfrm>
          <a:prstGeom prst="rect">
            <a:avLst/>
          </a:prstGeom>
          <a:noFill/>
          <a:ln/>
        </p:spPr>
        <p:txBody>
          <a:bodyPr wrap="square" lIns="0" tIns="0" rIns="0" bIns="0" rtlCol="0" anchor="t"/>
          <a:lstStyle/>
          <a:p>
            <a:pPr indent="0" marL="0">
              <a:spcAft>
                <a:spcPts val="1000"/>
              </a:spcAft>
              <a:buNone/>
            </a:pPr>
            <a:r>
              <a:rPr lang="en-US" sz="1600" b="1" dirty="0">
                <a:solidFill>
                  <a:srgbClr val="FAD400"/>
                </a:solidFill>
                <a:latin typeface="Arial" pitchFamily="34" charset="0"/>
                <a:ea typeface="Arial" pitchFamily="34" charset="-122"/>
                <a:cs typeface="Arial" pitchFamily="34" charset="-120"/>
              </a:rPr>
              <a:t>Untuk laporan akhir (25 Oktober)</a:t>
            </a:r>
            <a:endParaRPr lang="en-US" sz="1400" dirty="0"/>
          </a:p>
          <a:p>
            <a:pPr indent="0" marL="0">
              <a:spcAft>
                <a:spcPts val="800"/>
              </a:spcAft>
              <a:buNone/>
            </a:pPr>
            <a:r>
              <a:rPr lang="en-US" sz="1400" dirty="0">
                <a:solidFill>
                  <a:srgbClr val="E5ECF5"/>
                </a:solidFill>
                <a:latin typeface="Arial" pitchFamily="34" charset="0"/>
                <a:ea typeface="Arial" pitchFamily="34" charset="-122"/>
                <a:cs typeface="Arial" pitchFamily="34" charset="-120"/>
              </a:rPr>
              <a:t>Ulang CRF dan SVM dengan beberapa seed.</a:t>
            </a:r>
            <a:endParaRPr lang="en-US" sz="1400" dirty="0"/>
          </a:p>
          <a:p>
            <a:pPr indent="0" marL="0">
              <a:spcAft>
                <a:spcPts val="800"/>
              </a:spcAft>
              <a:buNone/>
            </a:pPr>
            <a:r>
              <a:rPr lang="en-US" sz="1400" dirty="0">
                <a:solidFill>
                  <a:srgbClr val="E5ECF5"/>
                </a:solidFill>
                <a:latin typeface="Arial" pitchFamily="34" charset="0"/>
                <a:ea typeface="Arial" pitchFamily="34" charset="-122"/>
                <a:cs typeface="Arial" pitchFamily="34" charset="-120"/>
              </a:rPr>
              <a:t>Uji BIOES dan bobot kelas pada Bi-LSTM CRF dengan beberapa seed.</a:t>
            </a:r>
            <a:endParaRPr lang="en-US" sz="1400" dirty="0"/>
          </a:p>
          <a:p>
            <a:pPr indent="0" marL="0">
              <a:spcAft>
                <a:spcPts val="800"/>
              </a:spcAft>
              <a:buNone/>
            </a:pPr>
            <a:r>
              <a:rPr lang="en-US" sz="1400" dirty="0">
                <a:solidFill>
                  <a:srgbClr val="E5ECF5"/>
                </a:solidFill>
                <a:latin typeface="Arial" pitchFamily="34" charset="0"/>
                <a:ea typeface="Arial" pitchFamily="34" charset="-122"/>
                <a:cs typeface="Arial" pitchFamily="34" charset="-120"/>
              </a:rPr>
              <a:t>Bandingkan dengan embedding kontekstual sebagai opsi.</a:t>
            </a:r>
            <a:endParaRPr lang="en-US" sz="1400" dirty="0"/>
          </a:p>
          <a:p>
            <a:pPr indent="0" marL="0">
              <a:buNone/>
            </a:pPr>
            <a:r>
              <a:rPr lang="en-US" sz="1400" dirty="0">
                <a:solidFill>
                  <a:srgbClr val="E5ECF5"/>
                </a:solidFill>
                <a:latin typeface="Arial" pitchFamily="34" charset="0"/>
                <a:ea typeface="Arial" pitchFamily="34" charset="-122"/>
                <a:cs typeface="Arial" pitchFamily="34" charset="-120"/>
              </a:rPr>
              <a:t>Kode, data, dan hasil dikumpulkan lewat Google Drive.</a:t>
            </a:r>
            <a:endParaRPr lang="en-US" sz="1400" dirty="0"/>
          </a:p>
        </p:txBody>
      </p:sp>
      <p:sp>
        <p:nvSpPr>
          <p:cNvPr id="15" name="Text 13"/>
          <p:cNvSpPr txBox="1"/>
          <p:nvPr/>
        </p:nvSpPr>
        <p:spPr>
          <a:xfrm>
            <a:off x="548640" y="5669280"/>
            <a:ext cx="11094415" cy="45720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Terima kasih. Kami siap menerima pertanyaan.</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B8960C"/>
                </a:solidFill>
                <a:latin typeface="Arial" pitchFamily="34" charset="0"/>
                <a:ea typeface="Arial" pitchFamily="34" charset="-122"/>
                <a:cs typeface="Arial" pitchFamily="34" charset="-120"/>
              </a:rPr>
              <a:t>LAMPIRAN</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12406A"/>
                </a:solidFill>
                <a:latin typeface="Arial" pitchFamily="34" charset="0"/>
                <a:ea typeface="Arial" pitchFamily="34" charset="-122"/>
                <a:cs typeface="Arial" pitchFamily="34" charset="-120"/>
              </a:rPr>
              <a:t>Konfigurasi dan reproduksibilitas</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C"/>
                </a:solidFill>
                <a:latin typeface="Arial" pitchFamily="34" charset="0"/>
                <a:ea typeface="Arial" pitchFamily="34" charset="-122"/>
                <a:cs typeface="Arial" pitchFamily="34" charset="-120"/>
              </a:rPr>
              <a:t>Kelompok 1 · Pemrosesan Bahasa Alami Lanjut · UGM</a:t>
            </a:r>
            <a:endParaRPr lang="en-US" sz="1000" dirty="0"/>
          </a:p>
        </p:txBody>
      </p:sp>
      <p:sp>
        <p:nvSpPr>
          <p:cNvPr id="5" name="Text 3"/>
          <p:cNvSpPr txBox="1"/>
          <p:nvPr/>
        </p:nvSpPr>
        <p:spPr>
          <a:xfrm>
            <a:off x="10728655" y="6446520"/>
            <a:ext cx="914400" cy="228600"/>
          </a:xfrm>
          <a:prstGeom prst="rect">
            <a:avLst/>
          </a:prstGeom>
          <a:noFill/>
          <a:ln/>
        </p:spPr>
        <p:txBody>
          <a:bodyPr wrap="square" lIns="0" tIns="0" rIns="0" bIns="0" rtlCol="0" anchor="ctr"/>
          <a:lstStyle/>
          <a:p>
            <a:pPr algn="r" indent="0" marL="0">
              <a:buNone/>
            </a:pPr>
            <a:r>
              <a:rPr lang="en-US" sz="1000" dirty="0">
                <a:solidFill>
                  <a:srgbClr val="5B6B7C"/>
                </a:solidFill>
                <a:latin typeface="Arial" pitchFamily="34" charset="0"/>
                <a:ea typeface="Arial" pitchFamily="34" charset="-122"/>
                <a:cs typeface="Arial" pitchFamily="34" charset="-120"/>
              </a:rPr>
              <a:t>20</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1828800"/>
                <a:gridCol w="5120640"/>
                <a:gridCol w="4114800"/>
              </a:tblGrid>
              <a:tr h="457200">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Model</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2406A"/>
                    </a:solidFill>
                  </a:tcPr>
                </a:tc>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Konfigurasi akhir</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2406A"/>
                    </a:solidFill>
                  </a:tcPr>
                </a:tc>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Pencarian di dev</a:t>
                      </a:r>
                      <a:endParaRPr lang="en-US" sz="13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2406A"/>
                    </a:solidFill>
                  </a:tcPr>
                </a:tc>
              </a:tr>
              <a:tr h="868680">
                <a:tc>
                  <a:txBody>
                    <a:bodyPr/>
                    <a:lstStyle/>
                    <a:p>
                      <a:pPr algn="l" indent="0" marL="0">
                        <a:buNone/>
                      </a:pPr>
                      <a:r>
                        <a:rPr lang="en-US" sz="1200" b="1" dirty="0">
                          <a:solidFill>
                            <a:srgbClr val="1F2937"/>
                          </a:solidFill>
                          <a:latin typeface="Arial" pitchFamily="34" charset="0"/>
                          <a:ea typeface="Arial" pitchFamily="34" charset="-122"/>
                          <a:cs typeface="Arial" pitchFamily="34" charset="-120"/>
                        </a:rPr>
                        <a:t>CRF</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sklearn-crfsuite, L-BFGS, 300 iterasi, c1 0,3, c2 0,003, fitur lengkap</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c1 {0,1; 0,3; 1,0} x c2 {0,003; 0,01; 0,03} x {dengan, tanpa cluster}</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960120">
                <a:tc>
                  <a:txBody>
                    <a:bodyPr/>
                    <a:lstStyle/>
                    <a:p>
                      <a:pPr algn="l" indent="0" marL="0">
                        <a:buNone/>
                      </a:pPr>
                      <a:r>
                        <a:rPr lang="en-US" sz="1200" b="1" dirty="0">
                          <a:solidFill>
                            <a:srgbClr val="1F2937"/>
                          </a:solidFill>
                          <a:latin typeface="Arial" pitchFamily="34" charset="0"/>
                          <a:ea typeface="Arial" pitchFamily="34" charset="-122"/>
                          <a:cs typeface="Arial" pitchFamily="34" charset="-120"/>
                        </a:rPr>
                        <a:t>SVM</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LinearSVC, C 0,03, class_weight balanced, fitur muncul ≥ 3 kali (28.436), GloVe x 0,3, tanpa BIO repair, 100 iterasi</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C {0,01; 0,03; 0,1; 0,3}. 300 iterasi memberi F1 dev sama pada uji C = 0,1</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868680">
                <a:tc>
                  <a:txBody>
                    <a:bodyPr/>
                    <a:lstStyle/>
                    <a:p>
                      <a:pPr algn="l" indent="0" marL="0">
                        <a:buNone/>
                      </a:pPr>
                      <a:r>
                        <a:rPr lang="en-US" sz="1200" b="1" dirty="0">
                          <a:solidFill>
                            <a:srgbClr val="1F2937"/>
                          </a:solidFill>
                          <a:latin typeface="Arial" pitchFamily="34" charset="0"/>
                          <a:ea typeface="Arial" pitchFamily="34" charset="-122"/>
                          <a:cs typeface="Arial" pitchFamily="34" charset="-120"/>
                        </a:rPr>
                        <a:t>Bi-LSTM CRF</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Bi-LSTM 128, char-CNN 50 filter, kapitalisasi 8d, dropout 0,5, Adam 0,001, batch 32, 18 epoch, JAX</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Epoch lewat early stopping di dev (maks 35, sabar 8). Seed 42, 43, 44</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868680">
                <a:tc>
                  <a:txBody>
                    <a:bodyPr/>
                    <a:lstStyle/>
                    <a:p>
                      <a:pPr algn="l" indent="0" marL="0">
                        <a:buNone/>
                      </a:pPr>
                      <a:r>
                        <a:rPr lang="en-US" sz="1200" b="1" dirty="0">
                          <a:solidFill>
                            <a:srgbClr val="1F2937"/>
                          </a:solidFill>
                          <a:latin typeface="Arial" pitchFamily="34" charset="0"/>
                          <a:ea typeface="Arial" pitchFamily="34" charset="-122"/>
                          <a:cs typeface="Arial" pitchFamily="34" charset="-120"/>
                        </a:rPr>
                        <a:t>Data dan kode</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WNUT17 dari github.com/leondz/emerging_entities_17. GloVe Twitter 200d (glove-twitter-200).</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l" indent="0" marL="0">
                        <a:buNone/>
                      </a:pPr>
                      <a:r>
                        <a:rPr lang="en-US" sz="1200" dirty="0">
                          <a:solidFill>
                            <a:srgbClr val="1F2937"/>
                          </a:solidFill>
                          <a:latin typeface="Arial" pitchFamily="34" charset="0"/>
                          <a:ea typeface="Arial" pitchFamily="34" charset="-122"/>
                          <a:cs typeface="Arial" pitchFamily="34" charset="-120"/>
                        </a:rPr>
                        <a:t>Skrip: run_crf2, run_svm3, run_bilstm, analysis. Seed 42</a:t>
                      </a:r>
                      <a:endParaRPr lang="en-US" sz="1200" dirty="0">
                        <a:latin typeface="Arial" charset="0"/>
                        <a:ea typeface="Arial" charset="0"/>
                        <a:cs typeface="Arial" charset="0"/>
                      </a:endParaRPr>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NER pada WNUT17: Pemodelan dan Evaluasi</dc:title>
  <dc:subject>PptxGenJS Presentation</dc:subject>
  <dc:creator>Kelompok 1 Pemrosesan Bahasa Alami Lanjut</dc:creator>
  <cp:lastModifiedBy>Kelompok 1 Pemrosesan Bahasa Alami Lanjut</cp:lastModifiedBy>
  <cp:revision>1</cp:revision>
  <dcterms:created xsi:type="dcterms:W3CDTF">2026-09-28T11:57:00Z</dcterms:created>
  <dcterms:modified xsi:type="dcterms:W3CDTF">2026-09-28T11:57:00Z</dcterms:modified>
</cp:coreProperties>
</file>